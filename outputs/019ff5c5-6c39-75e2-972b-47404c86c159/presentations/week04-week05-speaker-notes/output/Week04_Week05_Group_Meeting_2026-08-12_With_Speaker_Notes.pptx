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c419f3e03c4ff1" /><Relationship Type="http://schemas.openxmlformats.org/officeDocument/2006/relationships/extended-properties" Target="/docProps/app.xml" Id="R1a9ef238f0a441f5" /><Relationship Type="http://schemas.openxmlformats.org/officeDocument/2006/relationships/officeDocument" Target="/ppt/presentation.xml" Id="Rc4548b625def417a" /></Relationships>
</file>

<file path=ppt/presentation.xml><?xml version="1.0" encoding="utf-8"?>
<p:presentation xmlns:p="http://schemas.openxmlformats.org/presentationml/2006/main">
  <p:sldMasterIdLst>
    <p:sldMasterId xmlns:r="http://schemas.openxmlformats.org/officeDocument/2006/relationships" id="2147483648" r:id="R2979981c131649aa"/>
  </p:sldMasterIdLst>
  <p:notesMasterIdLst>
    <p:notesMasterId xmlns:r="http://schemas.openxmlformats.org/officeDocument/2006/relationships" r:id="R3311ac40f55a4eac"/>
  </p:notesMasterIdLst>
  <p:sldIdLst>
    <p:sldId xmlns:r="http://schemas.openxmlformats.org/officeDocument/2006/relationships" id="256" r:id="R61a0ba08f1ce4a1a"/>
    <p:sldId xmlns:r="http://schemas.openxmlformats.org/officeDocument/2006/relationships" id="257" r:id="R45d150c2aace4140"/>
    <p:sldId xmlns:r="http://schemas.openxmlformats.org/officeDocument/2006/relationships" id="258" r:id="R22b39bd03cd8484d"/>
    <p:sldId xmlns:r="http://schemas.openxmlformats.org/officeDocument/2006/relationships" id="259" r:id="R431ace9228ea40b4"/>
    <p:sldId xmlns:r="http://schemas.openxmlformats.org/officeDocument/2006/relationships" id="260" r:id="Rdd61ef6afcfa4196"/>
    <p:sldId xmlns:r="http://schemas.openxmlformats.org/officeDocument/2006/relationships" id="261" r:id="R89509116141b48d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ffc9b05026c4d6d" /><Relationship Type="http://schemas.openxmlformats.org/officeDocument/2006/relationships/slideMaster" Target="/ppt/slideMasters/slideMaster1.xml" Id="R2979981c131649aa" /><Relationship Type="http://schemas.openxmlformats.org/officeDocument/2006/relationships/notesMaster" Target="/ppt/notesMasters/notesMaster1.xml" Id="R3311ac40f55a4eac" /><Relationship Type="http://schemas.openxmlformats.org/officeDocument/2006/relationships/presProps" Target="/ppt/presProps.xml" Id="R945a0d7c960b4085" /><Relationship Type="http://schemas.openxmlformats.org/officeDocument/2006/relationships/viewProps" Target="/ppt/viewProps.xml" Id="R973dcbe88b834db7" /><Relationship Type="http://schemas.openxmlformats.org/officeDocument/2006/relationships/tableStyles" Target="/ppt/tableStyles.xml" Id="R8e003a179e04481c" /><Relationship Type="http://schemas.openxmlformats.org/officeDocument/2006/relationships/slide" Target="/ppt/slides/slide1.xml" Id="R61a0ba08f1ce4a1a" /><Relationship Type="http://schemas.openxmlformats.org/officeDocument/2006/relationships/slide" Target="/ppt/slides/slide2.xml" Id="R45d150c2aace4140" /><Relationship Type="http://schemas.openxmlformats.org/officeDocument/2006/relationships/slide" Target="/ppt/slides/slide3.xml" Id="R22b39bd03cd8484d" /><Relationship Type="http://schemas.openxmlformats.org/officeDocument/2006/relationships/slide" Target="/ppt/slides/slide4.xml" Id="R431ace9228ea40b4" /><Relationship Type="http://schemas.openxmlformats.org/officeDocument/2006/relationships/slide" Target="/ppt/slides/slide5.xml" Id="Rdd61ef6afcfa4196" /><Relationship Type="http://schemas.openxmlformats.org/officeDocument/2006/relationships/slide" Target="/ppt/slides/slide6.xml" Id="R89509116141b48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1c61f3634640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9a15e3ce384ab9" /><Relationship Type="http://schemas.openxmlformats.org/officeDocument/2006/relationships/notesMaster" Target="/ppt/notesMasters/notesMaster1.xml" Id="R58c4cbc5b06246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a1da660f18447f" /><Relationship Type="http://schemas.openxmlformats.org/officeDocument/2006/relationships/notesMaster" Target="/ppt/notesMasters/notesMaster1.xml" Id="Rfc5a2dbce87e41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84162626e946c1" /><Relationship Type="http://schemas.openxmlformats.org/officeDocument/2006/relationships/notesMaster" Target="/ppt/notesMasters/notesMaster1.xml" Id="R166fdeceb02346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9df5ad23f44637" /><Relationship Type="http://schemas.openxmlformats.org/officeDocument/2006/relationships/notesMaster" Target="/ppt/notesMasters/notesMaster1.xml" Id="R70cacef43f304f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080013a87a4140" /><Relationship Type="http://schemas.openxmlformats.org/officeDocument/2006/relationships/notesMaster" Target="/ppt/notesMasters/notesMaster1.xml" Id="Rdaa5495c20614d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73bbafefbe49ae" /><Relationship Type="http://schemas.openxmlformats.org/officeDocument/2006/relationships/notesMaster" Target="/ppt/notesMasters/notesMaster1.xml" Id="Rdca9e3fd400348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Today I will briefly report the progress from Week 4 and Week 5.</a:t>
            </a:r>
          </a:p>
          <a:p xmlns:a="http://schemas.openxmlformats.org/drawingml/2006/main">
            <a:r>
              <a:t/>
            </a:r>
          </a:p>
          <a:p xmlns:a="http://schemas.openxmlformats.org/drawingml/2006/main">
            <a:r>
              <a:t>In Week 4, I reviewed the state of the art for carrier flow in cell finishing and actively searched for counterexamples. In Week 5, I tested one concrete formation-loading architecture.</a:t>
            </a:r>
          </a:p>
          <a:p xmlns:a="http://schemas.openxmlformats.org/drawingml/2006/main">
            <a:r>
              <a:t/>
            </a:r>
          </a:p>
          <a:p xmlns:a="http://schemas.openxmlformats.org/drawingml/2006/main">
            <a:r>
              <a:t>The important result is not a final research gap. Instead, the evidence showed that the old formation-handover candidate should be retained only as a fixed-automation baseline. I therefore returned to the original thesis objective and prepared three clearer robotics cases.</a:t>
            </a:r>
          </a:p>
          <a:p xmlns:a="http://schemas.openxmlformats.org/drawingml/2006/main">
            <a:r>
              <a:t/>
            </a:r>
          </a:p>
          <a:p xmlns:a="http://schemas.openxmlformats.org/drawingml/2006/main">
            <a:r>
              <a:t>At the end, I need Thomas's feedback on the scope, the case priority, the role of humanoid robots, and a realistic validation route.</a:t>
            </a:r>
          </a:p>
          <a:p xmlns:a="http://schemas.openxmlformats.org/drawingml/2006/main">
            <a:r>
              <a:t/>
            </a:r>
          </a:p>
          <a:p xmlns:a="http://schemas.openxmlformats.org/drawingml/2006/main">
            <a:r>
              <a:t>Transition: First, I will summarize what the Week 4 literature audit actually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Week 4, I followed the sequence suggested by Thomas: first describe the state of the art, then identify problem areas, and only afterward discuss a possible gap.</a:t>
            </a:r>
          </a:p>
          <a:p xmlns:a="http://schemas.openxmlformats.org/drawingml/2006/main">
            <a:r>
              <a:t/>
            </a:r>
          </a:p>
          <a:p xmlns:a="http://schemas.openxmlformats.org/drawingml/2006/main">
            <a:r>
              <a:t>The literature shows both manual and fully automated tray-based configurations in cell finishing. However, fully automated does not automatically mean AGV transport.</a:t>
            </a:r>
          </a:p>
          <a:p xmlns:a="http://schemas.openxmlformats.org/drawingml/2006/main">
            <a:r>
              <a:t/>
            </a:r>
          </a:p>
          <a:p xmlns:a="http://schemas.openxmlformats.org/drawingml/2006/main">
            <a:r>
              <a:t>I also learned that a formation carrier may do more than transport. In some configurations, it supports contact, fixture, or controlled-pressure functions.</a:t>
            </a:r>
          </a:p>
          <a:p xmlns:a="http://schemas.openxmlformats.org/drawingml/2006/main">
            <a:r>
              <a:t/>
            </a:r>
          </a:p>
          <a:p xmlns:a="http://schemas.openxmlformats.org/drawingml/2006/main">
            <a:r>
              <a:t>The strongest counterexample was the work by Deng and colleagues. It already models physical interfaces and some intralogistics transitions. Therefore, I cannot claim that cell-finishing logistics or interfaces have never been studied.</a:t>
            </a:r>
          </a:p>
          <a:p xmlns:a="http://schemas.openxmlformats.org/drawingml/2006/main">
            <a:r>
              <a:t/>
            </a:r>
          </a:p>
          <a:p xmlns:a="http://schemas.openxmlformats.org/drawingml/2006/main">
            <a:r>
              <a:t>My Week 4 decision was to keep handover and exception flow only as testable candidates. I did not define a final gap and did not start simulation.</a:t>
            </a:r>
          </a:p>
          <a:p xmlns:a="http://schemas.openxmlformats.org/drawingml/2006/main">
            <a:r>
              <a:t/>
            </a:r>
          </a:p>
          <a:p xmlns:a="http://schemas.openxmlformats.org/drawingml/2006/main">
            <a:r>
              <a:t>Transition: In Week 5, I tested the handover candidate using one concrete public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Week 5, I examined the public patent CN118970237A as a bounded reference architecture.</a:t>
            </a:r>
          </a:p>
          <a:p xmlns:a="http://schemas.openxmlformats.org/drawingml/2006/main">
            <a:r>
              <a:t/>
            </a:r>
          </a:p>
          <a:p xmlns:a="http://schemas.openxmlformats.org/drawingml/2006/main">
            <a:r>
              <a:t>The source explicitly describes a carrier moving from inbound machine 27, through stacker crane 28, into formation equipment 3. This helped me distinguish regional transport, fixed final loading, and the internal process equipment.</a:t>
            </a:r>
          </a:p>
          <a:p xmlns:a="http://schemas.openxmlformats.org/drawingml/2006/main">
            <a:r>
              <a:t/>
            </a:r>
          </a:p>
          <a:p xmlns:a="http://schemas.openxmlformats.org/drawingml/2006/main">
            <a:r>
              <a:t>The architecture is fixed automation. It is not evidence of an AGV deployment. The exact pickup port, receiving port, final contact, and equipment-acceptance logic are also not fully disclosed.</a:t>
            </a:r>
          </a:p>
          <a:p xmlns:a="http://schemas.openxmlformats.org/drawingml/2006/main">
            <a:r>
              <a:t/>
            </a:r>
          </a:p>
          <a:p xmlns:a="http://schemas.openxmlformats.org/drawingml/2006/main">
            <a:r>
              <a:t>I then audited possible requirements such as positioning, locking, contact, identity, and readiness. In this same case, I found no direct evidence that these conditions change the task of the stacker crane.</a:t>
            </a:r>
          </a:p>
          <a:p xmlns:a="http://schemas.openxmlformats.org/drawingml/2006/main">
            <a:r>
              <a:t/>
            </a:r>
          </a:p>
          <a:p xmlns:a="http://schemas.openxmlformats.org/drawingml/2006/main">
            <a:r>
              <a:t>Therefore, I retained B2 as a useful fixed-automation baseline and counterexample, but removed it from the thesis-candidate path.</a:t>
            </a:r>
          </a:p>
          <a:p xmlns:a="http://schemas.openxmlformats.org/drawingml/2006/main">
            <a:r>
              <a:t/>
            </a:r>
          </a:p>
          <a:p xmlns:a="http://schemas.openxmlformats.org/drawingml/2006/main">
            <a:r>
              <a:t>Transition: The next slide explains exactly why this candidate did not pass the robotics-relevance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old candidate failed because one important link was missing: a battery-specific requirement that clearly changes a robot task or a robot–equipment integration decision.</a:t>
            </a:r>
          </a:p>
          <a:p xmlns:a="http://schemas.openxmlformats.org/drawingml/2006/main">
            <a:r>
              <a:t/>
            </a:r>
          </a:p>
          <a:p xmlns:a="http://schemas.openxmlformats.org/drawingml/2006/main">
            <a:r>
              <a:t>The first gate is direct battery-manufacturing evidence. This gate is passed, because the architecture belongs to cell formation and moves a battery carrier.</a:t>
            </a:r>
          </a:p>
          <a:p xmlns:a="http://schemas.openxmlformats.org/drawingml/2006/main">
            <a:r>
              <a:t/>
            </a:r>
          </a:p>
          <a:p xmlns:a="http://schemas.openxmlformats.org/drawingml/2006/main">
            <a:r>
              <a:t>The second gate is the battery-specific effect on the robot task. Here, the evidence is insufficient. Carrier identity is mentioned, but locking, contact, and precision are not shown to change the transfer task of the stacker crane.</a:t>
            </a:r>
          </a:p>
          <a:p xmlns:a="http://schemas.openxmlformats.org/drawingml/2006/main">
            <a:r>
              <a:t/>
            </a:r>
          </a:p>
          <a:p xmlns:a="http://schemas.openxmlformats.org/drawingml/2006/main">
            <a:r>
              <a:t>The third gate is validation. I currently have no accessible interface, expert, equipment data, or dataset that confirms an important remaining problem.</a:t>
            </a:r>
          </a:p>
          <a:p xmlns:a="http://schemas.openxmlformats.org/drawingml/2006/main">
            <a:r>
              <a:t/>
            </a:r>
          </a:p>
          <a:p xmlns:a="http://schemas.openxmlformats.org/drawingml/2006/main">
            <a:r>
              <a:t>This means that missing public detail is not automatically a research gap. Continuing into PLC states or formation-equipment contact would move the thesis away from the original robotics-application objective.</a:t>
            </a:r>
          </a:p>
          <a:p xmlns:a="http://schemas.openxmlformats.org/drawingml/2006/main">
            <a:r>
              <a:t/>
            </a:r>
          </a:p>
          <a:p xmlns:a="http://schemas.openxmlformats.org/drawingml/2006/main">
            <a:r>
              <a:t>Transition: I therefore returned to the original thesis brief and compared three clearer robot-application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thesis brief asks me to start from manufacturing requirements, identify suitable robot applications, assess them technically and economically, and develop concrete implementation scenarios.</a:t>
            </a:r>
          </a:p>
          <a:p xmlns:a="http://schemas.openxmlformats.org/drawingml/2006/main">
            <a:r>
              <a:t/>
            </a:r>
          </a:p>
          <a:p xmlns:a="http://schemas.openxmlformats.org/drawingml/2006/main">
            <a:r>
              <a:t>Candidate B is flexible test-connector handling in Pack EoL or DCR testing. The task is to locate, insert, verify, and remove flexible test connectors. It provides a useful comparison between dedicated automation, fixed industrial robots, and mobile or humanoid systems. This is my conditional primary candidate.</a:t>
            </a:r>
          </a:p>
          <a:p xmlns:a="http://schemas.openxmlformats.org/drawingml/2006/main">
            <a:r>
              <a:t/>
            </a:r>
          </a:p>
          <a:p xmlns:a="http://schemas.openxmlformats.org/drawingml/2006/main">
            <a:r>
              <a:t>Candidate A is cell recognition, grasping, and loading for module or pack assembly. It has relatively clear company evidence and is my strong backup, but the exact destination and loading interface still need clarification.</a:t>
            </a:r>
          </a:p>
          <a:p xmlns:a="http://schemas.openxmlformats.org/drawingml/2006/main">
            <a:r>
              <a:t/>
            </a:r>
          </a:p>
          <a:p xmlns:a="http://schemas.openxmlformats.org/drawingml/2006/main">
            <a:r>
              <a:t>Candidate C is multi-station module or pack handling and picking. It is exploratory because the flow object, handover, and battery-specific effect are still unclear.</a:t>
            </a:r>
          </a:p>
          <a:p xmlns:a="http://schemas.openxmlformats.org/drawingml/2006/main">
            <a:r>
              <a:t/>
            </a:r>
          </a:p>
          <a:p xmlns:a="http://schemas.openxmlformats.org/drawingml/2006/main">
            <a:r>
              <a:t>All three remain candidates. Company disclosures support the reported tasks, but they do not independently validate performance, maturity, or economic advantage.</a:t>
            </a:r>
          </a:p>
          <a:p xmlns:a="http://schemas.openxmlformats.org/drawingml/2006/main">
            <a:r>
              <a:t/>
            </a:r>
          </a:p>
          <a:p xmlns:a="http://schemas.openxmlformats.org/drawingml/2006/main">
            <a:r>
              <a:t>Transition: Before I deepen any of them, I need three decisions from Thomas.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next week, I do not want to expand the application map again. I want to lock one case and build one case charter.</a:t>
            </a:r>
          </a:p>
          <a:p xmlns:a="http://schemas.openxmlformats.org/drawingml/2006/main">
            <a:r>
              <a:t/>
            </a:r>
          </a:p>
          <a:p xmlns:a="http://schemas.openxmlformats.org/drawingml/2006/main">
            <a:r>
              <a:t>First, I need confirmation of the scope. Can module and pack manufacturing become the primary case within this thesis, although the task paragraph refers to the battery-cell production value chain? We should also select one product format and production environment.</a:t>
            </a:r>
          </a:p>
          <a:p xmlns:a="http://schemas.openxmlformats.org/drawingml/2006/main">
            <a:r>
              <a:t/>
            </a:r>
          </a:p>
          <a:p xmlns:a="http://schemas.openxmlformats.org/drawingml/2006/main">
            <a:r>
              <a:t>Second, I need a case and technology decision. Should I prioritize B, A, or C? Should humanoid robots be the main technology, one architecture within a comparison, or mainly a future-trend scenario?</a:t>
            </a:r>
          </a:p>
          <a:p xmlns:a="http://schemas.openxmlformats.org/drawingml/2006/main">
            <a:r>
              <a:t/>
            </a:r>
          </a:p>
          <a:p xmlns:a="http://schemas.openxmlformats.org/drawingml/2006/main">
            <a:r>
              <a:t>Third, I need a realistic validation route. Is there a PEM, FFB, or industry station, an equipment or integration expert, a specification, or a dataset that I can actually access?</a:t>
            </a:r>
          </a:p>
          <a:p xmlns:a="http://schemas.openxmlformats.org/drawingml/2006/main">
            <a:r>
              <a:t/>
            </a:r>
          </a:p>
          <a:p xmlns:a="http://schemas.openxmlformats.org/drawingml/2006/main">
            <a:r>
              <a:t>If these points are confirmed, the minimum output next week will be one case charter: the task, battery requirement, comparison baseline, method, evidence minimum, and validation route.</a:t>
            </a:r>
          </a:p>
          <a:p xmlns:a="http://schemas.openxmlformats.org/drawingml/2006/main">
            <a:r>
              <a:t/>
            </a:r>
          </a:p>
          <a:p xmlns:a="http://schemas.openxmlformats.org/drawingml/2006/main">
            <a:r>
              <a:t>Closing question: Which candidate and validation path should I deepen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0eae41958640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2931919af74f78" /><Relationship Type="http://schemas.openxmlformats.org/officeDocument/2006/relationships/slideLayout" Target="/ppt/slideLayouts/slideLayout1.xml" Id="R5daff73587304b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aff73587304b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a2955a2d88468d" /><Relationship Type="http://schemas.openxmlformats.org/officeDocument/2006/relationships/notesSlide" Target="/ppt/notesSlides/notesSlide1.xml" Id="Rffba500dd20243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7a4cd2ea124789" /><Relationship Type="http://schemas.openxmlformats.org/officeDocument/2006/relationships/notesSlide" Target="/ppt/notesSlides/notesSlide2.xml" Id="R6903c2103c624d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086cd5d8bf4cf6" /><Relationship Type="http://schemas.openxmlformats.org/officeDocument/2006/relationships/notesSlide" Target="/ppt/notesSlides/notesSlide3.xml" Id="R6f2557c89c7445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a3c02408eb4eed" /><Relationship Type="http://schemas.openxmlformats.org/officeDocument/2006/relationships/notesSlide" Target="/ppt/notesSlides/notesSlide4.xml" Id="R44e135c1417549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21f4aebae44e5d" /><Relationship Type="http://schemas.openxmlformats.org/officeDocument/2006/relationships/notesSlide" Target="/ppt/notesSlides/notesSlide5.xml" Id="Rb3f2bedb20f64c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191f4126e4b4977" /><Relationship Type="http://schemas.openxmlformats.org/officeDocument/2006/relationships/notesSlide" Target="/ppt/notesSlides/notesSlide6.xml" Id="R3133027602434ab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1" name="矩形 20">
            <a:extLst xmlns:a="http://schemas.openxmlformats.org/drawingml/2006/main">
              <a:ext uri="{FF2B5EF4-FFF2-40B4-BE49-F238E27FC236}">
                <a16:creationId xmlns:a16="http://schemas.microsoft.com/office/drawing/2014/main" id="{EB57BA72-5BCA-4E6C-B31F-49203BE9BED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kicker-1-marker">
            <a:extLst xmlns:a="http://schemas.openxmlformats.org/drawingml/2006/main">
              <a:ext uri="{FF2B5EF4-FFF2-40B4-BE49-F238E27FC236}">
                <a16:creationId xmlns:a16="http://schemas.microsoft.com/office/drawing/2014/main" id="{612BEC4B-5D21-4EEF-B4A9-E899ABFDE6B8}"/>
              </a:ext>
            </a:extLst>
          </p:cNvPr>
          <p:cNvSpPr>
            <a:spLocks xmlns:a="http://schemas.openxmlformats.org/drawingml/2006/main" noGrp="1"/>
          </p:cNvSpPr>
          <p:nvPr/>
        </p:nvSpPr>
        <p:spPr>
          <a:xfrm xmlns:a="http://schemas.openxmlformats.org/drawingml/2006/main">
            <a:off x="514350" y="400050"/>
            <a:ext cx="95250" cy="95250"/>
          </a:xfrm>
          <a:prstGeom xmlns:a="http://schemas.openxmlformats.org/drawingml/2006/main" prst="ellipse">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3" name="kicker-1-label">
            <a:extLst xmlns:a="http://schemas.openxmlformats.org/drawingml/2006/main">
              <a:ext uri="{FF2B5EF4-FFF2-40B4-BE49-F238E27FC236}">
                <a16:creationId xmlns:a16="http://schemas.microsoft.com/office/drawing/2014/main" id="{BBA4343D-859B-4C4B-A0A6-D041D350D8DE}"/>
              </a:ext>
            </a:extLst>
          </p:cNvPr>
          <p:cNvSpPr>
            <a:spLocks xmlns:a="http://schemas.openxmlformats.org/drawingml/2006/main" noGrp="1"/>
          </p:cNvSpPr>
          <p:nvPr/>
        </p:nvSpPr>
        <p:spPr>
          <a:xfrm xmlns:a="http://schemas.openxmlformats.org/drawingml/2006/main">
            <a:off x="704850" y="3238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38" b="1">
                <a:solidFill>
                  <a:srgbClr val="315C49"/>
                </a:solidFill>
                <a:latin typeface="Aptos"/>
                <a:ea typeface="Aptos"/>
                <a:cs typeface="Aptos"/>
              </a:defRPr>
            </a:pPr>
            <a:r>
              <a:rPr sz="938" b="1">
                <a:solidFill>
                  <a:srgbClr val="315C49"/>
                </a:solidFill>
                <a:latin typeface="Aptos"/>
                <a:ea typeface="Aptos"/>
                <a:cs typeface="Aptos"/>
              </a:rPr>
              <a:t>TODAY</a:t>
            </a:r>
          </a:p>
        </p:txBody>
      </p:sp>
      <p:sp>
        <p:nvSpPr>
          <p:cNvPr id="4" name="矩形 3">
            <a:extLst xmlns:a="http://schemas.openxmlformats.org/drawingml/2006/main">
              <a:ext uri="{FF2B5EF4-FFF2-40B4-BE49-F238E27FC236}">
                <a16:creationId xmlns:a16="http://schemas.microsoft.com/office/drawing/2014/main" id="{933F659E-A3B3-485D-83A4-D2AE77FA96E1}"/>
              </a:ext>
            </a:extLst>
          </p:cNvPr>
          <p:cNvSpPr>
            <a:spLocks xmlns:a="http://schemas.openxmlformats.org/drawingml/2006/main" noGrp="1"/>
          </p:cNvSpPr>
          <p:nvPr/>
        </p:nvSpPr>
        <p:spPr>
          <a:xfrm xmlns:a="http://schemas.openxmlformats.org/drawingml/2006/main">
            <a:off x="514350" y="742950"/>
            <a:ext cx="9906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Week 04–05 update: evidence changed the direction</a:t>
            </a:r>
          </a:p>
        </p:txBody>
      </p:sp>
      <p:sp>
        <p:nvSpPr>
          <p:cNvPr id="5" name="矩形 4">
            <a:extLst xmlns:a="http://schemas.openxmlformats.org/drawingml/2006/main">
              <a:ext uri="{FF2B5EF4-FFF2-40B4-BE49-F238E27FC236}">
                <a16:creationId xmlns:a16="http://schemas.microsoft.com/office/drawing/2014/main" id="{4786B3CA-566B-4DB7-80EE-E1333573A5CD}"/>
              </a:ext>
            </a:extLst>
          </p:cNvPr>
          <p:cNvSpPr>
            <a:spLocks xmlns:a="http://schemas.openxmlformats.org/drawingml/2006/main" noGrp="1"/>
          </p:cNvSpPr>
          <p:nvPr/>
        </p:nvSpPr>
        <p:spPr>
          <a:xfrm xmlns:a="http://schemas.openxmlformats.org/drawingml/2006/main">
            <a:off x="514350" y="6153150"/>
            <a:ext cx="9620250" cy="11430"/>
          </a:xfrm>
          <a:prstGeom xmlns:a="http://schemas.openxmlformats.org/drawingml/2006/main" prst="rect">
            <a:avLst/>
          </a:prstGeom>
          <a:solidFill xmlns:a="http://schemas.openxmlformats.org/drawingml/2006/main">
            <a:srgbClr val="D8D1C3"/>
          </a:solidFill>
          <a:ln xmlns:a="http://schemas.openxmlformats.org/drawingml/2006/main" w="0">
            <a:solidFill>
              <a:srgbClr val="000000">
                <a:alpha val="0"/>
              </a:srgbClr>
            </a:solidFill>
            <a:prstDash val="solid"/>
          </a:ln>
        </p:spPr>
      </p:sp>
      <p:sp>
        <p:nvSpPr>
          <p:cNvPr id="6" name="矩形 5">
            <a:extLst xmlns:a="http://schemas.openxmlformats.org/drawingml/2006/main">
              <a:ext uri="{FF2B5EF4-FFF2-40B4-BE49-F238E27FC236}">
                <a16:creationId xmlns:a16="http://schemas.microsoft.com/office/drawing/2014/main" id="{6D5FEA4F-6EE3-4BC1-ACD1-9136DC9B53F8}"/>
              </a:ext>
            </a:extLst>
          </p:cNvPr>
          <p:cNvSpPr>
            <a:spLocks xmlns:a="http://schemas.openxmlformats.org/drawingml/2006/main" noGrp="1"/>
          </p:cNvSpPr>
          <p:nvPr/>
        </p:nvSpPr>
        <p:spPr>
          <a:xfrm xmlns:a="http://schemas.openxmlformats.org/drawingml/2006/main">
            <a:off x="514350" y="6257925"/>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13" b="0">
                <a:solidFill>
                  <a:srgbClr val="5E625D"/>
                </a:solidFill>
                <a:latin typeface="Aptos"/>
                <a:ea typeface="Aptos"/>
                <a:cs typeface="Aptos"/>
              </a:defRPr>
            </a:pPr>
            <a:r>
              <a:rPr sz="713" b="0">
                <a:solidFill>
                  <a:srgbClr val="5E625D"/>
                </a:solidFill>
                <a:latin typeface="Aptos"/>
                <a:ea typeface="Aptos"/>
                <a:cs typeface="Aptos"/>
              </a:rPr>
              <a:t>Week 04–05 group meeting | Robotic systems in battery manufacturing</a:t>
            </a:r>
          </a:p>
        </p:txBody>
      </p:sp>
      <p:sp>
        <p:nvSpPr>
          <p:cNvPr id="7" name="矩形 6">
            <a:extLst xmlns:a="http://schemas.openxmlformats.org/drawingml/2006/main">
              <a:ext uri="{FF2B5EF4-FFF2-40B4-BE49-F238E27FC236}">
                <a16:creationId xmlns:a16="http://schemas.microsoft.com/office/drawing/2014/main" id="{8E63D1E8-42E4-44A9-8E51-63AA0B8A25E3}"/>
              </a:ext>
            </a:extLst>
          </p:cNvPr>
          <p:cNvSpPr>
            <a:spLocks xmlns:a="http://schemas.openxmlformats.org/drawingml/2006/main" noGrp="1"/>
          </p:cNvSpPr>
          <p:nvPr/>
        </p:nvSpPr>
        <p:spPr>
          <a:xfrm xmlns:a="http://schemas.openxmlformats.org/drawingml/2006/main">
            <a:off x="11049000" y="62293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315C49"/>
                </a:solidFill>
                <a:latin typeface="Aptos"/>
                <a:ea typeface="Aptos"/>
                <a:cs typeface="Aptos"/>
              </a:defRPr>
            </a:pPr>
            <a:r>
              <a:rPr sz="900" b="1">
                <a:solidFill>
                  <a:srgbClr val="315C49"/>
                </a:solidFill>
                <a:latin typeface="Aptos"/>
                <a:ea typeface="Aptos"/>
                <a:cs typeface="Aptos"/>
              </a:rPr>
              <a:t>01</a:t>
            </a:r>
          </a:p>
        </p:txBody>
      </p:sp>
      <p:sp>
        <p:nvSpPr>
          <p:cNvPr id="8" name="矩形 7">
            <a:extLst xmlns:a="http://schemas.openxmlformats.org/drawingml/2006/main">
              <a:ext uri="{FF2B5EF4-FFF2-40B4-BE49-F238E27FC236}">
                <a16:creationId xmlns:a16="http://schemas.microsoft.com/office/drawing/2014/main" id="{DC49EFB7-933B-45A1-84A8-6EE992A66852}"/>
              </a:ext>
            </a:extLst>
          </p:cNvPr>
          <p:cNvSpPr>
            <a:spLocks xmlns:a="http://schemas.openxmlformats.org/drawingml/2006/main" noGrp="1"/>
          </p:cNvSpPr>
          <p:nvPr/>
        </p:nvSpPr>
        <p:spPr>
          <a:xfrm xmlns:a="http://schemas.openxmlformats.org/drawingml/2006/main">
            <a:off x="571500" y="1762125"/>
            <a:ext cx="10001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315C49"/>
                </a:solidFill>
                <a:latin typeface="Aptos"/>
                <a:ea typeface="Aptos"/>
                <a:cs typeface="Aptos"/>
              </a:defRPr>
            </a:pPr>
            <a:r>
              <a:rPr sz="1800" b="1">
                <a:solidFill>
                  <a:srgbClr val="315C49"/>
                </a:solidFill>
                <a:latin typeface="Aptos"/>
                <a:ea typeface="Aptos"/>
                <a:cs typeface="Aptos"/>
              </a:rPr>
              <a:t>Main message: One candidate became a baseline; I returned to clearer robotics cases.</a:t>
            </a:r>
          </a:p>
        </p:txBody>
      </p:sp>
      <p:sp>
        <p:nvSpPr>
          <p:cNvPr id="9" name="矩形 8">
            <a:extLst xmlns:a="http://schemas.openxmlformats.org/drawingml/2006/main">
              <a:ext uri="{FF2B5EF4-FFF2-40B4-BE49-F238E27FC236}">
                <a16:creationId xmlns:a16="http://schemas.microsoft.com/office/drawing/2014/main" id="{7A61287F-01CD-42D4-86D0-1AFDDFDF511A}"/>
              </a:ext>
            </a:extLst>
          </p:cNvPr>
          <p:cNvSpPr>
            <a:spLocks xmlns:a="http://schemas.openxmlformats.org/drawingml/2006/main" noGrp="1"/>
          </p:cNvSpPr>
          <p:nvPr/>
        </p:nvSpPr>
        <p:spPr>
          <a:xfrm xmlns:a="http://schemas.openxmlformats.org/drawingml/2006/main">
            <a:off x="762000" y="2952750"/>
            <a:ext cx="2857500" cy="1571625"/>
          </a:xfrm>
          <a:prstGeom xmlns:a="http://schemas.openxmlformats.org/drawingml/2006/main" prst="rect">
            <a:avLst/>
          </a:prstGeom>
          <a:solidFill xmlns:a="http://schemas.openxmlformats.org/drawingml/2006/main">
            <a:srgbClr val="FFFFFF"/>
          </a:solidFill>
          <a:ln xmlns:a="http://schemas.openxmlformats.org/drawingml/2006/main" w="9525">
            <a:solidFill>
              <a:srgbClr val="D8D1C3"/>
            </a:solidFill>
            <a:prstDash val="solid"/>
          </a:ln>
        </p:spPr>
      </p:sp>
      <p:sp>
        <p:nvSpPr>
          <p:cNvPr id="10" name="矩形 9">
            <a:extLst xmlns:a="http://schemas.openxmlformats.org/drawingml/2006/main">
              <a:ext uri="{FF2B5EF4-FFF2-40B4-BE49-F238E27FC236}">
                <a16:creationId xmlns:a16="http://schemas.microsoft.com/office/drawing/2014/main" id="{0443D4C4-8AEE-47F8-B009-E9612D66D99D}"/>
              </a:ext>
            </a:extLst>
          </p:cNvPr>
          <p:cNvSpPr>
            <a:spLocks xmlns:a="http://schemas.openxmlformats.org/drawingml/2006/main" noGrp="1"/>
          </p:cNvSpPr>
          <p:nvPr/>
        </p:nvSpPr>
        <p:spPr>
          <a:xfrm xmlns:a="http://schemas.openxmlformats.org/drawingml/2006/main">
            <a:off x="762000" y="2952750"/>
            <a:ext cx="2857500" cy="66675"/>
          </a:xfrm>
          <a:prstGeom xmlns:a="http://schemas.openxmlformats.org/drawingml/2006/main" prst="rect">
            <a:avLst/>
          </a:prstGeom>
          <a:solidFill xmlns:a="http://schemas.openxmlformats.org/drawingml/2006/main">
            <a:srgbClr val="315C49"/>
          </a:solidFill>
          <a:ln xmlns:a="http://schemas.openxmlformats.org/drawingml/2006/main" w="0">
            <a:solidFill>
              <a:srgbClr val="000000">
                <a:alpha val="0"/>
              </a:srgbClr>
            </a:solidFill>
            <a:prstDash val="solid"/>
          </a:ln>
        </p:spPr>
      </p:sp>
      <p:sp>
        <p:nvSpPr>
          <p:cNvPr id="11" name="矩形 10">
            <a:extLst xmlns:a="http://schemas.openxmlformats.org/drawingml/2006/main">
              <a:ext uri="{FF2B5EF4-FFF2-40B4-BE49-F238E27FC236}">
                <a16:creationId xmlns:a16="http://schemas.microsoft.com/office/drawing/2014/main" id="{A68135E3-EE11-4E9A-A28E-5A2ADF0BEF63}"/>
              </a:ext>
            </a:extLst>
          </p:cNvPr>
          <p:cNvSpPr>
            <a:spLocks xmlns:a="http://schemas.openxmlformats.org/drawingml/2006/main" noGrp="1"/>
          </p:cNvSpPr>
          <p:nvPr/>
        </p:nvSpPr>
        <p:spPr>
          <a:xfrm xmlns:a="http://schemas.openxmlformats.org/drawingml/2006/main">
            <a:off x="952500" y="3190875"/>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1. What I did</a:t>
            </a:r>
          </a:p>
        </p:txBody>
      </p:sp>
      <p:sp>
        <p:nvSpPr>
          <p:cNvPr id="12" name="矩形 11">
            <a:extLst xmlns:a="http://schemas.openxmlformats.org/drawingml/2006/main">
              <a:ext uri="{FF2B5EF4-FFF2-40B4-BE49-F238E27FC236}">
                <a16:creationId xmlns:a16="http://schemas.microsoft.com/office/drawing/2014/main" id="{03BAE0F9-C0F7-438E-8EF3-EFB2BAE4EECB}"/>
              </a:ext>
            </a:extLst>
          </p:cNvPr>
          <p:cNvSpPr>
            <a:spLocks xmlns:a="http://schemas.openxmlformats.org/drawingml/2006/main" noGrp="1"/>
          </p:cNvSpPr>
          <p:nvPr/>
        </p:nvSpPr>
        <p:spPr>
          <a:xfrm xmlns:a="http://schemas.openxmlformats.org/drawingml/2006/main">
            <a:off x="952500" y="3619500"/>
            <a:ext cx="2476500" cy="733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Audited cell-finishing carrier flow</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Tested one formation-loading interface</a:t>
            </a:r>
          </a:p>
        </p:txBody>
      </p:sp>
      <p:sp>
        <p:nvSpPr>
          <p:cNvPr id="13" name="矩形 12">
            <a:extLst xmlns:a="http://schemas.openxmlformats.org/drawingml/2006/main">
              <a:ext uri="{FF2B5EF4-FFF2-40B4-BE49-F238E27FC236}">
                <a16:creationId xmlns:a16="http://schemas.microsoft.com/office/drawing/2014/main" id="{10375BAD-FBED-44A7-B1F9-D5E2732754C7}"/>
              </a:ext>
            </a:extLst>
          </p:cNvPr>
          <p:cNvSpPr>
            <a:spLocks xmlns:a="http://schemas.openxmlformats.org/drawingml/2006/main" noGrp="1"/>
          </p:cNvSpPr>
          <p:nvPr/>
        </p:nvSpPr>
        <p:spPr>
          <a:xfrm xmlns:a="http://schemas.openxmlformats.org/drawingml/2006/main">
            <a:off x="4667250" y="2952750"/>
            <a:ext cx="2857500" cy="1571625"/>
          </a:xfrm>
          <a:prstGeom xmlns:a="http://schemas.openxmlformats.org/drawingml/2006/main" prst="rect">
            <a:avLst/>
          </a:prstGeom>
          <a:solidFill xmlns:a="http://schemas.openxmlformats.org/drawingml/2006/main">
            <a:srgbClr val="FFFFFF"/>
          </a:solidFill>
          <a:ln xmlns:a="http://schemas.openxmlformats.org/drawingml/2006/main" w="9525">
            <a:solidFill>
              <a:srgbClr val="D8D1C3"/>
            </a:solidFill>
            <a:prstDash val="solid"/>
          </a:ln>
        </p:spPr>
      </p:sp>
      <p:sp>
        <p:nvSpPr>
          <p:cNvPr id="14" name="矩形 13">
            <a:extLst xmlns:a="http://schemas.openxmlformats.org/drawingml/2006/main">
              <a:ext uri="{FF2B5EF4-FFF2-40B4-BE49-F238E27FC236}">
                <a16:creationId xmlns:a16="http://schemas.microsoft.com/office/drawing/2014/main" id="{38588ECF-9983-4CE8-901D-9FC38D5501CE}"/>
              </a:ext>
            </a:extLst>
          </p:cNvPr>
          <p:cNvSpPr>
            <a:spLocks xmlns:a="http://schemas.openxmlformats.org/drawingml/2006/main" noGrp="1"/>
          </p:cNvSpPr>
          <p:nvPr/>
        </p:nvSpPr>
        <p:spPr>
          <a:xfrm xmlns:a="http://schemas.openxmlformats.org/drawingml/2006/main">
            <a:off x="4667250" y="2952750"/>
            <a:ext cx="2857500" cy="66675"/>
          </a:xfrm>
          <a:prstGeom xmlns:a="http://schemas.openxmlformats.org/drawingml/2006/main" prst="rect">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15" name="矩形 14">
            <a:extLst xmlns:a="http://schemas.openxmlformats.org/drawingml/2006/main">
              <a:ext uri="{FF2B5EF4-FFF2-40B4-BE49-F238E27FC236}">
                <a16:creationId xmlns:a16="http://schemas.microsoft.com/office/drawing/2014/main" id="{2C0C0DE5-C240-48C5-9BBA-BD76F31872F8}"/>
              </a:ext>
            </a:extLst>
          </p:cNvPr>
          <p:cNvSpPr>
            <a:spLocks xmlns:a="http://schemas.openxmlformats.org/drawingml/2006/main" noGrp="1"/>
          </p:cNvSpPr>
          <p:nvPr/>
        </p:nvSpPr>
        <p:spPr>
          <a:xfrm xmlns:a="http://schemas.openxmlformats.org/drawingml/2006/main">
            <a:off x="4857750" y="3190875"/>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2. What is the problem</a:t>
            </a:r>
          </a:p>
        </p:txBody>
      </p:sp>
      <p:sp>
        <p:nvSpPr>
          <p:cNvPr id="16" name="矩形 15">
            <a:extLst xmlns:a="http://schemas.openxmlformats.org/drawingml/2006/main">
              <a:ext uri="{FF2B5EF4-FFF2-40B4-BE49-F238E27FC236}">
                <a16:creationId xmlns:a16="http://schemas.microsoft.com/office/drawing/2014/main" id="{FBE3B8EA-FE13-4C2C-A121-6C2774377918}"/>
              </a:ext>
            </a:extLst>
          </p:cNvPr>
          <p:cNvSpPr>
            <a:spLocks xmlns:a="http://schemas.openxmlformats.org/drawingml/2006/main" noGrp="1"/>
          </p:cNvSpPr>
          <p:nvPr/>
        </p:nvSpPr>
        <p:spPr>
          <a:xfrm xmlns:a="http://schemas.openxmlformats.org/drawingml/2006/main">
            <a:off x="4857750" y="3619500"/>
            <a:ext cx="2476500" cy="733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Battery-specific conditions did not clearly change the fixed transfer task.</a:t>
            </a:r>
          </a:p>
        </p:txBody>
      </p:sp>
      <p:sp>
        <p:nvSpPr>
          <p:cNvPr id="17" name="矩形 16">
            <a:extLst xmlns:a="http://schemas.openxmlformats.org/drawingml/2006/main">
              <a:ext uri="{FF2B5EF4-FFF2-40B4-BE49-F238E27FC236}">
                <a16:creationId xmlns:a16="http://schemas.microsoft.com/office/drawing/2014/main" id="{BECA506B-4A9A-40FB-9CC5-A9DEACF5A8ED}"/>
              </a:ext>
            </a:extLst>
          </p:cNvPr>
          <p:cNvSpPr>
            <a:spLocks xmlns:a="http://schemas.openxmlformats.org/drawingml/2006/main" noGrp="1"/>
          </p:cNvSpPr>
          <p:nvPr/>
        </p:nvSpPr>
        <p:spPr>
          <a:xfrm xmlns:a="http://schemas.openxmlformats.org/drawingml/2006/main">
            <a:off x="8572500" y="2952750"/>
            <a:ext cx="2857500" cy="1571625"/>
          </a:xfrm>
          <a:prstGeom xmlns:a="http://schemas.openxmlformats.org/drawingml/2006/main" prst="rect">
            <a:avLst/>
          </a:prstGeom>
          <a:solidFill xmlns:a="http://schemas.openxmlformats.org/drawingml/2006/main">
            <a:srgbClr val="FFFFFF"/>
          </a:solidFill>
          <a:ln xmlns:a="http://schemas.openxmlformats.org/drawingml/2006/main" w="9525">
            <a:solidFill>
              <a:srgbClr val="D8D1C3"/>
            </a:solidFill>
            <a:prstDash val="solid"/>
          </a:ln>
        </p:spPr>
      </p:sp>
      <p:sp>
        <p:nvSpPr>
          <p:cNvPr id="18" name="矩形 17">
            <a:extLst xmlns:a="http://schemas.openxmlformats.org/drawingml/2006/main">
              <a:ext uri="{FF2B5EF4-FFF2-40B4-BE49-F238E27FC236}">
                <a16:creationId xmlns:a16="http://schemas.microsoft.com/office/drawing/2014/main" id="{D2093E58-0183-41C3-9927-D9F732F1E1B5}"/>
              </a:ext>
            </a:extLst>
          </p:cNvPr>
          <p:cNvSpPr>
            <a:spLocks xmlns:a="http://schemas.openxmlformats.org/drawingml/2006/main" noGrp="1"/>
          </p:cNvSpPr>
          <p:nvPr/>
        </p:nvSpPr>
        <p:spPr>
          <a:xfrm xmlns:a="http://schemas.openxmlformats.org/drawingml/2006/main">
            <a:off x="8572500" y="2952750"/>
            <a:ext cx="2857500" cy="66675"/>
          </a:xfrm>
          <a:prstGeom xmlns:a="http://schemas.openxmlformats.org/drawingml/2006/main" prst="rect">
            <a:avLst/>
          </a:prstGeom>
          <a:solidFill xmlns:a="http://schemas.openxmlformats.org/drawingml/2006/main">
            <a:srgbClr val="597389"/>
          </a:solidFill>
          <a:ln xmlns:a="http://schemas.openxmlformats.org/drawingml/2006/main" w="0">
            <a:solidFill>
              <a:srgbClr val="000000">
                <a:alpha val="0"/>
              </a:srgbClr>
            </a:solidFill>
            <a:prstDash val="solid"/>
          </a:ln>
        </p:spPr>
      </p:sp>
      <p:sp>
        <p:nvSpPr>
          <p:cNvPr id="19" name="矩形 18">
            <a:extLst xmlns:a="http://schemas.openxmlformats.org/drawingml/2006/main">
              <a:ext uri="{FF2B5EF4-FFF2-40B4-BE49-F238E27FC236}">
                <a16:creationId xmlns:a16="http://schemas.microsoft.com/office/drawing/2014/main" id="{48592CC6-A73C-41B2-B528-2AFC86095632}"/>
              </a:ext>
            </a:extLst>
          </p:cNvPr>
          <p:cNvSpPr>
            <a:spLocks xmlns:a="http://schemas.openxmlformats.org/drawingml/2006/main" noGrp="1"/>
          </p:cNvSpPr>
          <p:nvPr/>
        </p:nvSpPr>
        <p:spPr>
          <a:xfrm xmlns:a="http://schemas.openxmlformats.org/drawingml/2006/main">
            <a:off x="8763000" y="3190875"/>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3. What I need</a:t>
            </a:r>
          </a:p>
        </p:txBody>
      </p:sp>
      <p:sp>
        <p:nvSpPr>
          <p:cNvPr id="20" name="矩形 19">
            <a:extLst xmlns:a="http://schemas.openxmlformats.org/drawingml/2006/main">
              <a:ext uri="{FF2B5EF4-FFF2-40B4-BE49-F238E27FC236}">
                <a16:creationId xmlns:a16="http://schemas.microsoft.com/office/drawing/2014/main" id="{75976506-0752-4D76-B925-CEE21FD88489}"/>
              </a:ext>
            </a:extLst>
          </p:cNvPr>
          <p:cNvSpPr>
            <a:spLocks xmlns:a="http://schemas.openxmlformats.org/drawingml/2006/main" noGrp="1"/>
          </p:cNvSpPr>
          <p:nvPr/>
        </p:nvSpPr>
        <p:spPr>
          <a:xfrm xmlns:a="http://schemas.openxmlformats.org/drawingml/2006/main">
            <a:off x="8763000" y="3619500"/>
            <a:ext cx="2476500" cy="733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Thomas decision on scope, case priority, humanoid role, and validation access.</a:t>
            </a:r>
          </a:p>
        </p:txBody>
      </p:sp>
    </p:spTree>
    <p:extLst>
      <p:ext uri="{BB962C8B-B14F-4D97-AF65-F5344CB8AC3E}">
        <p14:creationId xmlns:p14="http://schemas.microsoft.com/office/powerpoint/2010/main" val="183077763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8" name="矩形 37">
            <a:extLst xmlns:a="http://schemas.openxmlformats.org/drawingml/2006/main">
              <a:ext uri="{FF2B5EF4-FFF2-40B4-BE49-F238E27FC236}">
                <a16:creationId xmlns:a16="http://schemas.microsoft.com/office/drawing/2014/main" id="{2EB71877-DC0F-44F2-8047-460D5A8EFF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kicker-2-marker">
            <a:extLst xmlns:a="http://schemas.openxmlformats.org/drawingml/2006/main">
              <a:ext uri="{FF2B5EF4-FFF2-40B4-BE49-F238E27FC236}">
                <a16:creationId xmlns:a16="http://schemas.microsoft.com/office/drawing/2014/main" id="{72559543-829F-4655-ACC4-FE82F6A21EB6}"/>
              </a:ext>
            </a:extLst>
          </p:cNvPr>
          <p:cNvSpPr>
            <a:spLocks xmlns:a="http://schemas.openxmlformats.org/drawingml/2006/main" noGrp="1"/>
          </p:cNvSpPr>
          <p:nvPr/>
        </p:nvSpPr>
        <p:spPr>
          <a:xfrm xmlns:a="http://schemas.openxmlformats.org/drawingml/2006/main">
            <a:off x="514350" y="400050"/>
            <a:ext cx="95250" cy="95250"/>
          </a:xfrm>
          <a:prstGeom xmlns:a="http://schemas.openxmlformats.org/drawingml/2006/main" prst="ellipse">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3" name="kicker-2-label">
            <a:extLst xmlns:a="http://schemas.openxmlformats.org/drawingml/2006/main">
              <a:ext uri="{FF2B5EF4-FFF2-40B4-BE49-F238E27FC236}">
                <a16:creationId xmlns:a16="http://schemas.microsoft.com/office/drawing/2014/main" id="{1215A233-EC9A-4B73-9DD7-49BF5E2B7872}"/>
              </a:ext>
            </a:extLst>
          </p:cNvPr>
          <p:cNvSpPr>
            <a:spLocks xmlns:a="http://schemas.openxmlformats.org/drawingml/2006/main" noGrp="1"/>
          </p:cNvSpPr>
          <p:nvPr/>
        </p:nvSpPr>
        <p:spPr>
          <a:xfrm xmlns:a="http://schemas.openxmlformats.org/drawingml/2006/main">
            <a:off x="704850" y="3238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38" b="1">
                <a:solidFill>
                  <a:srgbClr val="315C49"/>
                </a:solidFill>
                <a:latin typeface="Aptos"/>
                <a:ea typeface="Aptos"/>
                <a:cs typeface="Aptos"/>
              </a:defRPr>
            </a:pPr>
            <a:r>
              <a:rPr sz="938" b="1">
                <a:solidFill>
                  <a:srgbClr val="315C49"/>
                </a:solidFill>
                <a:latin typeface="Aptos"/>
                <a:ea typeface="Aptos"/>
                <a:cs typeface="Aptos"/>
              </a:rPr>
              <a:t>WEEK 04</a:t>
            </a:r>
          </a:p>
        </p:txBody>
      </p:sp>
      <p:sp>
        <p:nvSpPr>
          <p:cNvPr id="4" name="矩形 3">
            <a:extLst xmlns:a="http://schemas.openxmlformats.org/drawingml/2006/main">
              <a:ext uri="{FF2B5EF4-FFF2-40B4-BE49-F238E27FC236}">
                <a16:creationId xmlns:a16="http://schemas.microsoft.com/office/drawing/2014/main" id="{CE4B04BB-9AF0-4208-B234-E072C133252B}"/>
              </a:ext>
            </a:extLst>
          </p:cNvPr>
          <p:cNvSpPr>
            <a:spLocks xmlns:a="http://schemas.openxmlformats.org/drawingml/2006/main" noGrp="1"/>
          </p:cNvSpPr>
          <p:nvPr/>
        </p:nvSpPr>
        <p:spPr>
          <a:xfrm xmlns:a="http://schemas.openxmlformats.org/drawingml/2006/main">
            <a:off x="514350" y="742950"/>
            <a:ext cx="9906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Existing research already covers configurations and interfaces.</a:t>
            </a:r>
          </a:p>
        </p:txBody>
      </p:sp>
      <p:sp>
        <p:nvSpPr>
          <p:cNvPr id="5" name="矩形 4">
            <a:extLst xmlns:a="http://schemas.openxmlformats.org/drawingml/2006/main">
              <a:ext uri="{FF2B5EF4-FFF2-40B4-BE49-F238E27FC236}">
                <a16:creationId xmlns:a16="http://schemas.microsoft.com/office/drawing/2014/main" id="{79DCF76F-F8BF-40C4-8642-343BC589B3AB}"/>
              </a:ext>
            </a:extLst>
          </p:cNvPr>
          <p:cNvSpPr>
            <a:spLocks xmlns:a="http://schemas.openxmlformats.org/drawingml/2006/main" noGrp="1"/>
          </p:cNvSpPr>
          <p:nvPr/>
        </p:nvSpPr>
        <p:spPr>
          <a:xfrm xmlns:a="http://schemas.openxmlformats.org/drawingml/2006/main">
            <a:off x="514350" y="6153150"/>
            <a:ext cx="9620250" cy="11430"/>
          </a:xfrm>
          <a:prstGeom xmlns:a="http://schemas.openxmlformats.org/drawingml/2006/main" prst="rect">
            <a:avLst/>
          </a:prstGeom>
          <a:solidFill xmlns:a="http://schemas.openxmlformats.org/drawingml/2006/main">
            <a:srgbClr val="D8D1C3"/>
          </a:solidFill>
          <a:ln xmlns:a="http://schemas.openxmlformats.org/drawingml/2006/main" w="0">
            <a:solidFill>
              <a:srgbClr val="000000">
                <a:alpha val="0"/>
              </a:srgbClr>
            </a:solidFill>
            <a:prstDash val="solid"/>
          </a:ln>
        </p:spPr>
      </p:sp>
      <p:sp>
        <p:nvSpPr>
          <p:cNvPr id="6" name="矩形 5">
            <a:extLst xmlns:a="http://schemas.openxmlformats.org/drawingml/2006/main">
              <a:ext uri="{FF2B5EF4-FFF2-40B4-BE49-F238E27FC236}">
                <a16:creationId xmlns:a16="http://schemas.microsoft.com/office/drawing/2014/main" id="{DD7F2AB0-20BB-404C-A9B9-48621C6EBDE3}"/>
              </a:ext>
            </a:extLst>
          </p:cNvPr>
          <p:cNvSpPr>
            <a:spLocks xmlns:a="http://schemas.openxmlformats.org/drawingml/2006/main" noGrp="1"/>
          </p:cNvSpPr>
          <p:nvPr/>
        </p:nvSpPr>
        <p:spPr>
          <a:xfrm xmlns:a="http://schemas.openxmlformats.org/drawingml/2006/main">
            <a:off x="514350" y="6257925"/>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13" b="0">
                <a:solidFill>
                  <a:srgbClr val="5E625D"/>
                </a:solidFill>
                <a:latin typeface="Aptos"/>
                <a:ea typeface="Aptos"/>
                <a:cs typeface="Aptos"/>
              </a:defRPr>
            </a:pPr>
            <a:r>
              <a:rPr sz="713" b="0">
                <a:solidFill>
                  <a:srgbClr val="5E625D"/>
                </a:solidFill>
                <a:latin typeface="Aptos"/>
                <a:ea typeface="Aptos"/>
                <a:cs typeface="Aptos"/>
              </a:rPr>
              <a:t>Sources: Wanner et al. 2022; Schomburg et al. 2024; Deng et al. 2026; Lee et al. 2024 | Evidence boundaries retained</a:t>
            </a:r>
          </a:p>
        </p:txBody>
      </p:sp>
      <p:sp>
        <p:nvSpPr>
          <p:cNvPr id="7" name="矩形 6">
            <a:extLst xmlns:a="http://schemas.openxmlformats.org/drawingml/2006/main">
              <a:ext uri="{FF2B5EF4-FFF2-40B4-BE49-F238E27FC236}">
                <a16:creationId xmlns:a16="http://schemas.microsoft.com/office/drawing/2014/main" id="{A7E8BA48-1577-48AB-92FE-283166ADE5DF}"/>
              </a:ext>
            </a:extLst>
          </p:cNvPr>
          <p:cNvSpPr>
            <a:spLocks xmlns:a="http://schemas.openxmlformats.org/drawingml/2006/main" noGrp="1"/>
          </p:cNvSpPr>
          <p:nvPr/>
        </p:nvSpPr>
        <p:spPr>
          <a:xfrm xmlns:a="http://schemas.openxmlformats.org/drawingml/2006/main">
            <a:off x="11049000" y="62293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315C49"/>
                </a:solidFill>
                <a:latin typeface="Aptos"/>
                <a:ea typeface="Aptos"/>
                <a:cs typeface="Aptos"/>
              </a:defRPr>
            </a:pPr>
            <a:r>
              <a:rPr sz="900" b="1">
                <a:solidFill>
                  <a:srgbClr val="315C49"/>
                </a:solidFill>
                <a:latin typeface="Aptos"/>
                <a:ea typeface="Aptos"/>
                <a:cs typeface="Aptos"/>
              </a:rPr>
              <a:t>02</a:t>
            </a:r>
          </a:p>
        </p:txBody>
      </p:sp>
      <p:sp>
        <p:nvSpPr>
          <p:cNvPr id="8" name="矩形 7">
            <a:extLst xmlns:a="http://schemas.openxmlformats.org/drawingml/2006/main">
              <a:ext uri="{FF2B5EF4-FFF2-40B4-BE49-F238E27FC236}">
                <a16:creationId xmlns:a16="http://schemas.microsoft.com/office/drawing/2014/main" id="{4445A0D0-7355-4409-8D55-FE2ACB6BF856}"/>
              </a:ext>
            </a:extLst>
          </p:cNvPr>
          <p:cNvSpPr>
            <a:spLocks xmlns:a="http://schemas.openxmlformats.org/drawingml/2006/main" noGrp="1"/>
          </p:cNvSpPr>
          <p:nvPr/>
        </p:nvSpPr>
        <p:spPr>
          <a:xfrm xmlns:a="http://schemas.openxmlformats.org/drawingml/2006/main">
            <a:off x="857250" y="1809750"/>
            <a:ext cx="2095500" cy="457200"/>
          </a:xfrm>
          <a:prstGeom xmlns:a="http://schemas.openxmlformats.org/drawingml/2006/main" prst="rect">
            <a:avLst/>
          </a:prstGeom>
          <a:solidFill xmlns:a="http://schemas.openxmlformats.org/drawingml/2006/main">
            <a:srgbClr val="315C49"/>
          </a:solidFill>
          <a:ln xmlns:a="http://schemas.openxmlformats.org/drawingml/2006/main" w="7620">
            <a:solidFill>
              <a:srgbClr val="D8D1C3"/>
            </a:solidFill>
            <a:prstDash val="solid"/>
          </a:ln>
        </p:spPr>
      </p:sp>
      <p:sp>
        <p:nvSpPr>
          <p:cNvPr id="9" name="矩形 8">
            <a:extLst xmlns:a="http://schemas.openxmlformats.org/drawingml/2006/main">
              <a:ext uri="{FF2B5EF4-FFF2-40B4-BE49-F238E27FC236}">
                <a16:creationId xmlns:a16="http://schemas.microsoft.com/office/drawing/2014/main" id="{09F86C95-080F-47CC-9C10-B104EB79AB6D}"/>
              </a:ext>
            </a:extLst>
          </p:cNvPr>
          <p:cNvSpPr>
            <a:spLocks xmlns:a="http://schemas.openxmlformats.org/drawingml/2006/main" noGrp="1"/>
          </p:cNvSpPr>
          <p:nvPr/>
        </p:nvSpPr>
        <p:spPr>
          <a:xfrm xmlns:a="http://schemas.openxmlformats.org/drawingml/2006/main">
            <a:off x="952500" y="1885950"/>
            <a:ext cx="1905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Evidence</a:t>
            </a:r>
          </a:p>
        </p:txBody>
      </p:sp>
      <p:sp>
        <p:nvSpPr>
          <p:cNvPr id="10" name="矩形 9">
            <a:extLst xmlns:a="http://schemas.openxmlformats.org/drawingml/2006/main">
              <a:ext uri="{FF2B5EF4-FFF2-40B4-BE49-F238E27FC236}">
                <a16:creationId xmlns:a16="http://schemas.microsoft.com/office/drawing/2014/main" id="{6C815F98-63B9-4E83-A792-E5E3B9064426}"/>
              </a:ext>
            </a:extLst>
          </p:cNvPr>
          <p:cNvSpPr>
            <a:spLocks xmlns:a="http://schemas.openxmlformats.org/drawingml/2006/main" noGrp="1"/>
          </p:cNvSpPr>
          <p:nvPr/>
        </p:nvSpPr>
        <p:spPr>
          <a:xfrm xmlns:a="http://schemas.openxmlformats.org/drawingml/2006/main">
            <a:off x="2952750" y="1809750"/>
            <a:ext cx="4095750" cy="457200"/>
          </a:xfrm>
          <a:prstGeom xmlns:a="http://schemas.openxmlformats.org/drawingml/2006/main" prst="rect">
            <a:avLst/>
          </a:prstGeom>
          <a:solidFill xmlns:a="http://schemas.openxmlformats.org/drawingml/2006/main">
            <a:srgbClr val="315C49"/>
          </a:solidFill>
          <a:ln xmlns:a="http://schemas.openxmlformats.org/drawingml/2006/main" w="7620">
            <a:solidFill>
              <a:srgbClr val="D8D1C3"/>
            </a:solidFill>
            <a:prstDash val="solid"/>
          </a:ln>
        </p:spPr>
      </p:sp>
      <p:sp>
        <p:nvSpPr>
          <p:cNvPr id="11" name="矩形 10">
            <a:extLst xmlns:a="http://schemas.openxmlformats.org/drawingml/2006/main">
              <a:ext uri="{FF2B5EF4-FFF2-40B4-BE49-F238E27FC236}">
                <a16:creationId xmlns:a16="http://schemas.microsoft.com/office/drawing/2014/main" id="{EAB2AA8A-AF68-420C-AA40-22690792D5EE}"/>
              </a:ext>
            </a:extLst>
          </p:cNvPr>
          <p:cNvSpPr>
            <a:spLocks xmlns:a="http://schemas.openxmlformats.org/drawingml/2006/main" noGrp="1"/>
          </p:cNvSpPr>
          <p:nvPr/>
        </p:nvSpPr>
        <p:spPr>
          <a:xfrm xmlns:a="http://schemas.openxmlformats.org/drawingml/2006/main">
            <a:off x="3048000" y="1885950"/>
            <a:ext cx="3905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What I established</a:t>
            </a:r>
          </a:p>
        </p:txBody>
      </p:sp>
      <p:sp>
        <p:nvSpPr>
          <p:cNvPr id="12" name="矩形 11">
            <a:extLst xmlns:a="http://schemas.openxmlformats.org/drawingml/2006/main">
              <a:ext uri="{FF2B5EF4-FFF2-40B4-BE49-F238E27FC236}">
                <a16:creationId xmlns:a16="http://schemas.microsoft.com/office/drawing/2014/main" id="{67966F74-ECC5-478E-9359-23F3A50A50C3}"/>
              </a:ext>
            </a:extLst>
          </p:cNvPr>
          <p:cNvSpPr>
            <a:spLocks xmlns:a="http://schemas.openxmlformats.org/drawingml/2006/main" noGrp="1"/>
          </p:cNvSpPr>
          <p:nvPr/>
        </p:nvSpPr>
        <p:spPr>
          <a:xfrm xmlns:a="http://schemas.openxmlformats.org/drawingml/2006/main">
            <a:off x="7048500" y="1809750"/>
            <a:ext cx="3714750" cy="457200"/>
          </a:xfrm>
          <a:prstGeom xmlns:a="http://schemas.openxmlformats.org/drawingml/2006/main" prst="rect">
            <a:avLst/>
          </a:prstGeom>
          <a:solidFill xmlns:a="http://schemas.openxmlformats.org/drawingml/2006/main">
            <a:srgbClr val="315C49"/>
          </a:solidFill>
          <a:ln xmlns:a="http://schemas.openxmlformats.org/drawingml/2006/main" w="7620">
            <a:solidFill>
              <a:srgbClr val="D8D1C3"/>
            </a:solidFill>
            <a:prstDash val="solid"/>
          </a:ln>
        </p:spPr>
      </p:sp>
      <p:sp>
        <p:nvSpPr>
          <p:cNvPr id="13" name="矩形 12">
            <a:extLst xmlns:a="http://schemas.openxmlformats.org/drawingml/2006/main">
              <a:ext uri="{FF2B5EF4-FFF2-40B4-BE49-F238E27FC236}">
                <a16:creationId xmlns:a16="http://schemas.microsoft.com/office/drawing/2014/main" id="{E9C64017-1033-4C5E-9C2F-6ACE0E506335}"/>
              </a:ext>
            </a:extLst>
          </p:cNvPr>
          <p:cNvSpPr>
            <a:spLocks xmlns:a="http://schemas.openxmlformats.org/drawingml/2006/main" noGrp="1"/>
          </p:cNvSpPr>
          <p:nvPr/>
        </p:nvSpPr>
        <p:spPr>
          <a:xfrm xmlns:a="http://schemas.openxmlformats.org/drawingml/2006/main">
            <a:off x="7143750" y="1885950"/>
            <a:ext cx="3524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Research implication</a:t>
            </a:r>
          </a:p>
        </p:txBody>
      </p:sp>
      <p:sp>
        <p:nvSpPr>
          <p:cNvPr id="14" name="矩形 13">
            <a:extLst xmlns:a="http://schemas.openxmlformats.org/drawingml/2006/main">
              <a:ext uri="{FF2B5EF4-FFF2-40B4-BE49-F238E27FC236}">
                <a16:creationId xmlns:a16="http://schemas.microsoft.com/office/drawing/2014/main" id="{D5B095CD-5DC3-4341-9E23-99C512DE8F53}"/>
              </a:ext>
            </a:extLst>
          </p:cNvPr>
          <p:cNvSpPr>
            <a:spLocks xmlns:a="http://schemas.openxmlformats.org/drawingml/2006/main" noGrp="1"/>
          </p:cNvSpPr>
          <p:nvPr/>
        </p:nvSpPr>
        <p:spPr>
          <a:xfrm xmlns:a="http://schemas.openxmlformats.org/drawingml/2006/main">
            <a:off x="857250" y="2266950"/>
            <a:ext cx="209550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15" name="矩形 14">
            <a:extLst xmlns:a="http://schemas.openxmlformats.org/drawingml/2006/main">
              <a:ext uri="{FF2B5EF4-FFF2-40B4-BE49-F238E27FC236}">
                <a16:creationId xmlns:a16="http://schemas.microsoft.com/office/drawing/2014/main" id="{3AE4D640-38B5-4469-9424-901CD4624788}"/>
              </a:ext>
            </a:extLst>
          </p:cNvPr>
          <p:cNvSpPr>
            <a:spLocks xmlns:a="http://schemas.openxmlformats.org/drawingml/2006/main" noGrp="1"/>
          </p:cNvSpPr>
          <p:nvPr/>
        </p:nvSpPr>
        <p:spPr>
          <a:xfrm xmlns:a="http://schemas.openxmlformats.org/drawingml/2006/main">
            <a:off x="952500" y="2343150"/>
            <a:ext cx="1905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01C"/>
                </a:solidFill>
                <a:latin typeface="Aptos"/>
                <a:ea typeface="Aptos"/>
                <a:cs typeface="Aptos"/>
              </a:defRPr>
            </a:pPr>
            <a:r>
              <a:rPr sz="1125" b="1">
                <a:solidFill>
                  <a:srgbClr val="17201C"/>
                </a:solidFill>
                <a:latin typeface="Aptos"/>
                <a:ea typeface="Aptos"/>
                <a:cs typeface="Aptos"/>
              </a:rPr>
              <a:t>State of the art</a:t>
            </a:r>
          </a:p>
        </p:txBody>
      </p:sp>
      <p:sp>
        <p:nvSpPr>
          <p:cNvPr id="16" name="矩形 15">
            <a:extLst xmlns:a="http://schemas.openxmlformats.org/drawingml/2006/main">
              <a:ext uri="{FF2B5EF4-FFF2-40B4-BE49-F238E27FC236}">
                <a16:creationId xmlns:a16="http://schemas.microsoft.com/office/drawing/2014/main" id="{C3361C8F-F913-4995-AC7B-91F83AD9E021}"/>
              </a:ext>
            </a:extLst>
          </p:cNvPr>
          <p:cNvSpPr>
            <a:spLocks xmlns:a="http://schemas.openxmlformats.org/drawingml/2006/main" noGrp="1"/>
          </p:cNvSpPr>
          <p:nvPr/>
        </p:nvSpPr>
        <p:spPr>
          <a:xfrm xmlns:a="http://schemas.openxmlformats.org/drawingml/2006/main">
            <a:off x="2952750" y="2266950"/>
            <a:ext cx="409575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17" name="矩形 16">
            <a:extLst xmlns:a="http://schemas.openxmlformats.org/drawingml/2006/main">
              <a:ext uri="{FF2B5EF4-FFF2-40B4-BE49-F238E27FC236}">
                <a16:creationId xmlns:a16="http://schemas.microsoft.com/office/drawing/2014/main" id="{D47E5C3B-0873-4736-B1A4-346392FF162D}"/>
              </a:ext>
            </a:extLst>
          </p:cNvPr>
          <p:cNvSpPr>
            <a:spLocks xmlns:a="http://schemas.openxmlformats.org/drawingml/2006/main" noGrp="1"/>
          </p:cNvSpPr>
          <p:nvPr/>
        </p:nvSpPr>
        <p:spPr>
          <a:xfrm xmlns:a="http://schemas.openxmlformats.org/drawingml/2006/main">
            <a:off x="3048000" y="2343150"/>
            <a:ext cx="3905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Manual and fully automated tray-based configurations exist.</a:t>
            </a:r>
          </a:p>
        </p:txBody>
      </p:sp>
      <p:sp>
        <p:nvSpPr>
          <p:cNvPr id="18" name="矩形 17">
            <a:extLst xmlns:a="http://schemas.openxmlformats.org/drawingml/2006/main">
              <a:ext uri="{FF2B5EF4-FFF2-40B4-BE49-F238E27FC236}">
                <a16:creationId xmlns:a16="http://schemas.microsoft.com/office/drawing/2014/main" id="{A703DDBF-B8E9-47B1-9355-2A5D252DB783}"/>
              </a:ext>
            </a:extLst>
          </p:cNvPr>
          <p:cNvSpPr>
            <a:spLocks xmlns:a="http://schemas.openxmlformats.org/drawingml/2006/main" noGrp="1"/>
          </p:cNvSpPr>
          <p:nvPr/>
        </p:nvSpPr>
        <p:spPr>
          <a:xfrm xmlns:a="http://schemas.openxmlformats.org/drawingml/2006/main">
            <a:off x="7048500" y="2266950"/>
            <a:ext cx="371475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19" name="矩形 18">
            <a:extLst xmlns:a="http://schemas.openxmlformats.org/drawingml/2006/main">
              <a:ext uri="{FF2B5EF4-FFF2-40B4-BE49-F238E27FC236}">
                <a16:creationId xmlns:a16="http://schemas.microsoft.com/office/drawing/2014/main" id="{B18AEFF3-779D-4C80-8B0A-1D7C675BF2F8}"/>
              </a:ext>
            </a:extLst>
          </p:cNvPr>
          <p:cNvSpPr>
            <a:spLocks xmlns:a="http://schemas.openxmlformats.org/drawingml/2006/main" noGrp="1"/>
          </p:cNvSpPr>
          <p:nvPr/>
        </p:nvSpPr>
        <p:spPr>
          <a:xfrm xmlns:a="http://schemas.openxmlformats.org/drawingml/2006/main">
            <a:off x="7143750" y="2343150"/>
            <a:ext cx="3524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‘Fully automated’ does not prove AGV transport.</a:t>
            </a:r>
          </a:p>
        </p:txBody>
      </p:sp>
      <p:sp>
        <p:nvSpPr>
          <p:cNvPr id="20" name="矩形 19">
            <a:extLst xmlns:a="http://schemas.openxmlformats.org/drawingml/2006/main">
              <a:ext uri="{FF2B5EF4-FFF2-40B4-BE49-F238E27FC236}">
                <a16:creationId xmlns:a16="http://schemas.microsoft.com/office/drawing/2014/main" id="{D28D5AA5-E361-4C4D-BFCC-52C0446A2B18}"/>
              </a:ext>
            </a:extLst>
          </p:cNvPr>
          <p:cNvSpPr>
            <a:spLocks xmlns:a="http://schemas.openxmlformats.org/drawingml/2006/main" noGrp="1"/>
          </p:cNvSpPr>
          <p:nvPr/>
        </p:nvSpPr>
        <p:spPr>
          <a:xfrm xmlns:a="http://schemas.openxmlformats.org/drawingml/2006/main">
            <a:off x="857250" y="3009900"/>
            <a:ext cx="209550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21" name="矩形 20">
            <a:extLst xmlns:a="http://schemas.openxmlformats.org/drawingml/2006/main">
              <a:ext uri="{FF2B5EF4-FFF2-40B4-BE49-F238E27FC236}">
                <a16:creationId xmlns:a16="http://schemas.microsoft.com/office/drawing/2014/main" id="{7D7C2C81-CF3A-4ADF-9410-9DC6DE0B8CF2}"/>
              </a:ext>
            </a:extLst>
          </p:cNvPr>
          <p:cNvSpPr>
            <a:spLocks xmlns:a="http://schemas.openxmlformats.org/drawingml/2006/main" noGrp="1"/>
          </p:cNvSpPr>
          <p:nvPr/>
        </p:nvSpPr>
        <p:spPr>
          <a:xfrm xmlns:a="http://schemas.openxmlformats.org/drawingml/2006/main">
            <a:off x="952500" y="3086100"/>
            <a:ext cx="1905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01C"/>
                </a:solidFill>
                <a:latin typeface="Aptos"/>
                <a:ea typeface="Aptos"/>
                <a:cs typeface="Aptos"/>
              </a:defRPr>
            </a:pPr>
            <a:r>
              <a:rPr sz="1125" b="1">
                <a:solidFill>
                  <a:srgbClr val="17201C"/>
                </a:solidFill>
                <a:latin typeface="Aptos"/>
                <a:ea typeface="Aptos"/>
                <a:cs typeface="Aptos"/>
              </a:rPr>
              <a:t>Carrier role</a:t>
            </a:r>
          </a:p>
        </p:txBody>
      </p:sp>
      <p:sp>
        <p:nvSpPr>
          <p:cNvPr id="22" name="矩形 21">
            <a:extLst xmlns:a="http://schemas.openxmlformats.org/drawingml/2006/main">
              <a:ext uri="{FF2B5EF4-FFF2-40B4-BE49-F238E27FC236}">
                <a16:creationId xmlns:a16="http://schemas.microsoft.com/office/drawing/2014/main" id="{14FEBE67-61B3-4A42-BC56-A888C47E78D2}"/>
              </a:ext>
            </a:extLst>
          </p:cNvPr>
          <p:cNvSpPr>
            <a:spLocks xmlns:a="http://schemas.openxmlformats.org/drawingml/2006/main" noGrp="1"/>
          </p:cNvSpPr>
          <p:nvPr/>
        </p:nvSpPr>
        <p:spPr>
          <a:xfrm xmlns:a="http://schemas.openxmlformats.org/drawingml/2006/main">
            <a:off x="2952750" y="3009900"/>
            <a:ext cx="409575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23" name="矩形 22">
            <a:extLst xmlns:a="http://schemas.openxmlformats.org/drawingml/2006/main">
              <a:ext uri="{FF2B5EF4-FFF2-40B4-BE49-F238E27FC236}">
                <a16:creationId xmlns:a16="http://schemas.microsoft.com/office/drawing/2014/main" id="{97B7A232-009A-4411-A6AF-C34391D84245}"/>
              </a:ext>
            </a:extLst>
          </p:cNvPr>
          <p:cNvSpPr>
            <a:spLocks xmlns:a="http://schemas.openxmlformats.org/drawingml/2006/main" noGrp="1"/>
          </p:cNvSpPr>
          <p:nvPr/>
        </p:nvSpPr>
        <p:spPr>
          <a:xfrm xmlns:a="http://schemas.openxmlformats.org/drawingml/2006/main">
            <a:off x="3048000" y="3086100"/>
            <a:ext cx="3905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Some carriers also provide contact, fixture, or controlled pressure.</a:t>
            </a:r>
          </a:p>
        </p:txBody>
      </p:sp>
      <p:sp>
        <p:nvSpPr>
          <p:cNvPr id="24" name="矩形 23">
            <a:extLst xmlns:a="http://schemas.openxmlformats.org/drawingml/2006/main">
              <a:ext uri="{FF2B5EF4-FFF2-40B4-BE49-F238E27FC236}">
                <a16:creationId xmlns:a16="http://schemas.microsoft.com/office/drawing/2014/main" id="{FC0DF377-59F5-402E-B3CC-860087AED504}"/>
              </a:ext>
            </a:extLst>
          </p:cNvPr>
          <p:cNvSpPr>
            <a:spLocks xmlns:a="http://schemas.openxmlformats.org/drawingml/2006/main" noGrp="1"/>
          </p:cNvSpPr>
          <p:nvPr/>
        </p:nvSpPr>
        <p:spPr>
          <a:xfrm xmlns:a="http://schemas.openxmlformats.org/drawingml/2006/main">
            <a:off x="7048500" y="3009900"/>
            <a:ext cx="371475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25" name="矩形 24">
            <a:extLst xmlns:a="http://schemas.openxmlformats.org/drawingml/2006/main">
              <a:ext uri="{FF2B5EF4-FFF2-40B4-BE49-F238E27FC236}">
                <a16:creationId xmlns:a16="http://schemas.microsoft.com/office/drawing/2014/main" id="{C3F9C5D7-21D8-45D8-965F-20B11A127692}"/>
              </a:ext>
            </a:extLst>
          </p:cNvPr>
          <p:cNvSpPr>
            <a:spLocks xmlns:a="http://schemas.openxmlformats.org/drawingml/2006/main" noGrp="1"/>
          </p:cNvSpPr>
          <p:nvPr/>
        </p:nvSpPr>
        <p:spPr>
          <a:xfrm xmlns:a="http://schemas.openxmlformats.org/drawingml/2006/main">
            <a:off x="7143750" y="3086100"/>
            <a:ext cx="3524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A carrier is not always a passive logistics unit.</a:t>
            </a:r>
          </a:p>
        </p:txBody>
      </p:sp>
      <p:sp>
        <p:nvSpPr>
          <p:cNvPr id="26" name="矩形 25">
            <a:extLst xmlns:a="http://schemas.openxmlformats.org/drawingml/2006/main">
              <a:ext uri="{FF2B5EF4-FFF2-40B4-BE49-F238E27FC236}">
                <a16:creationId xmlns:a16="http://schemas.microsoft.com/office/drawing/2014/main" id="{F2CE93A6-F89F-4880-816D-E2F157F13E21}"/>
              </a:ext>
            </a:extLst>
          </p:cNvPr>
          <p:cNvSpPr>
            <a:spLocks xmlns:a="http://schemas.openxmlformats.org/drawingml/2006/main" noGrp="1"/>
          </p:cNvSpPr>
          <p:nvPr/>
        </p:nvSpPr>
        <p:spPr>
          <a:xfrm xmlns:a="http://schemas.openxmlformats.org/drawingml/2006/main">
            <a:off x="857250" y="3752850"/>
            <a:ext cx="209550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27" name="矩形 26">
            <a:extLst xmlns:a="http://schemas.openxmlformats.org/drawingml/2006/main">
              <a:ext uri="{FF2B5EF4-FFF2-40B4-BE49-F238E27FC236}">
                <a16:creationId xmlns:a16="http://schemas.microsoft.com/office/drawing/2014/main" id="{784E4208-32C4-4180-A659-EC747DB7E493}"/>
              </a:ext>
            </a:extLst>
          </p:cNvPr>
          <p:cNvSpPr>
            <a:spLocks xmlns:a="http://schemas.openxmlformats.org/drawingml/2006/main" noGrp="1"/>
          </p:cNvSpPr>
          <p:nvPr/>
        </p:nvSpPr>
        <p:spPr>
          <a:xfrm xmlns:a="http://schemas.openxmlformats.org/drawingml/2006/main">
            <a:off x="952500" y="3829050"/>
            <a:ext cx="1905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01C"/>
                </a:solidFill>
                <a:latin typeface="Aptos"/>
                <a:ea typeface="Aptos"/>
                <a:cs typeface="Aptos"/>
              </a:defRPr>
            </a:pPr>
            <a:r>
              <a:rPr sz="1125" b="1">
                <a:solidFill>
                  <a:srgbClr val="17201C"/>
                </a:solidFill>
                <a:latin typeface="Aptos"/>
                <a:ea typeface="Aptos"/>
                <a:cs typeface="Aptos"/>
              </a:rPr>
              <a:t>Counterexample</a:t>
            </a:r>
          </a:p>
        </p:txBody>
      </p:sp>
      <p:sp>
        <p:nvSpPr>
          <p:cNvPr id="28" name="矩形 27">
            <a:extLst xmlns:a="http://schemas.openxmlformats.org/drawingml/2006/main">
              <a:ext uri="{FF2B5EF4-FFF2-40B4-BE49-F238E27FC236}">
                <a16:creationId xmlns:a16="http://schemas.microsoft.com/office/drawing/2014/main" id="{F9AAEFEF-9483-4C92-8632-A4C69B27964F}"/>
              </a:ext>
            </a:extLst>
          </p:cNvPr>
          <p:cNvSpPr>
            <a:spLocks xmlns:a="http://schemas.openxmlformats.org/drawingml/2006/main" noGrp="1"/>
          </p:cNvSpPr>
          <p:nvPr/>
        </p:nvSpPr>
        <p:spPr>
          <a:xfrm xmlns:a="http://schemas.openxmlformats.org/drawingml/2006/main">
            <a:off x="2952750" y="3752850"/>
            <a:ext cx="409575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29" name="矩形 28">
            <a:extLst xmlns:a="http://schemas.openxmlformats.org/drawingml/2006/main">
              <a:ext uri="{FF2B5EF4-FFF2-40B4-BE49-F238E27FC236}">
                <a16:creationId xmlns:a16="http://schemas.microsoft.com/office/drawing/2014/main" id="{B3C05742-D5E5-499D-9947-93506835180D}"/>
              </a:ext>
            </a:extLst>
          </p:cNvPr>
          <p:cNvSpPr>
            <a:spLocks xmlns:a="http://schemas.openxmlformats.org/drawingml/2006/main" noGrp="1"/>
          </p:cNvSpPr>
          <p:nvPr/>
        </p:nvSpPr>
        <p:spPr>
          <a:xfrm xmlns:a="http://schemas.openxmlformats.org/drawingml/2006/main">
            <a:off x="3048000" y="3829050"/>
            <a:ext cx="3905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Deng models physical interfaces and intralogistics transitions.</a:t>
            </a:r>
          </a:p>
        </p:txBody>
      </p:sp>
      <p:sp>
        <p:nvSpPr>
          <p:cNvPr id="30" name="矩形 29">
            <a:extLst xmlns:a="http://schemas.openxmlformats.org/drawingml/2006/main">
              <a:ext uri="{FF2B5EF4-FFF2-40B4-BE49-F238E27FC236}">
                <a16:creationId xmlns:a16="http://schemas.microsoft.com/office/drawing/2014/main" id="{1C0834C7-2039-472C-BEC0-87466C2E11C9}"/>
              </a:ext>
            </a:extLst>
          </p:cNvPr>
          <p:cNvSpPr>
            <a:spLocks xmlns:a="http://schemas.openxmlformats.org/drawingml/2006/main" noGrp="1"/>
          </p:cNvSpPr>
          <p:nvPr/>
        </p:nvSpPr>
        <p:spPr>
          <a:xfrm xmlns:a="http://schemas.openxmlformats.org/drawingml/2006/main">
            <a:off x="7048500" y="3752850"/>
            <a:ext cx="371475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31" name="矩形 30">
            <a:extLst xmlns:a="http://schemas.openxmlformats.org/drawingml/2006/main">
              <a:ext uri="{FF2B5EF4-FFF2-40B4-BE49-F238E27FC236}">
                <a16:creationId xmlns:a16="http://schemas.microsoft.com/office/drawing/2014/main" id="{EAC9261E-2D22-4B2A-B760-D3331EA7CAD3}"/>
              </a:ext>
            </a:extLst>
          </p:cNvPr>
          <p:cNvSpPr>
            <a:spLocks xmlns:a="http://schemas.openxmlformats.org/drawingml/2006/main" noGrp="1"/>
          </p:cNvSpPr>
          <p:nvPr/>
        </p:nvSpPr>
        <p:spPr>
          <a:xfrm xmlns:a="http://schemas.openxmlformats.org/drawingml/2006/main">
            <a:off x="7143750" y="3829050"/>
            <a:ext cx="3524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No claim that interfaces or logistics were never studied.</a:t>
            </a:r>
          </a:p>
        </p:txBody>
      </p:sp>
      <p:sp>
        <p:nvSpPr>
          <p:cNvPr id="32" name="矩形 31">
            <a:extLst xmlns:a="http://schemas.openxmlformats.org/drawingml/2006/main">
              <a:ext uri="{FF2B5EF4-FFF2-40B4-BE49-F238E27FC236}">
                <a16:creationId xmlns:a16="http://schemas.microsoft.com/office/drawing/2014/main" id="{7E6BA80B-C869-40BB-B3C0-C58BEA2EDC0E}"/>
              </a:ext>
            </a:extLst>
          </p:cNvPr>
          <p:cNvSpPr>
            <a:spLocks xmlns:a="http://schemas.openxmlformats.org/drawingml/2006/main" noGrp="1"/>
          </p:cNvSpPr>
          <p:nvPr/>
        </p:nvSpPr>
        <p:spPr>
          <a:xfrm xmlns:a="http://schemas.openxmlformats.org/drawingml/2006/main">
            <a:off x="857250" y="4495800"/>
            <a:ext cx="209550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33" name="矩形 32">
            <a:extLst xmlns:a="http://schemas.openxmlformats.org/drawingml/2006/main">
              <a:ext uri="{FF2B5EF4-FFF2-40B4-BE49-F238E27FC236}">
                <a16:creationId xmlns:a16="http://schemas.microsoft.com/office/drawing/2014/main" id="{C7BFE6E3-3186-4246-94E8-439B9BA71C99}"/>
              </a:ext>
            </a:extLst>
          </p:cNvPr>
          <p:cNvSpPr>
            <a:spLocks xmlns:a="http://schemas.openxmlformats.org/drawingml/2006/main" noGrp="1"/>
          </p:cNvSpPr>
          <p:nvPr/>
        </p:nvSpPr>
        <p:spPr>
          <a:xfrm xmlns:a="http://schemas.openxmlformats.org/drawingml/2006/main">
            <a:off x="952500" y="4572000"/>
            <a:ext cx="1905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01C"/>
                </a:solidFill>
                <a:latin typeface="Aptos"/>
                <a:ea typeface="Aptos"/>
                <a:cs typeface="Aptos"/>
              </a:defRPr>
            </a:pPr>
            <a:r>
              <a:rPr sz="1125" b="1">
                <a:solidFill>
                  <a:srgbClr val="17201C"/>
                </a:solidFill>
                <a:latin typeface="Aptos"/>
                <a:ea typeface="Aptos"/>
                <a:cs typeface="Aptos"/>
              </a:rPr>
              <a:t>Week 04 decision</a:t>
            </a:r>
          </a:p>
        </p:txBody>
      </p:sp>
      <p:sp>
        <p:nvSpPr>
          <p:cNvPr id="34" name="矩形 33">
            <a:extLst xmlns:a="http://schemas.openxmlformats.org/drawingml/2006/main">
              <a:ext uri="{FF2B5EF4-FFF2-40B4-BE49-F238E27FC236}">
                <a16:creationId xmlns:a16="http://schemas.microsoft.com/office/drawing/2014/main" id="{606AF5A6-A76A-4917-8852-E524D6C1D7C3}"/>
              </a:ext>
            </a:extLst>
          </p:cNvPr>
          <p:cNvSpPr>
            <a:spLocks xmlns:a="http://schemas.openxmlformats.org/drawingml/2006/main" noGrp="1"/>
          </p:cNvSpPr>
          <p:nvPr/>
        </p:nvSpPr>
        <p:spPr>
          <a:xfrm xmlns:a="http://schemas.openxmlformats.org/drawingml/2006/main">
            <a:off x="2952750" y="4495800"/>
            <a:ext cx="409575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35" name="矩形 34">
            <a:extLst xmlns:a="http://schemas.openxmlformats.org/drawingml/2006/main">
              <a:ext uri="{FF2B5EF4-FFF2-40B4-BE49-F238E27FC236}">
                <a16:creationId xmlns:a16="http://schemas.microsoft.com/office/drawing/2014/main" id="{61984449-24E8-4D3D-AE06-5519B7F3C218}"/>
              </a:ext>
            </a:extLst>
          </p:cNvPr>
          <p:cNvSpPr>
            <a:spLocks xmlns:a="http://schemas.openxmlformats.org/drawingml/2006/main" noGrp="1"/>
          </p:cNvSpPr>
          <p:nvPr/>
        </p:nvSpPr>
        <p:spPr>
          <a:xfrm xmlns:a="http://schemas.openxmlformats.org/drawingml/2006/main">
            <a:off x="3048000" y="4572000"/>
            <a:ext cx="3905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Kept handover and exception flow only as testable candidates.</a:t>
            </a:r>
          </a:p>
        </p:txBody>
      </p:sp>
      <p:sp>
        <p:nvSpPr>
          <p:cNvPr id="36" name="矩形 35">
            <a:extLst xmlns:a="http://schemas.openxmlformats.org/drawingml/2006/main">
              <a:ext uri="{FF2B5EF4-FFF2-40B4-BE49-F238E27FC236}">
                <a16:creationId xmlns:a16="http://schemas.microsoft.com/office/drawing/2014/main" id="{9548144B-9C7C-497E-9995-DA41D9E4E98E}"/>
              </a:ext>
            </a:extLst>
          </p:cNvPr>
          <p:cNvSpPr>
            <a:spLocks xmlns:a="http://schemas.openxmlformats.org/drawingml/2006/main" noGrp="1"/>
          </p:cNvSpPr>
          <p:nvPr/>
        </p:nvSpPr>
        <p:spPr>
          <a:xfrm xmlns:a="http://schemas.openxmlformats.org/drawingml/2006/main">
            <a:off x="7048500" y="4495800"/>
            <a:ext cx="371475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37" name="矩形 36">
            <a:extLst xmlns:a="http://schemas.openxmlformats.org/drawingml/2006/main">
              <a:ext uri="{FF2B5EF4-FFF2-40B4-BE49-F238E27FC236}">
                <a16:creationId xmlns:a16="http://schemas.microsoft.com/office/drawing/2014/main" id="{D30D8BD5-FD37-41BE-8495-D199CE681CAC}"/>
              </a:ext>
            </a:extLst>
          </p:cNvPr>
          <p:cNvSpPr>
            <a:spLocks xmlns:a="http://schemas.openxmlformats.org/drawingml/2006/main" noGrp="1"/>
          </p:cNvSpPr>
          <p:nvPr/>
        </p:nvSpPr>
        <p:spPr>
          <a:xfrm xmlns:a="http://schemas.openxmlformats.org/drawingml/2006/main">
            <a:off x="7143750" y="4572000"/>
            <a:ext cx="3524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No final gap; no simulation without a validated task.</a:t>
            </a:r>
          </a:p>
        </p:txBody>
      </p:sp>
    </p:spTree>
    <p:extLst>
      <p:ext uri="{BB962C8B-B14F-4D97-AF65-F5344CB8AC3E}">
        <p14:creationId xmlns:p14="http://schemas.microsoft.com/office/powerpoint/2010/main" val="67341193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8" name="矩形 37">
            <a:extLst xmlns:a="http://schemas.openxmlformats.org/drawingml/2006/main">
              <a:ext uri="{FF2B5EF4-FFF2-40B4-BE49-F238E27FC236}">
                <a16:creationId xmlns:a16="http://schemas.microsoft.com/office/drawing/2014/main" id="{2EB71877-DC0F-44F2-8047-460D5A8EFF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kicker-2-marker">
            <a:extLst xmlns:a="http://schemas.openxmlformats.org/drawingml/2006/main">
              <a:ext uri="{FF2B5EF4-FFF2-40B4-BE49-F238E27FC236}">
                <a16:creationId xmlns:a16="http://schemas.microsoft.com/office/drawing/2014/main" id="{72559543-829F-4655-ACC4-FE82F6A21EB6}"/>
              </a:ext>
            </a:extLst>
          </p:cNvPr>
          <p:cNvSpPr>
            <a:spLocks xmlns:a="http://schemas.openxmlformats.org/drawingml/2006/main" noGrp="1"/>
          </p:cNvSpPr>
          <p:nvPr/>
        </p:nvSpPr>
        <p:spPr>
          <a:xfrm xmlns:a="http://schemas.openxmlformats.org/drawingml/2006/main">
            <a:off x="514350" y="400050"/>
            <a:ext cx="95250" cy="95250"/>
          </a:xfrm>
          <a:prstGeom xmlns:a="http://schemas.openxmlformats.org/drawingml/2006/main" prst="ellipse">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3" name="kicker-2-label">
            <a:extLst xmlns:a="http://schemas.openxmlformats.org/drawingml/2006/main">
              <a:ext uri="{FF2B5EF4-FFF2-40B4-BE49-F238E27FC236}">
                <a16:creationId xmlns:a16="http://schemas.microsoft.com/office/drawing/2014/main" id="{1215A233-EC9A-4B73-9DD7-49BF5E2B7872}"/>
              </a:ext>
            </a:extLst>
          </p:cNvPr>
          <p:cNvSpPr>
            <a:spLocks xmlns:a="http://schemas.openxmlformats.org/drawingml/2006/main" noGrp="1"/>
          </p:cNvSpPr>
          <p:nvPr/>
        </p:nvSpPr>
        <p:spPr>
          <a:xfrm xmlns:a="http://schemas.openxmlformats.org/drawingml/2006/main">
            <a:off x="704850" y="3238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38" b="1">
                <a:solidFill>
                  <a:srgbClr val="315C49"/>
                </a:solidFill>
                <a:latin typeface="Aptos"/>
                <a:ea typeface="Aptos"/>
                <a:cs typeface="Aptos"/>
              </a:defRPr>
            </a:pPr>
            <a:r>
              <a:rPr sz="938" b="1">
                <a:solidFill>
                  <a:srgbClr val="315C49"/>
                </a:solidFill>
                <a:latin typeface="Aptos"/>
                <a:ea typeface="Aptos"/>
                <a:cs typeface="Aptos"/>
              </a:rPr>
              <a:t>WEEK 05</a:t>
            </a:r>
          </a:p>
        </p:txBody>
      </p:sp>
      <p:sp>
        <p:nvSpPr>
          <p:cNvPr id="4" name="矩形 3">
            <a:extLst xmlns:a="http://schemas.openxmlformats.org/drawingml/2006/main">
              <a:ext uri="{FF2B5EF4-FFF2-40B4-BE49-F238E27FC236}">
                <a16:creationId xmlns:a16="http://schemas.microsoft.com/office/drawing/2014/main" id="{CE4B04BB-9AF0-4208-B234-E072C133252B}"/>
              </a:ext>
            </a:extLst>
          </p:cNvPr>
          <p:cNvSpPr>
            <a:spLocks xmlns:a="http://schemas.openxmlformats.org/drawingml/2006/main" noGrp="1"/>
          </p:cNvSpPr>
          <p:nvPr/>
        </p:nvSpPr>
        <p:spPr>
          <a:xfrm xmlns:a="http://schemas.openxmlformats.org/drawingml/2006/main">
            <a:off x="514350" y="742950"/>
            <a:ext cx="9906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One formation-loading architecture became a bounded baseline.</a:t>
            </a:r>
          </a:p>
        </p:txBody>
      </p:sp>
      <p:sp>
        <p:nvSpPr>
          <p:cNvPr id="5" name="矩形 4">
            <a:extLst xmlns:a="http://schemas.openxmlformats.org/drawingml/2006/main">
              <a:ext uri="{FF2B5EF4-FFF2-40B4-BE49-F238E27FC236}">
                <a16:creationId xmlns:a16="http://schemas.microsoft.com/office/drawing/2014/main" id="{79DCF76F-F8BF-40C4-8642-343BC589B3AB}"/>
              </a:ext>
            </a:extLst>
          </p:cNvPr>
          <p:cNvSpPr>
            <a:spLocks xmlns:a="http://schemas.openxmlformats.org/drawingml/2006/main" noGrp="1"/>
          </p:cNvSpPr>
          <p:nvPr/>
        </p:nvSpPr>
        <p:spPr>
          <a:xfrm xmlns:a="http://schemas.openxmlformats.org/drawingml/2006/main">
            <a:off x="514350" y="6153150"/>
            <a:ext cx="9620250" cy="11430"/>
          </a:xfrm>
          <a:prstGeom xmlns:a="http://schemas.openxmlformats.org/drawingml/2006/main" prst="rect">
            <a:avLst/>
          </a:prstGeom>
          <a:solidFill xmlns:a="http://schemas.openxmlformats.org/drawingml/2006/main">
            <a:srgbClr val="D8D1C3"/>
          </a:solidFill>
          <a:ln xmlns:a="http://schemas.openxmlformats.org/drawingml/2006/main" w="0">
            <a:solidFill>
              <a:srgbClr val="000000">
                <a:alpha val="0"/>
              </a:srgbClr>
            </a:solidFill>
            <a:prstDash val="solid"/>
          </a:ln>
        </p:spPr>
      </p:sp>
      <p:sp>
        <p:nvSpPr>
          <p:cNvPr id="6" name="矩形 5">
            <a:extLst xmlns:a="http://schemas.openxmlformats.org/drawingml/2006/main">
              <a:ext uri="{FF2B5EF4-FFF2-40B4-BE49-F238E27FC236}">
                <a16:creationId xmlns:a16="http://schemas.microsoft.com/office/drawing/2014/main" id="{DD7F2AB0-20BB-404C-A9B9-48621C6EBDE3}"/>
              </a:ext>
            </a:extLst>
          </p:cNvPr>
          <p:cNvSpPr>
            <a:spLocks xmlns:a="http://schemas.openxmlformats.org/drawingml/2006/main" noGrp="1"/>
          </p:cNvSpPr>
          <p:nvPr/>
        </p:nvSpPr>
        <p:spPr>
          <a:xfrm xmlns:a="http://schemas.openxmlformats.org/drawingml/2006/main">
            <a:off x="514350" y="6257925"/>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13" b="0">
                <a:solidFill>
                  <a:srgbClr val="5E625D"/>
                </a:solidFill>
                <a:latin typeface="Aptos"/>
                <a:ea typeface="Aptos"/>
                <a:cs typeface="Aptos"/>
              </a:defRPr>
            </a:pPr>
            <a:r>
              <a:rPr sz="713" b="0">
                <a:solidFill>
                  <a:srgbClr val="5E625D"/>
                </a:solidFill>
                <a:latin typeface="Aptos"/>
                <a:ea typeface="Aptos"/>
                <a:cs typeface="Aptos"/>
              </a:rPr>
              <a:t>Source: CN118970237A, description [0061]–[0062] | Patent disclosure, not deployment validation</a:t>
            </a:r>
          </a:p>
        </p:txBody>
      </p:sp>
      <p:sp>
        <p:nvSpPr>
          <p:cNvPr id="7" name="矩形 6">
            <a:extLst xmlns:a="http://schemas.openxmlformats.org/drawingml/2006/main">
              <a:ext uri="{FF2B5EF4-FFF2-40B4-BE49-F238E27FC236}">
                <a16:creationId xmlns:a16="http://schemas.microsoft.com/office/drawing/2014/main" id="{A7E8BA48-1577-48AB-92FE-283166ADE5DF}"/>
              </a:ext>
            </a:extLst>
          </p:cNvPr>
          <p:cNvSpPr>
            <a:spLocks xmlns:a="http://schemas.openxmlformats.org/drawingml/2006/main" noGrp="1"/>
          </p:cNvSpPr>
          <p:nvPr/>
        </p:nvSpPr>
        <p:spPr>
          <a:xfrm xmlns:a="http://schemas.openxmlformats.org/drawingml/2006/main">
            <a:off x="11049000" y="62293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315C49"/>
                </a:solidFill>
                <a:latin typeface="Aptos"/>
                <a:ea typeface="Aptos"/>
                <a:cs typeface="Aptos"/>
              </a:defRPr>
            </a:pPr>
            <a:r>
              <a:rPr sz="900" b="1">
                <a:solidFill>
                  <a:srgbClr val="315C49"/>
                </a:solidFill>
                <a:latin typeface="Aptos"/>
                <a:ea typeface="Aptos"/>
                <a:cs typeface="Aptos"/>
              </a:rPr>
              <a:t>03</a:t>
            </a:r>
          </a:p>
        </p:txBody>
      </p:sp>
      <p:sp>
        <p:nvSpPr>
          <p:cNvPr id="8" name="矩形 7">
            <a:extLst xmlns:a="http://schemas.openxmlformats.org/drawingml/2006/main">
              <a:ext uri="{FF2B5EF4-FFF2-40B4-BE49-F238E27FC236}">
                <a16:creationId xmlns:a16="http://schemas.microsoft.com/office/drawing/2014/main" id="{4445A0D0-7355-4409-8D55-FE2ACB6BF856}"/>
              </a:ext>
            </a:extLst>
          </p:cNvPr>
          <p:cNvSpPr>
            <a:spLocks xmlns:a="http://schemas.openxmlformats.org/drawingml/2006/main" noGrp="1"/>
          </p:cNvSpPr>
          <p:nvPr/>
        </p:nvSpPr>
        <p:spPr>
          <a:xfrm xmlns:a="http://schemas.openxmlformats.org/drawingml/2006/main">
            <a:off x="857250" y="1809750"/>
            <a:ext cx="2095500" cy="457200"/>
          </a:xfrm>
          <a:prstGeom xmlns:a="http://schemas.openxmlformats.org/drawingml/2006/main" prst="rect">
            <a:avLst/>
          </a:prstGeom>
          <a:solidFill xmlns:a="http://schemas.openxmlformats.org/drawingml/2006/main">
            <a:srgbClr val="315C49"/>
          </a:solidFill>
          <a:ln xmlns:a="http://schemas.openxmlformats.org/drawingml/2006/main" w="7620">
            <a:solidFill>
              <a:srgbClr val="D8D1C3"/>
            </a:solidFill>
            <a:prstDash val="solid"/>
          </a:ln>
        </p:spPr>
      </p:sp>
      <p:sp>
        <p:nvSpPr>
          <p:cNvPr id="9" name="矩形 8">
            <a:extLst xmlns:a="http://schemas.openxmlformats.org/drawingml/2006/main">
              <a:ext uri="{FF2B5EF4-FFF2-40B4-BE49-F238E27FC236}">
                <a16:creationId xmlns:a16="http://schemas.microsoft.com/office/drawing/2014/main" id="{09F86C95-080F-47CC-9C10-B104EB79AB6D}"/>
              </a:ext>
            </a:extLst>
          </p:cNvPr>
          <p:cNvSpPr>
            <a:spLocks xmlns:a="http://schemas.openxmlformats.org/drawingml/2006/main" noGrp="1"/>
          </p:cNvSpPr>
          <p:nvPr/>
        </p:nvSpPr>
        <p:spPr>
          <a:xfrm xmlns:a="http://schemas.openxmlformats.org/drawingml/2006/main">
            <a:off x="952500" y="1885950"/>
            <a:ext cx="1905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Layer</a:t>
            </a:r>
          </a:p>
        </p:txBody>
      </p:sp>
      <p:sp>
        <p:nvSpPr>
          <p:cNvPr id="10" name="矩形 9">
            <a:extLst xmlns:a="http://schemas.openxmlformats.org/drawingml/2006/main">
              <a:ext uri="{FF2B5EF4-FFF2-40B4-BE49-F238E27FC236}">
                <a16:creationId xmlns:a16="http://schemas.microsoft.com/office/drawing/2014/main" id="{6C815F98-63B9-4E83-A792-E5E3B9064426}"/>
              </a:ext>
            </a:extLst>
          </p:cNvPr>
          <p:cNvSpPr>
            <a:spLocks xmlns:a="http://schemas.openxmlformats.org/drawingml/2006/main" noGrp="1"/>
          </p:cNvSpPr>
          <p:nvPr/>
        </p:nvSpPr>
        <p:spPr>
          <a:xfrm xmlns:a="http://schemas.openxmlformats.org/drawingml/2006/main">
            <a:off x="2952750" y="1809750"/>
            <a:ext cx="4095750" cy="457200"/>
          </a:xfrm>
          <a:prstGeom xmlns:a="http://schemas.openxmlformats.org/drawingml/2006/main" prst="rect">
            <a:avLst/>
          </a:prstGeom>
          <a:solidFill xmlns:a="http://schemas.openxmlformats.org/drawingml/2006/main">
            <a:srgbClr val="315C49"/>
          </a:solidFill>
          <a:ln xmlns:a="http://schemas.openxmlformats.org/drawingml/2006/main" w="7620">
            <a:solidFill>
              <a:srgbClr val="D8D1C3"/>
            </a:solidFill>
            <a:prstDash val="solid"/>
          </a:ln>
        </p:spPr>
      </p:sp>
      <p:sp>
        <p:nvSpPr>
          <p:cNvPr id="11" name="矩形 10">
            <a:extLst xmlns:a="http://schemas.openxmlformats.org/drawingml/2006/main">
              <a:ext uri="{FF2B5EF4-FFF2-40B4-BE49-F238E27FC236}">
                <a16:creationId xmlns:a16="http://schemas.microsoft.com/office/drawing/2014/main" id="{EAB2AA8A-AF68-420C-AA40-22690792D5EE}"/>
              </a:ext>
            </a:extLst>
          </p:cNvPr>
          <p:cNvSpPr>
            <a:spLocks xmlns:a="http://schemas.openxmlformats.org/drawingml/2006/main" noGrp="1"/>
          </p:cNvSpPr>
          <p:nvPr/>
        </p:nvSpPr>
        <p:spPr>
          <a:xfrm xmlns:a="http://schemas.openxmlformats.org/drawingml/2006/main">
            <a:off x="3048000" y="1885950"/>
            <a:ext cx="3905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Direct evidence</a:t>
            </a:r>
          </a:p>
        </p:txBody>
      </p:sp>
      <p:sp>
        <p:nvSpPr>
          <p:cNvPr id="12" name="矩形 11">
            <a:extLst xmlns:a="http://schemas.openxmlformats.org/drawingml/2006/main">
              <a:ext uri="{FF2B5EF4-FFF2-40B4-BE49-F238E27FC236}">
                <a16:creationId xmlns:a16="http://schemas.microsoft.com/office/drawing/2014/main" id="{67966F74-ECC5-478E-9359-23F3A50A50C3}"/>
              </a:ext>
            </a:extLst>
          </p:cNvPr>
          <p:cNvSpPr>
            <a:spLocks xmlns:a="http://schemas.openxmlformats.org/drawingml/2006/main" noGrp="1"/>
          </p:cNvSpPr>
          <p:nvPr/>
        </p:nvSpPr>
        <p:spPr>
          <a:xfrm xmlns:a="http://schemas.openxmlformats.org/drawingml/2006/main">
            <a:off x="7048500" y="1809750"/>
            <a:ext cx="3714750" cy="457200"/>
          </a:xfrm>
          <a:prstGeom xmlns:a="http://schemas.openxmlformats.org/drawingml/2006/main" prst="rect">
            <a:avLst/>
          </a:prstGeom>
          <a:solidFill xmlns:a="http://schemas.openxmlformats.org/drawingml/2006/main">
            <a:srgbClr val="315C49"/>
          </a:solidFill>
          <a:ln xmlns:a="http://schemas.openxmlformats.org/drawingml/2006/main" w="7620">
            <a:solidFill>
              <a:srgbClr val="D8D1C3"/>
            </a:solidFill>
            <a:prstDash val="solid"/>
          </a:ln>
        </p:spPr>
      </p:sp>
      <p:sp>
        <p:nvSpPr>
          <p:cNvPr id="13" name="矩形 12">
            <a:extLst xmlns:a="http://schemas.openxmlformats.org/drawingml/2006/main">
              <a:ext uri="{FF2B5EF4-FFF2-40B4-BE49-F238E27FC236}">
                <a16:creationId xmlns:a16="http://schemas.microsoft.com/office/drawing/2014/main" id="{E9C64017-1033-4C5E-9C2F-6ACE0E506335}"/>
              </a:ext>
            </a:extLst>
          </p:cNvPr>
          <p:cNvSpPr>
            <a:spLocks xmlns:a="http://schemas.openxmlformats.org/drawingml/2006/main" noGrp="1"/>
          </p:cNvSpPr>
          <p:nvPr/>
        </p:nvSpPr>
        <p:spPr>
          <a:xfrm xmlns:a="http://schemas.openxmlformats.org/drawingml/2006/main">
            <a:off x="7143750" y="1885950"/>
            <a:ext cx="3524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Evidence boundary</a:t>
            </a:r>
          </a:p>
        </p:txBody>
      </p:sp>
      <p:sp>
        <p:nvSpPr>
          <p:cNvPr id="14" name="矩形 13">
            <a:extLst xmlns:a="http://schemas.openxmlformats.org/drawingml/2006/main">
              <a:ext uri="{FF2B5EF4-FFF2-40B4-BE49-F238E27FC236}">
                <a16:creationId xmlns:a16="http://schemas.microsoft.com/office/drawing/2014/main" id="{D5B095CD-5DC3-4341-9E23-99C512DE8F53}"/>
              </a:ext>
            </a:extLst>
          </p:cNvPr>
          <p:cNvSpPr>
            <a:spLocks xmlns:a="http://schemas.openxmlformats.org/drawingml/2006/main" noGrp="1"/>
          </p:cNvSpPr>
          <p:nvPr/>
        </p:nvSpPr>
        <p:spPr>
          <a:xfrm xmlns:a="http://schemas.openxmlformats.org/drawingml/2006/main">
            <a:off x="857250" y="2266950"/>
            <a:ext cx="209550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15" name="矩形 14">
            <a:extLst xmlns:a="http://schemas.openxmlformats.org/drawingml/2006/main">
              <a:ext uri="{FF2B5EF4-FFF2-40B4-BE49-F238E27FC236}">
                <a16:creationId xmlns:a16="http://schemas.microsoft.com/office/drawing/2014/main" id="{3AE4D640-38B5-4469-9424-901CD4624788}"/>
              </a:ext>
            </a:extLst>
          </p:cNvPr>
          <p:cNvSpPr>
            <a:spLocks xmlns:a="http://schemas.openxmlformats.org/drawingml/2006/main" noGrp="1"/>
          </p:cNvSpPr>
          <p:nvPr/>
        </p:nvSpPr>
        <p:spPr>
          <a:xfrm xmlns:a="http://schemas.openxmlformats.org/drawingml/2006/main">
            <a:off x="952500" y="2343150"/>
            <a:ext cx="1905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01C"/>
                </a:solidFill>
                <a:latin typeface="Aptos"/>
                <a:ea typeface="Aptos"/>
                <a:cs typeface="Aptos"/>
              </a:defRPr>
            </a:pPr>
            <a:r>
              <a:rPr sz="1125" b="1">
                <a:solidFill>
                  <a:srgbClr val="17201C"/>
                </a:solidFill>
                <a:latin typeface="Aptos"/>
                <a:ea typeface="Aptos"/>
                <a:cs typeface="Aptos"/>
              </a:rPr>
              <a:t>Architecture</a:t>
            </a:r>
          </a:p>
        </p:txBody>
      </p:sp>
      <p:sp>
        <p:nvSpPr>
          <p:cNvPr id="16" name="矩形 15">
            <a:extLst xmlns:a="http://schemas.openxmlformats.org/drawingml/2006/main">
              <a:ext uri="{FF2B5EF4-FFF2-40B4-BE49-F238E27FC236}">
                <a16:creationId xmlns:a16="http://schemas.microsoft.com/office/drawing/2014/main" id="{C3361C8F-F913-4995-AC7B-91F83AD9E021}"/>
              </a:ext>
            </a:extLst>
          </p:cNvPr>
          <p:cNvSpPr>
            <a:spLocks xmlns:a="http://schemas.openxmlformats.org/drawingml/2006/main" noGrp="1"/>
          </p:cNvSpPr>
          <p:nvPr/>
        </p:nvSpPr>
        <p:spPr>
          <a:xfrm xmlns:a="http://schemas.openxmlformats.org/drawingml/2006/main">
            <a:off x="2952750" y="2266950"/>
            <a:ext cx="409575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17" name="矩形 16">
            <a:extLst xmlns:a="http://schemas.openxmlformats.org/drawingml/2006/main">
              <a:ext uri="{FF2B5EF4-FFF2-40B4-BE49-F238E27FC236}">
                <a16:creationId xmlns:a16="http://schemas.microsoft.com/office/drawing/2014/main" id="{D47E5C3B-0873-4736-B1A4-346392FF162D}"/>
              </a:ext>
            </a:extLst>
          </p:cNvPr>
          <p:cNvSpPr>
            <a:spLocks xmlns:a="http://schemas.openxmlformats.org/drawingml/2006/main" noGrp="1"/>
          </p:cNvSpPr>
          <p:nvPr/>
        </p:nvSpPr>
        <p:spPr>
          <a:xfrm xmlns:a="http://schemas.openxmlformats.org/drawingml/2006/main">
            <a:off x="3048000" y="2343150"/>
            <a:ext cx="3905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Inbound machine 27 → stacker crane 28 → formation equipment 3.</a:t>
            </a:r>
          </a:p>
        </p:txBody>
      </p:sp>
      <p:sp>
        <p:nvSpPr>
          <p:cNvPr id="18" name="矩形 17">
            <a:extLst xmlns:a="http://schemas.openxmlformats.org/drawingml/2006/main">
              <a:ext uri="{FF2B5EF4-FFF2-40B4-BE49-F238E27FC236}">
                <a16:creationId xmlns:a16="http://schemas.microsoft.com/office/drawing/2014/main" id="{A703DDBF-B8E9-47B1-9355-2A5D252DB783}"/>
              </a:ext>
            </a:extLst>
          </p:cNvPr>
          <p:cNvSpPr>
            <a:spLocks xmlns:a="http://schemas.openxmlformats.org/drawingml/2006/main" noGrp="1"/>
          </p:cNvSpPr>
          <p:nvPr/>
        </p:nvSpPr>
        <p:spPr>
          <a:xfrm xmlns:a="http://schemas.openxmlformats.org/drawingml/2006/main">
            <a:off x="7048500" y="2266950"/>
            <a:ext cx="371475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19" name="矩形 18">
            <a:extLst xmlns:a="http://schemas.openxmlformats.org/drawingml/2006/main">
              <a:ext uri="{FF2B5EF4-FFF2-40B4-BE49-F238E27FC236}">
                <a16:creationId xmlns:a16="http://schemas.microsoft.com/office/drawing/2014/main" id="{B18AEFF3-779D-4C80-8B0A-1D7C675BF2F8}"/>
              </a:ext>
            </a:extLst>
          </p:cNvPr>
          <p:cNvSpPr>
            <a:spLocks xmlns:a="http://schemas.openxmlformats.org/drawingml/2006/main" noGrp="1"/>
          </p:cNvSpPr>
          <p:nvPr/>
        </p:nvSpPr>
        <p:spPr>
          <a:xfrm xmlns:a="http://schemas.openxmlformats.org/drawingml/2006/main">
            <a:off x="7143750" y="2343150"/>
            <a:ext cx="3524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Fixed automation; not an AGV deployment.</a:t>
            </a:r>
          </a:p>
        </p:txBody>
      </p:sp>
      <p:sp>
        <p:nvSpPr>
          <p:cNvPr id="20" name="矩形 19">
            <a:extLst xmlns:a="http://schemas.openxmlformats.org/drawingml/2006/main">
              <a:ext uri="{FF2B5EF4-FFF2-40B4-BE49-F238E27FC236}">
                <a16:creationId xmlns:a16="http://schemas.microsoft.com/office/drawing/2014/main" id="{D28D5AA5-E361-4C4D-BFCC-52C0446A2B18}"/>
              </a:ext>
            </a:extLst>
          </p:cNvPr>
          <p:cNvSpPr>
            <a:spLocks xmlns:a="http://schemas.openxmlformats.org/drawingml/2006/main" noGrp="1"/>
          </p:cNvSpPr>
          <p:nvPr/>
        </p:nvSpPr>
        <p:spPr>
          <a:xfrm xmlns:a="http://schemas.openxmlformats.org/drawingml/2006/main">
            <a:off x="857250" y="3009900"/>
            <a:ext cx="209550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21" name="矩形 20">
            <a:extLst xmlns:a="http://schemas.openxmlformats.org/drawingml/2006/main">
              <a:ext uri="{FF2B5EF4-FFF2-40B4-BE49-F238E27FC236}">
                <a16:creationId xmlns:a16="http://schemas.microsoft.com/office/drawing/2014/main" id="{7D7C2C81-CF3A-4ADF-9410-9DC6DE0B8CF2}"/>
              </a:ext>
            </a:extLst>
          </p:cNvPr>
          <p:cNvSpPr>
            <a:spLocks xmlns:a="http://schemas.openxmlformats.org/drawingml/2006/main" noGrp="1"/>
          </p:cNvSpPr>
          <p:nvPr/>
        </p:nvSpPr>
        <p:spPr>
          <a:xfrm xmlns:a="http://schemas.openxmlformats.org/drawingml/2006/main">
            <a:off x="952500" y="3086100"/>
            <a:ext cx="1905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01C"/>
                </a:solidFill>
                <a:latin typeface="Aptos"/>
                <a:ea typeface="Aptos"/>
                <a:cs typeface="Aptos"/>
              </a:defRPr>
            </a:pPr>
            <a:r>
              <a:rPr sz="1125" b="1">
                <a:solidFill>
                  <a:srgbClr val="17201C"/>
                </a:solidFill>
                <a:latin typeface="Aptos"/>
                <a:ea typeface="Aptos"/>
                <a:cs typeface="Aptos"/>
              </a:rPr>
              <a:t>Flow object</a:t>
            </a:r>
          </a:p>
        </p:txBody>
      </p:sp>
      <p:sp>
        <p:nvSpPr>
          <p:cNvPr id="22" name="矩形 21">
            <a:extLst xmlns:a="http://schemas.openxmlformats.org/drawingml/2006/main">
              <a:ext uri="{FF2B5EF4-FFF2-40B4-BE49-F238E27FC236}">
                <a16:creationId xmlns:a16="http://schemas.microsoft.com/office/drawing/2014/main" id="{14FEBE67-61B3-4A42-BC56-A888C47E78D2}"/>
              </a:ext>
            </a:extLst>
          </p:cNvPr>
          <p:cNvSpPr>
            <a:spLocks xmlns:a="http://schemas.openxmlformats.org/drawingml/2006/main" noGrp="1"/>
          </p:cNvSpPr>
          <p:nvPr/>
        </p:nvSpPr>
        <p:spPr>
          <a:xfrm xmlns:a="http://schemas.openxmlformats.org/drawingml/2006/main">
            <a:off x="2952750" y="3009900"/>
            <a:ext cx="409575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23" name="矩形 22">
            <a:extLst xmlns:a="http://schemas.openxmlformats.org/drawingml/2006/main">
              <a:ext uri="{FF2B5EF4-FFF2-40B4-BE49-F238E27FC236}">
                <a16:creationId xmlns:a16="http://schemas.microsoft.com/office/drawing/2014/main" id="{97B7A232-009A-4411-A6AF-C34391D84245}"/>
              </a:ext>
            </a:extLst>
          </p:cNvPr>
          <p:cNvSpPr>
            <a:spLocks xmlns:a="http://schemas.openxmlformats.org/drawingml/2006/main" noGrp="1"/>
          </p:cNvSpPr>
          <p:nvPr/>
        </p:nvSpPr>
        <p:spPr>
          <a:xfrm xmlns:a="http://schemas.openxmlformats.org/drawingml/2006/main">
            <a:off x="3048000" y="3086100"/>
            <a:ext cx="3905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A carrier/tray holds multiple cells and is transferred into formation.</a:t>
            </a:r>
          </a:p>
        </p:txBody>
      </p:sp>
      <p:sp>
        <p:nvSpPr>
          <p:cNvPr id="24" name="矩形 23">
            <a:extLst xmlns:a="http://schemas.openxmlformats.org/drawingml/2006/main">
              <a:ext uri="{FF2B5EF4-FFF2-40B4-BE49-F238E27FC236}">
                <a16:creationId xmlns:a16="http://schemas.microsoft.com/office/drawing/2014/main" id="{FC0DF377-59F5-402E-B3CC-860087AED504}"/>
              </a:ext>
            </a:extLst>
          </p:cNvPr>
          <p:cNvSpPr>
            <a:spLocks xmlns:a="http://schemas.openxmlformats.org/drawingml/2006/main" noGrp="1"/>
          </p:cNvSpPr>
          <p:nvPr/>
        </p:nvSpPr>
        <p:spPr>
          <a:xfrm xmlns:a="http://schemas.openxmlformats.org/drawingml/2006/main">
            <a:off x="7048500" y="3009900"/>
            <a:ext cx="371475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25" name="矩形 24">
            <a:extLst xmlns:a="http://schemas.openxmlformats.org/drawingml/2006/main">
              <a:ext uri="{FF2B5EF4-FFF2-40B4-BE49-F238E27FC236}">
                <a16:creationId xmlns:a16="http://schemas.microsoft.com/office/drawing/2014/main" id="{C3F9C5D7-21D8-45D8-965F-20B11A127692}"/>
              </a:ext>
            </a:extLst>
          </p:cNvPr>
          <p:cNvSpPr>
            <a:spLocks xmlns:a="http://schemas.openxmlformats.org/drawingml/2006/main" noGrp="1"/>
          </p:cNvSpPr>
          <p:nvPr/>
        </p:nvSpPr>
        <p:spPr>
          <a:xfrm xmlns:a="http://schemas.openxmlformats.org/drawingml/2006/main">
            <a:off x="7143750" y="3086100"/>
            <a:ext cx="3524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Pickup port, receiving port, and final contact remain unknown.</a:t>
            </a:r>
          </a:p>
        </p:txBody>
      </p:sp>
      <p:sp>
        <p:nvSpPr>
          <p:cNvPr id="26" name="矩形 25">
            <a:extLst xmlns:a="http://schemas.openxmlformats.org/drawingml/2006/main">
              <a:ext uri="{FF2B5EF4-FFF2-40B4-BE49-F238E27FC236}">
                <a16:creationId xmlns:a16="http://schemas.microsoft.com/office/drawing/2014/main" id="{F2CE93A6-F89F-4880-816D-E2F157F13E21}"/>
              </a:ext>
            </a:extLst>
          </p:cNvPr>
          <p:cNvSpPr>
            <a:spLocks xmlns:a="http://schemas.openxmlformats.org/drawingml/2006/main" noGrp="1"/>
          </p:cNvSpPr>
          <p:nvPr/>
        </p:nvSpPr>
        <p:spPr>
          <a:xfrm xmlns:a="http://schemas.openxmlformats.org/drawingml/2006/main">
            <a:off x="857250" y="3752850"/>
            <a:ext cx="209550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27" name="矩形 26">
            <a:extLst xmlns:a="http://schemas.openxmlformats.org/drawingml/2006/main">
              <a:ext uri="{FF2B5EF4-FFF2-40B4-BE49-F238E27FC236}">
                <a16:creationId xmlns:a16="http://schemas.microsoft.com/office/drawing/2014/main" id="{784E4208-32C4-4180-A659-EC747DB7E493}"/>
              </a:ext>
            </a:extLst>
          </p:cNvPr>
          <p:cNvSpPr>
            <a:spLocks xmlns:a="http://schemas.openxmlformats.org/drawingml/2006/main" noGrp="1"/>
          </p:cNvSpPr>
          <p:nvPr/>
        </p:nvSpPr>
        <p:spPr>
          <a:xfrm xmlns:a="http://schemas.openxmlformats.org/drawingml/2006/main">
            <a:off x="952500" y="3829050"/>
            <a:ext cx="1905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01C"/>
                </a:solidFill>
                <a:latin typeface="Aptos"/>
                <a:ea typeface="Aptos"/>
                <a:cs typeface="Aptos"/>
              </a:defRPr>
            </a:pPr>
            <a:r>
              <a:rPr sz="1125" b="1">
                <a:solidFill>
                  <a:srgbClr val="17201C"/>
                </a:solidFill>
                <a:latin typeface="Aptos"/>
                <a:ea typeface="Aptos"/>
                <a:cs typeface="Aptos"/>
              </a:rPr>
              <a:t>Responsibility audit</a:t>
            </a:r>
          </a:p>
        </p:txBody>
      </p:sp>
      <p:sp>
        <p:nvSpPr>
          <p:cNvPr id="28" name="矩形 27">
            <a:extLst xmlns:a="http://schemas.openxmlformats.org/drawingml/2006/main">
              <a:ext uri="{FF2B5EF4-FFF2-40B4-BE49-F238E27FC236}">
                <a16:creationId xmlns:a16="http://schemas.microsoft.com/office/drawing/2014/main" id="{F9AAEFEF-9483-4C92-8632-A4C69B27964F}"/>
              </a:ext>
            </a:extLst>
          </p:cNvPr>
          <p:cNvSpPr>
            <a:spLocks xmlns:a="http://schemas.openxmlformats.org/drawingml/2006/main" noGrp="1"/>
          </p:cNvSpPr>
          <p:nvPr/>
        </p:nvSpPr>
        <p:spPr>
          <a:xfrm xmlns:a="http://schemas.openxmlformats.org/drawingml/2006/main">
            <a:off x="2952750" y="3752850"/>
            <a:ext cx="409575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29" name="矩形 28">
            <a:extLst xmlns:a="http://schemas.openxmlformats.org/drawingml/2006/main">
              <a:ext uri="{FF2B5EF4-FFF2-40B4-BE49-F238E27FC236}">
                <a16:creationId xmlns:a16="http://schemas.microsoft.com/office/drawing/2014/main" id="{B3C05742-D5E5-499D-9947-93506835180D}"/>
              </a:ext>
            </a:extLst>
          </p:cNvPr>
          <p:cNvSpPr>
            <a:spLocks xmlns:a="http://schemas.openxmlformats.org/drawingml/2006/main" noGrp="1"/>
          </p:cNvSpPr>
          <p:nvPr/>
        </p:nvSpPr>
        <p:spPr>
          <a:xfrm xmlns:a="http://schemas.openxmlformats.org/drawingml/2006/main">
            <a:off x="3048000" y="3829050"/>
            <a:ext cx="3905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Tested position, locking, contact, identity, and readiness.</a:t>
            </a:r>
          </a:p>
        </p:txBody>
      </p:sp>
      <p:sp>
        <p:nvSpPr>
          <p:cNvPr id="30" name="矩形 29">
            <a:extLst xmlns:a="http://schemas.openxmlformats.org/drawingml/2006/main">
              <a:ext uri="{FF2B5EF4-FFF2-40B4-BE49-F238E27FC236}">
                <a16:creationId xmlns:a16="http://schemas.microsoft.com/office/drawing/2014/main" id="{1C0834C7-2039-472C-BEC0-87466C2E11C9}"/>
              </a:ext>
            </a:extLst>
          </p:cNvPr>
          <p:cNvSpPr>
            <a:spLocks xmlns:a="http://schemas.openxmlformats.org/drawingml/2006/main" noGrp="1"/>
          </p:cNvSpPr>
          <p:nvPr/>
        </p:nvSpPr>
        <p:spPr>
          <a:xfrm xmlns:a="http://schemas.openxmlformats.org/drawingml/2006/main">
            <a:off x="7048500" y="3752850"/>
            <a:ext cx="3714750" cy="742950"/>
          </a:xfrm>
          <a:prstGeom xmlns:a="http://schemas.openxmlformats.org/drawingml/2006/main" prst="rect">
            <a:avLst/>
          </a:prstGeom>
          <a:solidFill xmlns:a="http://schemas.openxmlformats.org/drawingml/2006/main">
            <a:srgbClr val="FBF8F1"/>
          </a:solidFill>
          <a:ln xmlns:a="http://schemas.openxmlformats.org/drawingml/2006/main" w="7620">
            <a:solidFill>
              <a:srgbClr val="D8D1C3"/>
            </a:solidFill>
            <a:prstDash val="solid"/>
          </a:ln>
        </p:spPr>
      </p:sp>
      <p:sp>
        <p:nvSpPr>
          <p:cNvPr id="31" name="矩形 30">
            <a:extLst xmlns:a="http://schemas.openxmlformats.org/drawingml/2006/main">
              <a:ext uri="{FF2B5EF4-FFF2-40B4-BE49-F238E27FC236}">
                <a16:creationId xmlns:a16="http://schemas.microsoft.com/office/drawing/2014/main" id="{EAC9261E-2D22-4B2A-B760-D3331EA7CAD3}"/>
              </a:ext>
            </a:extLst>
          </p:cNvPr>
          <p:cNvSpPr>
            <a:spLocks xmlns:a="http://schemas.openxmlformats.org/drawingml/2006/main" noGrp="1"/>
          </p:cNvSpPr>
          <p:nvPr/>
        </p:nvSpPr>
        <p:spPr>
          <a:xfrm xmlns:a="http://schemas.openxmlformats.org/drawingml/2006/main">
            <a:off x="7143750" y="3829050"/>
            <a:ext cx="3524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No same-case evidence that they change the stacker-crane task.</a:t>
            </a:r>
          </a:p>
        </p:txBody>
      </p:sp>
      <p:sp>
        <p:nvSpPr>
          <p:cNvPr id="32" name="矩形 31">
            <a:extLst xmlns:a="http://schemas.openxmlformats.org/drawingml/2006/main">
              <a:ext uri="{FF2B5EF4-FFF2-40B4-BE49-F238E27FC236}">
                <a16:creationId xmlns:a16="http://schemas.microsoft.com/office/drawing/2014/main" id="{7E6BA80B-C869-40BB-B3C0-C58BEA2EDC0E}"/>
              </a:ext>
            </a:extLst>
          </p:cNvPr>
          <p:cNvSpPr>
            <a:spLocks xmlns:a="http://schemas.openxmlformats.org/drawingml/2006/main" noGrp="1"/>
          </p:cNvSpPr>
          <p:nvPr/>
        </p:nvSpPr>
        <p:spPr>
          <a:xfrm xmlns:a="http://schemas.openxmlformats.org/drawingml/2006/main">
            <a:off x="857250" y="4495800"/>
            <a:ext cx="209550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33" name="矩形 32">
            <a:extLst xmlns:a="http://schemas.openxmlformats.org/drawingml/2006/main">
              <a:ext uri="{FF2B5EF4-FFF2-40B4-BE49-F238E27FC236}">
                <a16:creationId xmlns:a16="http://schemas.microsoft.com/office/drawing/2014/main" id="{C7BFE6E3-3186-4246-94E8-439B9BA71C99}"/>
              </a:ext>
            </a:extLst>
          </p:cNvPr>
          <p:cNvSpPr>
            <a:spLocks xmlns:a="http://schemas.openxmlformats.org/drawingml/2006/main" noGrp="1"/>
          </p:cNvSpPr>
          <p:nvPr/>
        </p:nvSpPr>
        <p:spPr>
          <a:xfrm xmlns:a="http://schemas.openxmlformats.org/drawingml/2006/main">
            <a:off x="952500" y="4572000"/>
            <a:ext cx="1905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7201C"/>
                </a:solidFill>
                <a:latin typeface="Aptos"/>
                <a:ea typeface="Aptos"/>
                <a:cs typeface="Aptos"/>
              </a:defRPr>
            </a:pPr>
            <a:r>
              <a:rPr sz="1125" b="1">
                <a:solidFill>
                  <a:srgbClr val="17201C"/>
                </a:solidFill>
                <a:latin typeface="Aptos"/>
                <a:ea typeface="Aptos"/>
                <a:cs typeface="Aptos"/>
              </a:rPr>
              <a:t>Week 05 decision</a:t>
            </a:r>
          </a:p>
        </p:txBody>
      </p:sp>
      <p:sp>
        <p:nvSpPr>
          <p:cNvPr id="34" name="矩形 33">
            <a:extLst xmlns:a="http://schemas.openxmlformats.org/drawingml/2006/main">
              <a:ext uri="{FF2B5EF4-FFF2-40B4-BE49-F238E27FC236}">
                <a16:creationId xmlns:a16="http://schemas.microsoft.com/office/drawing/2014/main" id="{606AF5A6-A76A-4917-8852-E524D6C1D7C3}"/>
              </a:ext>
            </a:extLst>
          </p:cNvPr>
          <p:cNvSpPr>
            <a:spLocks xmlns:a="http://schemas.openxmlformats.org/drawingml/2006/main" noGrp="1"/>
          </p:cNvSpPr>
          <p:nvPr/>
        </p:nvSpPr>
        <p:spPr>
          <a:xfrm xmlns:a="http://schemas.openxmlformats.org/drawingml/2006/main">
            <a:off x="2952750" y="4495800"/>
            <a:ext cx="409575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35" name="矩形 34">
            <a:extLst xmlns:a="http://schemas.openxmlformats.org/drawingml/2006/main">
              <a:ext uri="{FF2B5EF4-FFF2-40B4-BE49-F238E27FC236}">
                <a16:creationId xmlns:a16="http://schemas.microsoft.com/office/drawing/2014/main" id="{61984449-24E8-4D3D-AE06-5519B7F3C218}"/>
              </a:ext>
            </a:extLst>
          </p:cNvPr>
          <p:cNvSpPr>
            <a:spLocks xmlns:a="http://schemas.openxmlformats.org/drawingml/2006/main" noGrp="1"/>
          </p:cNvSpPr>
          <p:nvPr/>
        </p:nvSpPr>
        <p:spPr>
          <a:xfrm xmlns:a="http://schemas.openxmlformats.org/drawingml/2006/main">
            <a:off x="3048000" y="4572000"/>
            <a:ext cx="3905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Retain B2 as a fixed-automation baseline and counterexample.</a:t>
            </a:r>
          </a:p>
        </p:txBody>
      </p:sp>
      <p:sp>
        <p:nvSpPr>
          <p:cNvPr id="36" name="矩形 35">
            <a:extLst xmlns:a="http://schemas.openxmlformats.org/drawingml/2006/main">
              <a:ext uri="{FF2B5EF4-FFF2-40B4-BE49-F238E27FC236}">
                <a16:creationId xmlns:a16="http://schemas.microsoft.com/office/drawing/2014/main" id="{9548144B-9C7C-497E-9995-DA41D9E4E98E}"/>
              </a:ext>
            </a:extLst>
          </p:cNvPr>
          <p:cNvSpPr>
            <a:spLocks xmlns:a="http://schemas.openxmlformats.org/drawingml/2006/main" noGrp="1"/>
          </p:cNvSpPr>
          <p:nvPr/>
        </p:nvSpPr>
        <p:spPr>
          <a:xfrm xmlns:a="http://schemas.openxmlformats.org/drawingml/2006/main">
            <a:off x="7048500" y="4495800"/>
            <a:ext cx="3714750"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D8D1C3"/>
            </a:solidFill>
            <a:prstDash val="solid"/>
          </a:ln>
        </p:spPr>
      </p:sp>
      <p:sp>
        <p:nvSpPr>
          <p:cNvPr id="37" name="矩形 36">
            <a:extLst xmlns:a="http://schemas.openxmlformats.org/drawingml/2006/main">
              <a:ext uri="{FF2B5EF4-FFF2-40B4-BE49-F238E27FC236}">
                <a16:creationId xmlns:a16="http://schemas.microsoft.com/office/drawing/2014/main" id="{D30D8BD5-FD37-41BE-8495-D199CE681CAC}"/>
              </a:ext>
            </a:extLst>
          </p:cNvPr>
          <p:cNvSpPr>
            <a:spLocks xmlns:a="http://schemas.openxmlformats.org/drawingml/2006/main" noGrp="1"/>
          </p:cNvSpPr>
          <p:nvPr/>
        </p:nvSpPr>
        <p:spPr>
          <a:xfrm xmlns:a="http://schemas.openxmlformats.org/drawingml/2006/main">
            <a:off x="7143750" y="4572000"/>
            <a:ext cx="35242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Exit the thesis-candidate path; return to the robotics map.</a:t>
            </a:r>
          </a:p>
        </p:txBody>
      </p:sp>
    </p:spTree>
    <p:extLst>
      <p:ext uri="{BB962C8B-B14F-4D97-AF65-F5344CB8AC3E}">
        <p14:creationId xmlns:p14="http://schemas.microsoft.com/office/powerpoint/2010/main" val="67341193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0" name="矩形 19">
            <a:extLst xmlns:a="http://schemas.openxmlformats.org/drawingml/2006/main">
              <a:ext uri="{FF2B5EF4-FFF2-40B4-BE49-F238E27FC236}">
                <a16:creationId xmlns:a16="http://schemas.microsoft.com/office/drawing/2014/main" id="{87943506-0EEF-48F6-A2C3-18CDF84DAC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kicker-7-marker">
            <a:extLst xmlns:a="http://schemas.openxmlformats.org/drawingml/2006/main">
              <a:ext uri="{FF2B5EF4-FFF2-40B4-BE49-F238E27FC236}">
                <a16:creationId xmlns:a16="http://schemas.microsoft.com/office/drawing/2014/main" id="{174E8124-537B-4D3F-9646-C59C9C60A715}"/>
              </a:ext>
            </a:extLst>
          </p:cNvPr>
          <p:cNvSpPr>
            <a:spLocks xmlns:a="http://schemas.openxmlformats.org/drawingml/2006/main" noGrp="1"/>
          </p:cNvSpPr>
          <p:nvPr/>
        </p:nvSpPr>
        <p:spPr>
          <a:xfrm xmlns:a="http://schemas.openxmlformats.org/drawingml/2006/main">
            <a:off x="514350" y="400050"/>
            <a:ext cx="95250" cy="95250"/>
          </a:xfrm>
          <a:prstGeom xmlns:a="http://schemas.openxmlformats.org/drawingml/2006/main" prst="ellipse">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3" name="kicker-7-label">
            <a:extLst xmlns:a="http://schemas.openxmlformats.org/drawingml/2006/main">
              <a:ext uri="{FF2B5EF4-FFF2-40B4-BE49-F238E27FC236}">
                <a16:creationId xmlns:a16="http://schemas.microsoft.com/office/drawing/2014/main" id="{9D3D9169-9990-413F-9B21-A390A784A3B6}"/>
              </a:ext>
            </a:extLst>
          </p:cNvPr>
          <p:cNvSpPr>
            <a:spLocks xmlns:a="http://schemas.openxmlformats.org/drawingml/2006/main" noGrp="1"/>
          </p:cNvSpPr>
          <p:nvPr/>
        </p:nvSpPr>
        <p:spPr>
          <a:xfrm xmlns:a="http://schemas.openxmlformats.org/drawingml/2006/main">
            <a:off x="704850" y="3238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38" b="1">
                <a:solidFill>
                  <a:srgbClr val="315C49"/>
                </a:solidFill>
                <a:latin typeface="Aptos"/>
                <a:ea typeface="Aptos"/>
                <a:cs typeface="Aptos"/>
              </a:defRPr>
            </a:pPr>
            <a:r>
              <a:rPr sz="938" b="1">
                <a:solidFill>
                  <a:srgbClr val="315C49"/>
                </a:solidFill>
                <a:latin typeface="Aptos"/>
                <a:ea typeface="Aptos"/>
                <a:cs typeface="Aptos"/>
              </a:rPr>
              <a:t>THE PROBLEM</a:t>
            </a:r>
          </a:p>
        </p:txBody>
      </p:sp>
      <p:sp>
        <p:nvSpPr>
          <p:cNvPr id="4" name="矩形 3">
            <a:extLst xmlns:a="http://schemas.openxmlformats.org/drawingml/2006/main">
              <a:ext uri="{FF2B5EF4-FFF2-40B4-BE49-F238E27FC236}">
                <a16:creationId xmlns:a16="http://schemas.microsoft.com/office/drawing/2014/main" id="{232BB5CE-8DFE-4F60-AA07-EF3734A22BD8}"/>
              </a:ext>
            </a:extLst>
          </p:cNvPr>
          <p:cNvSpPr>
            <a:spLocks xmlns:a="http://schemas.openxmlformats.org/drawingml/2006/main" noGrp="1"/>
          </p:cNvSpPr>
          <p:nvPr/>
        </p:nvSpPr>
        <p:spPr>
          <a:xfrm xmlns:a="http://schemas.openxmlformats.org/drawingml/2006/main">
            <a:off x="514350" y="742950"/>
            <a:ext cx="9906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The missing link is a battery requirement that changes a robot task.</a:t>
            </a:r>
          </a:p>
        </p:txBody>
      </p:sp>
      <p:sp>
        <p:nvSpPr>
          <p:cNvPr id="5" name="矩形 4">
            <a:extLst xmlns:a="http://schemas.openxmlformats.org/drawingml/2006/main">
              <a:ext uri="{FF2B5EF4-FFF2-40B4-BE49-F238E27FC236}">
                <a16:creationId xmlns:a16="http://schemas.microsoft.com/office/drawing/2014/main" id="{C7F2B88B-CC6D-4BC4-9C65-17CE58C60BB8}"/>
              </a:ext>
            </a:extLst>
          </p:cNvPr>
          <p:cNvSpPr>
            <a:spLocks xmlns:a="http://schemas.openxmlformats.org/drawingml/2006/main" noGrp="1"/>
          </p:cNvSpPr>
          <p:nvPr/>
        </p:nvSpPr>
        <p:spPr>
          <a:xfrm xmlns:a="http://schemas.openxmlformats.org/drawingml/2006/main">
            <a:off x="514350" y="6153150"/>
            <a:ext cx="9620250" cy="11430"/>
          </a:xfrm>
          <a:prstGeom xmlns:a="http://schemas.openxmlformats.org/drawingml/2006/main" prst="rect">
            <a:avLst/>
          </a:prstGeom>
          <a:solidFill xmlns:a="http://schemas.openxmlformats.org/drawingml/2006/main">
            <a:srgbClr val="D8D1C3"/>
          </a:solidFill>
          <a:ln xmlns:a="http://schemas.openxmlformats.org/drawingml/2006/main" w="0">
            <a:solidFill>
              <a:srgbClr val="000000">
                <a:alpha val="0"/>
              </a:srgbClr>
            </a:solidFill>
            <a:prstDash val="solid"/>
          </a:ln>
        </p:spPr>
      </p:sp>
      <p:sp>
        <p:nvSpPr>
          <p:cNvPr id="6" name="矩形 5">
            <a:extLst xmlns:a="http://schemas.openxmlformats.org/drawingml/2006/main">
              <a:ext uri="{FF2B5EF4-FFF2-40B4-BE49-F238E27FC236}">
                <a16:creationId xmlns:a16="http://schemas.microsoft.com/office/drawing/2014/main" id="{5F27EC39-8A3A-4BD2-96FE-1B8ED7C1635A}"/>
              </a:ext>
            </a:extLst>
          </p:cNvPr>
          <p:cNvSpPr>
            <a:spLocks xmlns:a="http://schemas.openxmlformats.org/drawingml/2006/main" noGrp="1"/>
          </p:cNvSpPr>
          <p:nvPr/>
        </p:nvSpPr>
        <p:spPr>
          <a:xfrm xmlns:a="http://schemas.openxmlformats.org/drawingml/2006/main">
            <a:off x="514350" y="6257925"/>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13" b="0">
                <a:solidFill>
                  <a:srgbClr val="5E625D"/>
                </a:solidFill>
                <a:latin typeface="Aptos"/>
                <a:ea typeface="Aptos"/>
                <a:cs typeface="Aptos"/>
              </a:defRPr>
            </a:pPr>
            <a:r>
              <a:rPr sz="713" b="0">
                <a:solidFill>
                  <a:srgbClr val="5E625D"/>
                </a:solidFill>
                <a:latin typeface="Aptos"/>
                <a:ea typeface="Aptos"/>
                <a:cs typeface="Aptos"/>
              </a:rPr>
              <a:t>Direction criterion: Thomas original thesis brief + Week 05 robotics-relevance gate</a:t>
            </a:r>
          </a:p>
        </p:txBody>
      </p:sp>
      <p:sp>
        <p:nvSpPr>
          <p:cNvPr id="7" name="矩形 6">
            <a:extLst xmlns:a="http://schemas.openxmlformats.org/drawingml/2006/main">
              <a:ext uri="{FF2B5EF4-FFF2-40B4-BE49-F238E27FC236}">
                <a16:creationId xmlns:a16="http://schemas.microsoft.com/office/drawing/2014/main" id="{8EEACF1E-03D7-4021-9655-DBAE7D071B85}"/>
              </a:ext>
            </a:extLst>
          </p:cNvPr>
          <p:cNvSpPr>
            <a:spLocks xmlns:a="http://schemas.openxmlformats.org/drawingml/2006/main" noGrp="1"/>
          </p:cNvSpPr>
          <p:nvPr/>
        </p:nvSpPr>
        <p:spPr>
          <a:xfrm xmlns:a="http://schemas.openxmlformats.org/drawingml/2006/main">
            <a:off x="11049000" y="62293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315C49"/>
                </a:solidFill>
                <a:latin typeface="Aptos"/>
                <a:ea typeface="Aptos"/>
                <a:cs typeface="Aptos"/>
              </a:defRPr>
            </a:pPr>
            <a:r>
              <a:rPr sz="900" b="1">
                <a:solidFill>
                  <a:srgbClr val="315C49"/>
                </a:solidFill>
                <a:latin typeface="Aptos"/>
                <a:ea typeface="Aptos"/>
                <a:cs typeface="Aptos"/>
              </a:rPr>
              <a:t>04</a:t>
            </a:r>
          </a:p>
        </p:txBody>
      </p:sp>
      <p:sp>
        <p:nvSpPr>
          <p:cNvPr id="8" name="矩形 7">
            <a:extLst xmlns:a="http://schemas.openxmlformats.org/drawingml/2006/main">
              <a:ext uri="{FF2B5EF4-FFF2-40B4-BE49-F238E27FC236}">
                <a16:creationId xmlns:a16="http://schemas.microsoft.com/office/drawing/2014/main" id="{5505EBB6-6251-4BAB-B7CE-71A323DB12A8}"/>
              </a:ext>
            </a:extLst>
          </p:cNvPr>
          <p:cNvSpPr>
            <a:spLocks xmlns:a="http://schemas.openxmlformats.org/drawingml/2006/main" noGrp="1"/>
          </p:cNvSpPr>
          <p:nvPr/>
        </p:nvSpPr>
        <p:spPr>
          <a:xfrm xmlns:a="http://schemas.openxmlformats.org/drawingml/2006/main">
            <a:off x="857250" y="2095500"/>
            <a:ext cx="3048000" cy="2476500"/>
          </a:xfrm>
          <a:prstGeom xmlns:a="http://schemas.openxmlformats.org/drawingml/2006/main" prst="rect">
            <a:avLst/>
          </a:prstGeom>
          <a:solidFill xmlns:a="http://schemas.openxmlformats.org/drawingml/2006/main">
            <a:srgbClr val="DDE8DF"/>
          </a:solidFill>
          <a:ln xmlns:a="http://schemas.openxmlformats.org/drawingml/2006/main" w="9525">
            <a:solidFill>
              <a:srgbClr val="D8D1C3"/>
            </a:solidFill>
            <a:prstDash val="solid"/>
          </a:ln>
        </p:spPr>
      </p:sp>
      <p:sp>
        <p:nvSpPr>
          <p:cNvPr id="9" name="矩形 8">
            <a:extLst xmlns:a="http://schemas.openxmlformats.org/drawingml/2006/main">
              <a:ext uri="{FF2B5EF4-FFF2-40B4-BE49-F238E27FC236}">
                <a16:creationId xmlns:a16="http://schemas.microsoft.com/office/drawing/2014/main" id="{AD564F46-3738-4009-967F-DC6649B1A19C}"/>
              </a:ext>
            </a:extLst>
          </p:cNvPr>
          <p:cNvSpPr>
            <a:spLocks xmlns:a="http://schemas.openxmlformats.org/drawingml/2006/main" noGrp="1"/>
          </p:cNvSpPr>
          <p:nvPr/>
        </p:nvSpPr>
        <p:spPr>
          <a:xfrm xmlns:a="http://schemas.openxmlformats.org/drawingml/2006/main">
            <a:off x="857250" y="2095500"/>
            <a:ext cx="3048000" cy="66675"/>
          </a:xfrm>
          <a:prstGeom xmlns:a="http://schemas.openxmlformats.org/drawingml/2006/main" prst="rect">
            <a:avLst/>
          </a:prstGeom>
          <a:solidFill xmlns:a="http://schemas.openxmlformats.org/drawingml/2006/main">
            <a:srgbClr val="315C49"/>
          </a:solidFill>
          <a:ln xmlns:a="http://schemas.openxmlformats.org/drawingml/2006/main" w="0">
            <a:solidFill>
              <a:srgbClr val="000000">
                <a:alpha val="0"/>
              </a:srgbClr>
            </a:solidFill>
            <a:prstDash val="solid"/>
          </a:ln>
        </p:spPr>
      </p:sp>
      <p:sp>
        <p:nvSpPr>
          <p:cNvPr id="10" name="矩形 9">
            <a:extLst xmlns:a="http://schemas.openxmlformats.org/drawingml/2006/main">
              <a:ext uri="{FF2B5EF4-FFF2-40B4-BE49-F238E27FC236}">
                <a16:creationId xmlns:a16="http://schemas.microsoft.com/office/drawing/2014/main" id="{B175F7B6-1998-44DA-A8AB-B1998BC03ACB}"/>
              </a:ext>
            </a:extLst>
          </p:cNvPr>
          <p:cNvSpPr>
            <a:spLocks xmlns:a="http://schemas.openxmlformats.org/drawingml/2006/main" noGrp="1"/>
          </p:cNvSpPr>
          <p:nvPr/>
        </p:nvSpPr>
        <p:spPr>
          <a:xfrm xmlns:a="http://schemas.openxmlformats.org/drawingml/2006/main">
            <a:off x="1047750" y="2333625"/>
            <a:ext cx="2667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Direct battery evidence</a:t>
            </a:r>
          </a:p>
        </p:txBody>
      </p:sp>
      <p:sp>
        <p:nvSpPr>
          <p:cNvPr id="11" name="矩形 10">
            <a:extLst xmlns:a="http://schemas.openxmlformats.org/drawingml/2006/main">
              <a:ext uri="{FF2B5EF4-FFF2-40B4-BE49-F238E27FC236}">
                <a16:creationId xmlns:a16="http://schemas.microsoft.com/office/drawing/2014/main" id="{6A8B5354-9BE4-4BD4-BA1F-370550FCADEE}"/>
              </a:ext>
            </a:extLst>
          </p:cNvPr>
          <p:cNvSpPr>
            <a:spLocks xmlns:a="http://schemas.openxmlformats.org/drawingml/2006/main" noGrp="1"/>
          </p:cNvSpPr>
          <p:nvPr/>
        </p:nvSpPr>
        <p:spPr>
          <a:xfrm xmlns:a="http://schemas.openxmlformats.org/drawingml/2006/main">
            <a:off x="1047750" y="2762250"/>
            <a:ext cx="2667000" cy="1638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YES</a:t>
            </a:r>
          </a:p>
          <a:p xmlns:a="http://schemas.openxmlformats.org/drawingml/2006/main">
            <a:r>
              <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The architecture belongs to cell formation and moves a battery carrier.</a:t>
            </a:r>
          </a:p>
        </p:txBody>
      </p:sp>
      <p:sp>
        <p:nvSpPr>
          <p:cNvPr id="12" name="矩形 11">
            <a:extLst xmlns:a="http://schemas.openxmlformats.org/drawingml/2006/main">
              <a:ext uri="{FF2B5EF4-FFF2-40B4-BE49-F238E27FC236}">
                <a16:creationId xmlns:a16="http://schemas.microsoft.com/office/drawing/2014/main" id="{FC8305F1-E5AF-4894-8104-C82B886874BA}"/>
              </a:ext>
            </a:extLst>
          </p:cNvPr>
          <p:cNvSpPr>
            <a:spLocks xmlns:a="http://schemas.openxmlformats.org/drawingml/2006/main" noGrp="1"/>
          </p:cNvSpPr>
          <p:nvPr/>
        </p:nvSpPr>
        <p:spPr>
          <a:xfrm xmlns:a="http://schemas.openxmlformats.org/drawingml/2006/main">
            <a:off x="4572000" y="2095500"/>
            <a:ext cx="3048000" cy="2476500"/>
          </a:xfrm>
          <a:prstGeom xmlns:a="http://schemas.openxmlformats.org/drawingml/2006/main" prst="rect">
            <a:avLst/>
          </a:prstGeom>
          <a:solidFill xmlns:a="http://schemas.openxmlformats.org/drawingml/2006/main">
            <a:srgbClr val="F1DDCF"/>
          </a:solidFill>
          <a:ln xmlns:a="http://schemas.openxmlformats.org/drawingml/2006/main" w="9525">
            <a:solidFill>
              <a:srgbClr val="D8D1C3"/>
            </a:solidFill>
            <a:prstDash val="solid"/>
          </a:ln>
        </p:spPr>
      </p:sp>
      <p:sp>
        <p:nvSpPr>
          <p:cNvPr id="13" name="矩形 12">
            <a:extLst xmlns:a="http://schemas.openxmlformats.org/drawingml/2006/main">
              <a:ext uri="{FF2B5EF4-FFF2-40B4-BE49-F238E27FC236}">
                <a16:creationId xmlns:a16="http://schemas.microsoft.com/office/drawing/2014/main" id="{2A410DF0-97B1-4239-846D-7A3C696A6B90}"/>
              </a:ext>
            </a:extLst>
          </p:cNvPr>
          <p:cNvSpPr>
            <a:spLocks xmlns:a="http://schemas.openxmlformats.org/drawingml/2006/main" noGrp="1"/>
          </p:cNvSpPr>
          <p:nvPr/>
        </p:nvSpPr>
        <p:spPr>
          <a:xfrm xmlns:a="http://schemas.openxmlformats.org/drawingml/2006/main">
            <a:off x="4572000" y="2095500"/>
            <a:ext cx="3048000" cy="66675"/>
          </a:xfrm>
          <a:prstGeom xmlns:a="http://schemas.openxmlformats.org/drawingml/2006/main" prst="rect">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14" name="矩形 13">
            <a:extLst xmlns:a="http://schemas.openxmlformats.org/drawingml/2006/main">
              <a:ext uri="{FF2B5EF4-FFF2-40B4-BE49-F238E27FC236}">
                <a16:creationId xmlns:a16="http://schemas.microsoft.com/office/drawing/2014/main" id="{C10C62A9-C1A2-4BED-A35B-7EC1CCD99125}"/>
              </a:ext>
            </a:extLst>
          </p:cNvPr>
          <p:cNvSpPr>
            <a:spLocks xmlns:a="http://schemas.openxmlformats.org/drawingml/2006/main" noGrp="1"/>
          </p:cNvSpPr>
          <p:nvPr/>
        </p:nvSpPr>
        <p:spPr>
          <a:xfrm xmlns:a="http://schemas.openxmlformats.org/drawingml/2006/main">
            <a:off x="4762500" y="2333625"/>
            <a:ext cx="2667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Battery effect on robot task</a:t>
            </a:r>
          </a:p>
        </p:txBody>
      </p:sp>
      <p:sp>
        <p:nvSpPr>
          <p:cNvPr id="15" name="矩形 14">
            <a:extLst xmlns:a="http://schemas.openxmlformats.org/drawingml/2006/main">
              <a:ext uri="{FF2B5EF4-FFF2-40B4-BE49-F238E27FC236}">
                <a16:creationId xmlns:a16="http://schemas.microsoft.com/office/drawing/2014/main" id="{F3D0A2A5-D171-40F6-A2C6-F369E00E3DEF}"/>
              </a:ext>
            </a:extLst>
          </p:cNvPr>
          <p:cNvSpPr>
            <a:spLocks xmlns:a="http://schemas.openxmlformats.org/drawingml/2006/main" noGrp="1"/>
          </p:cNvSpPr>
          <p:nvPr/>
        </p:nvSpPr>
        <p:spPr>
          <a:xfrm xmlns:a="http://schemas.openxmlformats.org/drawingml/2006/main">
            <a:off x="4762500" y="2762250"/>
            <a:ext cx="2667000" cy="1638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NO DIRECT EVIDENCE</a:t>
            </a:r>
          </a:p>
          <a:p xmlns:a="http://schemas.openxmlformats.org/drawingml/2006/main">
            <a:r>
              <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Identity is known; locking, contact, and precision are not shown to alter the transfer task.</a:t>
            </a:r>
          </a:p>
        </p:txBody>
      </p:sp>
      <p:sp>
        <p:nvSpPr>
          <p:cNvPr id="16" name="矩形 15">
            <a:extLst xmlns:a="http://schemas.openxmlformats.org/drawingml/2006/main">
              <a:ext uri="{FF2B5EF4-FFF2-40B4-BE49-F238E27FC236}">
                <a16:creationId xmlns:a16="http://schemas.microsoft.com/office/drawing/2014/main" id="{BC45DDAD-B473-4D2A-909B-B2910352955F}"/>
              </a:ext>
            </a:extLst>
          </p:cNvPr>
          <p:cNvSpPr>
            <a:spLocks xmlns:a="http://schemas.openxmlformats.org/drawingml/2006/main" noGrp="1"/>
          </p:cNvSpPr>
          <p:nvPr/>
        </p:nvSpPr>
        <p:spPr>
          <a:xfrm xmlns:a="http://schemas.openxmlformats.org/drawingml/2006/main">
            <a:off x="8286750" y="2095500"/>
            <a:ext cx="3048000" cy="2476500"/>
          </a:xfrm>
          <a:prstGeom xmlns:a="http://schemas.openxmlformats.org/drawingml/2006/main" prst="rect">
            <a:avLst/>
          </a:prstGeom>
          <a:solidFill xmlns:a="http://schemas.openxmlformats.org/drawingml/2006/main">
            <a:srgbClr val="E2E9ED"/>
          </a:solidFill>
          <a:ln xmlns:a="http://schemas.openxmlformats.org/drawingml/2006/main" w="9525">
            <a:solidFill>
              <a:srgbClr val="D8D1C3"/>
            </a:solidFill>
            <a:prstDash val="solid"/>
          </a:ln>
        </p:spPr>
      </p:sp>
      <p:sp>
        <p:nvSpPr>
          <p:cNvPr id="17" name="矩形 16">
            <a:extLst xmlns:a="http://schemas.openxmlformats.org/drawingml/2006/main">
              <a:ext uri="{FF2B5EF4-FFF2-40B4-BE49-F238E27FC236}">
                <a16:creationId xmlns:a16="http://schemas.microsoft.com/office/drawing/2014/main" id="{85FEA89E-963D-4704-9DE6-F1177EB2E553}"/>
              </a:ext>
            </a:extLst>
          </p:cNvPr>
          <p:cNvSpPr>
            <a:spLocks xmlns:a="http://schemas.openxmlformats.org/drawingml/2006/main" noGrp="1"/>
          </p:cNvSpPr>
          <p:nvPr/>
        </p:nvSpPr>
        <p:spPr>
          <a:xfrm xmlns:a="http://schemas.openxmlformats.org/drawingml/2006/main">
            <a:off x="8286750" y="2095500"/>
            <a:ext cx="3048000" cy="66675"/>
          </a:xfrm>
          <a:prstGeom xmlns:a="http://schemas.openxmlformats.org/drawingml/2006/main" prst="rect">
            <a:avLst/>
          </a:prstGeom>
          <a:solidFill xmlns:a="http://schemas.openxmlformats.org/drawingml/2006/main">
            <a:srgbClr val="597389"/>
          </a:solidFill>
          <a:ln xmlns:a="http://schemas.openxmlformats.org/drawingml/2006/main" w="0">
            <a:solidFill>
              <a:srgbClr val="000000">
                <a:alpha val="0"/>
              </a:srgbClr>
            </a:solidFill>
            <a:prstDash val="solid"/>
          </a:ln>
        </p:spPr>
      </p:sp>
      <p:sp>
        <p:nvSpPr>
          <p:cNvPr id="18" name="矩形 17">
            <a:extLst xmlns:a="http://schemas.openxmlformats.org/drawingml/2006/main">
              <a:ext uri="{FF2B5EF4-FFF2-40B4-BE49-F238E27FC236}">
                <a16:creationId xmlns:a16="http://schemas.microsoft.com/office/drawing/2014/main" id="{24B4E663-E031-4714-B7B5-70733A926C87}"/>
              </a:ext>
            </a:extLst>
          </p:cNvPr>
          <p:cNvSpPr>
            <a:spLocks xmlns:a="http://schemas.openxmlformats.org/drawingml/2006/main" noGrp="1"/>
          </p:cNvSpPr>
          <p:nvPr/>
        </p:nvSpPr>
        <p:spPr>
          <a:xfrm xmlns:a="http://schemas.openxmlformats.org/drawingml/2006/main">
            <a:off x="8477250" y="2333625"/>
            <a:ext cx="2667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Validation route</a:t>
            </a:r>
          </a:p>
        </p:txBody>
      </p:sp>
      <p:sp>
        <p:nvSpPr>
          <p:cNvPr id="19" name="矩形 18">
            <a:extLst xmlns:a="http://schemas.openxmlformats.org/drawingml/2006/main">
              <a:ext uri="{FF2B5EF4-FFF2-40B4-BE49-F238E27FC236}">
                <a16:creationId xmlns:a16="http://schemas.microsoft.com/office/drawing/2014/main" id="{955097C3-394C-4163-B171-D4966DF859D5}"/>
              </a:ext>
            </a:extLst>
          </p:cNvPr>
          <p:cNvSpPr>
            <a:spLocks xmlns:a="http://schemas.openxmlformats.org/drawingml/2006/main" noGrp="1"/>
          </p:cNvSpPr>
          <p:nvPr/>
        </p:nvSpPr>
        <p:spPr>
          <a:xfrm xmlns:a="http://schemas.openxmlformats.org/drawingml/2006/main">
            <a:off x="8477250" y="2762250"/>
            <a:ext cx="2667000" cy="1638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NOT ESTABLISHED</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No accessible interface, expert, or dataset confirms a meaningful remaining problem.</a:t>
            </a:r>
          </a:p>
        </p:txBody>
      </p:sp>
    </p:spTree>
    <p:extLst>
      <p:ext uri="{BB962C8B-B14F-4D97-AF65-F5344CB8AC3E}">
        <p14:creationId xmlns:p14="http://schemas.microsoft.com/office/powerpoint/2010/main" val="103490305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7" name="矩形 26">
            <a:extLst xmlns:a="http://schemas.openxmlformats.org/drawingml/2006/main">
              <a:ext uri="{FF2B5EF4-FFF2-40B4-BE49-F238E27FC236}">
                <a16:creationId xmlns:a16="http://schemas.microsoft.com/office/drawing/2014/main" id="{C8CD10F4-E482-475D-937D-400679B030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kicker-5-marker">
            <a:extLst xmlns:a="http://schemas.openxmlformats.org/drawingml/2006/main">
              <a:ext uri="{FF2B5EF4-FFF2-40B4-BE49-F238E27FC236}">
                <a16:creationId xmlns:a16="http://schemas.microsoft.com/office/drawing/2014/main" id="{63C30FAA-40F3-4AA3-A9AE-962BACE479E7}"/>
              </a:ext>
            </a:extLst>
          </p:cNvPr>
          <p:cNvSpPr>
            <a:spLocks xmlns:a="http://schemas.openxmlformats.org/drawingml/2006/main" noGrp="1"/>
          </p:cNvSpPr>
          <p:nvPr/>
        </p:nvSpPr>
        <p:spPr>
          <a:xfrm xmlns:a="http://schemas.openxmlformats.org/drawingml/2006/main">
            <a:off x="514350" y="400050"/>
            <a:ext cx="95250" cy="95250"/>
          </a:xfrm>
          <a:prstGeom xmlns:a="http://schemas.openxmlformats.org/drawingml/2006/main" prst="ellipse">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3" name="kicker-5-label">
            <a:extLst xmlns:a="http://schemas.openxmlformats.org/drawingml/2006/main">
              <a:ext uri="{FF2B5EF4-FFF2-40B4-BE49-F238E27FC236}">
                <a16:creationId xmlns:a16="http://schemas.microsoft.com/office/drawing/2014/main" id="{D67F532F-1B89-4E15-B090-50A0AD8D5159}"/>
              </a:ext>
            </a:extLst>
          </p:cNvPr>
          <p:cNvSpPr>
            <a:spLocks xmlns:a="http://schemas.openxmlformats.org/drawingml/2006/main" noGrp="1"/>
          </p:cNvSpPr>
          <p:nvPr/>
        </p:nvSpPr>
        <p:spPr>
          <a:xfrm xmlns:a="http://schemas.openxmlformats.org/drawingml/2006/main">
            <a:off x="704850" y="3238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38" b="1">
                <a:solidFill>
                  <a:srgbClr val="315C49"/>
                </a:solidFill>
                <a:latin typeface="Aptos"/>
                <a:ea typeface="Aptos"/>
                <a:cs typeface="Aptos"/>
              </a:defRPr>
            </a:pPr>
            <a:r>
              <a:rPr sz="938" b="1">
                <a:solidFill>
                  <a:srgbClr val="315C49"/>
                </a:solidFill>
                <a:latin typeface="Aptos"/>
                <a:ea typeface="Aptos"/>
                <a:cs typeface="Aptos"/>
              </a:rPr>
              <a:t>DIRECTION RESET</a:t>
            </a:r>
          </a:p>
        </p:txBody>
      </p:sp>
      <p:sp>
        <p:nvSpPr>
          <p:cNvPr id="4" name="矩形 3">
            <a:extLst xmlns:a="http://schemas.openxmlformats.org/drawingml/2006/main">
              <a:ext uri="{FF2B5EF4-FFF2-40B4-BE49-F238E27FC236}">
                <a16:creationId xmlns:a16="http://schemas.microsoft.com/office/drawing/2014/main" id="{8ECC49A7-01B0-4E79-A4C3-3E9765B503FD}"/>
              </a:ext>
            </a:extLst>
          </p:cNvPr>
          <p:cNvSpPr>
            <a:spLocks xmlns:a="http://schemas.openxmlformats.org/drawingml/2006/main" noGrp="1"/>
          </p:cNvSpPr>
          <p:nvPr/>
        </p:nvSpPr>
        <p:spPr>
          <a:xfrm xmlns:a="http://schemas.openxmlformats.org/drawingml/2006/main">
            <a:off x="514350" y="742950"/>
            <a:ext cx="9906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Three candidates restore an explicit robot actor and task.</a:t>
            </a:r>
          </a:p>
        </p:txBody>
      </p:sp>
      <p:sp>
        <p:nvSpPr>
          <p:cNvPr id="5" name="矩形 4">
            <a:extLst xmlns:a="http://schemas.openxmlformats.org/drawingml/2006/main">
              <a:ext uri="{FF2B5EF4-FFF2-40B4-BE49-F238E27FC236}">
                <a16:creationId xmlns:a16="http://schemas.microsoft.com/office/drawing/2014/main" id="{E6EAD11E-BE2C-41D4-AA37-C17118AF8E72}"/>
              </a:ext>
            </a:extLst>
          </p:cNvPr>
          <p:cNvSpPr>
            <a:spLocks xmlns:a="http://schemas.openxmlformats.org/drawingml/2006/main" noGrp="1"/>
          </p:cNvSpPr>
          <p:nvPr/>
        </p:nvSpPr>
        <p:spPr>
          <a:xfrm xmlns:a="http://schemas.openxmlformats.org/drawingml/2006/main">
            <a:off x="514350" y="6153150"/>
            <a:ext cx="9620250" cy="11430"/>
          </a:xfrm>
          <a:prstGeom xmlns:a="http://schemas.openxmlformats.org/drawingml/2006/main" prst="rect">
            <a:avLst/>
          </a:prstGeom>
          <a:solidFill xmlns:a="http://schemas.openxmlformats.org/drawingml/2006/main">
            <a:srgbClr val="D8D1C3"/>
          </a:solidFill>
          <a:ln xmlns:a="http://schemas.openxmlformats.org/drawingml/2006/main" w="0">
            <a:solidFill>
              <a:srgbClr val="000000">
                <a:alpha val="0"/>
              </a:srgbClr>
            </a:solidFill>
            <a:prstDash val="solid"/>
          </a:ln>
        </p:spPr>
      </p:sp>
      <p:sp>
        <p:nvSpPr>
          <p:cNvPr id="6" name="矩形 5">
            <a:extLst xmlns:a="http://schemas.openxmlformats.org/drawingml/2006/main">
              <a:ext uri="{FF2B5EF4-FFF2-40B4-BE49-F238E27FC236}">
                <a16:creationId xmlns:a16="http://schemas.microsoft.com/office/drawing/2014/main" id="{3AA60F74-8C0F-4973-B394-AB6316298B72}"/>
              </a:ext>
            </a:extLst>
          </p:cNvPr>
          <p:cNvSpPr>
            <a:spLocks xmlns:a="http://schemas.openxmlformats.org/drawingml/2006/main" noGrp="1"/>
          </p:cNvSpPr>
          <p:nvPr/>
        </p:nvSpPr>
        <p:spPr>
          <a:xfrm xmlns:a="http://schemas.openxmlformats.org/drawingml/2006/main">
            <a:off x="514350" y="6257925"/>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13" b="0">
                <a:solidFill>
                  <a:srgbClr val="5E625D"/>
                </a:solidFill>
                <a:latin typeface="Aptos"/>
                <a:ea typeface="Aptos"/>
                <a:cs typeface="Aptos"/>
              </a:defRPr>
            </a:pPr>
            <a:r>
              <a:rPr sz="713" b="0">
                <a:solidFill>
                  <a:srgbClr val="5E625D"/>
                </a:solidFill>
                <a:latin typeface="Aptos"/>
                <a:ea typeface="Aptos"/>
                <a:cs typeface="Aptos"/>
              </a:rPr>
              <a:t>Evidence: direct company disclosures define tasks; performance and maturity remain independently unverified</a:t>
            </a:r>
          </a:p>
        </p:txBody>
      </p:sp>
      <p:sp>
        <p:nvSpPr>
          <p:cNvPr id="7" name="矩形 6">
            <a:extLst xmlns:a="http://schemas.openxmlformats.org/drawingml/2006/main">
              <a:ext uri="{FF2B5EF4-FFF2-40B4-BE49-F238E27FC236}">
                <a16:creationId xmlns:a16="http://schemas.microsoft.com/office/drawing/2014/main" id="{A1CE26EC-70B0-453B-88F1-07A87BE55F33}"/>
              </a:ext>
            </a:extLst>
          </p:cNvPr>
          <p:cNvSpPr>
            <a:spLocks xmlns:a="http://schemas.openxmlformats.org/drawingml/2006/main" noGrp="1"/>
          </p:cNvSpPr>
          <p:nvPr/>
        </p:nvSpPr>
        <p:spPr>
          <a:xfrm xmlns:a="http://schemas.openxmlformats.org/drawingml/2006/main">
            <a:off x="11049000" y="62293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315C49"/>
                </a:solidFill>
                <a:latin typeface="Aptos"/>
                <a:ea typeface="Aptos"/>
                <a:cs typeface="Aptos"/>
              </a:defRPr>
            </a:pPr>
            <a:r>
              <a:rPr sz="900" b="1">
                <a:solidFill>
                  <a:srgbClr val="315C49"/>
                </a:solidFill>
                <a:latin typeface="Aptos"/>
                <a:ea typeface="Aptos"/>
                <a:cs typeface="Aptos"/>
              </a:rPr>
              <a:t>05</a:t>
            </a:r>
          </a:p>
        </p:txBody>
      </p:sp>
      <p:sp>
        <p:nvSpPr>
          <p:cNvPr id="8" name="矩形 7">
            <a:extLst xmlns:a="http://schemas.openxmlformats.org/drawingml/2006/main">
              <a:ext uri="{FF2B5EF4-FFF2-40B4-BE49-F238E27FC236}">
                <a16:creationId xmlns:a16="http://schemas.microsoft.com/office/drawing/2014/main" id="{5B255AAE-F081-4962-9CB7-59334E13D464}"/>
              </a:ext>
            </a:extLst>
          </p:cNvPr>
          <p:cNvSpPr>
            <a:spLocks xmlns:a="http://schemas.openxmlformats.org/drawingml/2006/main" noGrp="1"/>
          </p:cNvSpPr>
          <p:nvPr/>
        </p:nvSpPr>
        <p:spPr>
          <a:xfrm xmlns:a="http://schemas.openxmlformats.org/drawingml/2006/main">
            <a:off x="685800" y="1952625"/>
            <a:ext cx="3190875" cy="2333625"/>
          </a:xfrm>
          <a:prstGeom xmlns:a="http://schemas.openxmlformats.org/drawingml/2006/main" prst="rect">
            <a:avLst/>
          </a:prstGeom>
          <a:solidFill xmlns:a="http://schemas.openxmlformats.org/drawingml/2006/main">
            <a:srgbClr val="FFFFFF"/>
          </a:solidFill>
          <a:ln xmlns:a="http://schemas.openxmlformats.org/drawingml/2006/main" w="9525">
            <a:solidFill>
              <a:srgbClr val="D8D1C3"/>
            </a:solidFill>
            <a:prstDash val="solid"/>
          </a:ln>
        </p:spPr>
      </p:sp>
      <p:sp>
        <p:nvSpPr>
          <p:cNvPr id="9" name="矩形 8">
            <a:extLst xmlns:a="http://schemas.openxmlformats.org/drawingml/2006/main">
              <a:ext uri="{FF2B5EF4-FFF2-40B4-BE49-F238E27FC236}">
                <a16:creationId xmlns:a16="http://schemas.microsoft.com/office/drawing/2014/main" id="{068BEA1D-F9B5-465B-A018-56C952544DBC}"/>
              </a:ext>
            </a:extLst>
          </p:cNvPr>
          <p:cNvSpPr>
            <a:spLocks xmlns:a="http://schemas.openxmlformats.org/drawingml/2006/main" noGrp="1"/>
          </p:cNvSpPr>
          <p:nvPr/>
        </p:nvSpPr>
        <p:spPr>
          <a:xfrm xmlns:a="http://schemas.openxmlformats.org/drawingml/2006/main">
            <a:off x="685800" y="1952625"/>
            <a:ext cx="3190875" cy="66675"/>
          </a:xfrm>
          <a:prstGeom xmlns:a="http://schemas.openxmlformats.org/drawingml/2006/main" prst="rect">
            <a:avLst/>
          </a:prstGeom>
          <a:solidFill xmlns:a="http://schemas.openxmlformats.org/drawingml/2006/main">
            <a:srgbClr val="315C49"/>
          </a:solidFill>
          <a:ln xmlns:a="http://schemas.openxmlformats.org/drawingml/2006/main" w="0">
            <a:solidFill>
              <a:srgbClr val="000000">
                <a:alpha val="0"/>
              </a:srgbClr>
            </a:solidFill>
            <a:prstDash val="solid"/>
          </a:ln>
        </p:spPr>
      </p:sp>
      <p:sp>
        <p:nvSpPr>
          <p:cNvPr id="10" name="矩形 9">
            <a:extLst xmlns:a="http://schemas.openxmlformats.org/drawingml/2006/main">
              <a:ext uri="{FF2B5EF4-FFF2-40B4-BE49-F238E27FC236}">
                <a16:creationId xmlns:a16="http://schemas.microsoft.com/office/drawing/2014/main" id="{7B8A6173-F37E-4E7D-8523-64548DFB875A}"/>
              </a:ext>
            </a:extLst>
          </p:cNvPr>
          <p:cNvSpPr>
            <a:spLocks xmlns:a="http://schemas.openxmlformats.org/drawingml/2006/main" noGrp="1"/>
          </p:cNvSpPr>
          <p:nvPr/>
        </p:nvSpPr>
        <p:spPr>
          <a:xfrm xmlns:a="http://schemas.openxmlformats.org/drawingml/2006/main">
            <a:off x="876300" y="2190750"/>
            <a:ext cx="280987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B — Pack EoL/DCR connectors</a:t>
            </a:r>
          </a:p>
        </p:txBody>
      </p:sp>
      <p:sp>
        <p:nvSpPr>
          <p:cNvPr id="11" name="矩形 10">
            <a:extLst xmlns:a="http://schemas.openxmlformats.org/drawingml/2006/main">
              <a:ext uri="{FF2B5EF4-FFF2-40B4-BE49-F238E27FC236}">
                <a16:creationId xmlns:a16="http://schemas.microsoft.com/office/drawing/2014/main" id="{0909B475-0F05-4863-AE50-61BC4A463E59}"/>
              </a:ext>
            </a:extLst>
          </p:cNvPr>
          <p:cNvSpPr>
            <a:spLocks xmlns:a="http://schemas.openxmlformats.org/drawingml/2006/main" noGrp="1"/>
          </p:cNvSpPr>
          <p:nvPr/>
        </p:nvSpPr>
        <p:spPr>
          <a:xfrm xmlns:a="http://schemas.openxmlformats.org/drawingml/2006/main">
            <a:off x="876300" y="2619375"/>
            <a:ext cx="2809875" cy="1495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Locate, insert, verify, and remove flexible test connectors.</a:t>
            </a:r>
          </a:p>
          <a:p xmlns:a="http://schemas.openxmlformats.org/drawingml/2006/main">
            <a:r>
              <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Compare dedicated automation, fixed robots, and mobile/humanoid systems.</a:t>
            </a:r>
          </a:p>
        </p:txBody>
      </p:sp>
      <p:sp>
        <p:nvSpPr>
          <p:cNvPr id="12" name="矩形 11">
            <a:extLst xmlns:a="http://schemas.openxmlformats.org/drawingml/2006/main">
              <a:ext uri="{FF2B5EF4-FFF2-40B4-BE49-F238E27FC236}">
                <a16:creationId xmlns:a16="http://schemas.microsoft.com/office/drawing/2014/main" id="{3F95733E-3F1B-4F91-8AEA-CF80455BB6A2}"/>
              </a:ext>
            </a:extLst>
          </p:cNvPr>
          <p:cNvSpPr>
            <a:spLocks xmlns:a="http://schemas.openxmlformats.org/drawingml/2006/main" noGrp="1"/>
          </p:cNvSpPr>
          <p:nvPr/>
        </p:nvSpPr>
        <p:spPr>
          <a:xfrm xmlns:a="http://schemas.openxmlformats.org/drawingml/2006/main">
            <a:off x="1333500" y="4524375"/>
            <a:ext cx="1905000" cy="304800"/>
          </a:xfrm>
          <a:prstGeom xmlns:a="http://schemas.openxmlformats.org/drawingml/2006/main" prst="rect">
            <a:avLst/>
          </a:prstGeom>
          <a:solidFill xmlns:a="http://schemas.openxmlformats.org/drawingml/2006/main">
            <a:srgbClr val="DDE8DF"/>
          </a:solidFill>
          <a:ln xmlns:a="http://schemas.openxmlformats.org/drawingml/2006/main" w="0">
            <a:solidFill>
              <a:srgbClr val="000000">
                <a:alpha val="0"/>
              </a:srgbClr>
            </a:solidFill>
            <a:prstDash val="solid"/>
          </a:ln>
        </p:spPr>
      </p:sp>
      <p:sp>
        <p:nvSpPr>
          <p:cNvPr id="13" name="矩形 12">
            <a:extLst xmlns:a="http://schemas.openxmlformats.org/drawingml/2006/main">
              <a:ext uri="{FF2B5EF4-FFF2-40B4-BE49-F238E27FC236}">
                <a16:creationId xmlns:a16="http://schemas.microsoft.com/office/drawing/2014/main" id="{293FBCB0-9638-4111-A761-6A11F45F0AA6}"/>
              </a:ext>
            </a:extLst>
          </p:cNvPr>
          <p:cNvSpPr>
            <a:spLocks xmlns:a="http://schemas.openxmlformats.org/drawingml/2006/main" noGrp="1"/>
          </p:cNvSpPr>
          <p:nvPr/>
        </p:nvSpPr>
        <p:spPr>
          <a:xfrm xmlns:a="http://schemas.openxmlformats.org/drawingml/2006/main">
            <a:off x="1409700" y="4572000"/>
            <a:ext cx="1752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938" b="1">
                <a:solidFill>
                  <a:srgbClr val="315C49"/>
                </a:solidFill>
                <a:latin typeface="Aptos"/>
                <a:ea typeface="Aptos"/>
                <a:cs typeface="Aptos"/>
              </a:defRPr>
            </a:pPr>
            <a:r>
              <a:rPr sz="938" b="1">
                <a:solidFill>
                  <a:srgbClr val="315C49"/>
                </a:solidFill>
                <a:latin typeface="Aptos"/>
                <a:ea typeface="Aptos"/>
                <a:cs typeface="Aptos"/>
              </a:rPr>
              <a:t>CONDITIONAL PRIMARY</a:t>
            </a:r>
          </a:p>
        </p:txBody>
      </p:sp>
      <p:sp>
        <p:nvSpPr>
          <p:cNvPr id="14" name="矩形 13">
            <a:extLst xmlns:a="http://schemas.openxmlformats.org/drawingml/2006/main">
              <a:ext uri="{FF2B5EF4-FFF2-40B4-BE49-F238E27FC236}">
                <a16:creationId xmlns:a16="http://schemas.microsoft.com/office/drawing/2014/main" id="{2F6A1DCB-59F8-4582-AF1F-FE80A00D4D29}"/>
              </a:ext>
            </a:extLst>
          </p:cNvPr>
          <p:cNvSpPr>
            <a:spLocks xmlns:a="http://schemas.openxmlformats.org/drawingml/2006/main" noGrp="1"/>
          </p:cNvSpPr>
          <p:nvPr/>
        </p:nvSpPr>
        <p:spPr>
          <a:xfrm xmlns:a="http://schemas.openxmlformats.org/drawingml/2006/main">
            <a:off x="4495800" y="1952625"/>
            <a:ext cx="3190875" cy="2333625"/>
          </a:xfrm>
          <a:prstGeom xmlns:a="http://schemas.openxmlformats.org/drawingml/2006/main" prst="rect">
            <a:avLst/>
          </a:prstGeom>
          <a:solidFill xmlns:a="http://schemas.openxmlformats.org/drawingml/2006/main">
            <a:srgbClr val="FFFFFF"/>
          </a:solidFill>
          <a:ln xmlns:a="http://schemas.openxmlformats.org/drawingml/2006/main" w="9525">
            <a:solidFill>
              <a:srgbClr val="D8D1C3"/>
            </a:solidFill>
            <a:prstDash val="solid"/>
          </a:ln>
        </p:spPr>
      </p:sp>
      <p:sp>
        <p:nvSpPr>
          <p:cNvPr id="15" name="矩形 14">
            <a:extLst xmlns:a="http://schemas.openxmlformats.org/drawingml/2006/main">
              <a:ext uri="{FF2B5EF4-FFF2-40B4-BE49-F238E27FC236}">
                <a16:creationId xmlns:a16="http://schemas.microsoft.com/office/drawing/2014/main" id="{AE1FCEE6-2655-43A4-8AF0-947BD2605CF8}"/>
              </a:ext>
            </a:extLst>
          </p:cNvPr>
          <p:cNvSpPr>
            <a:spLocks xmlns:a="http://schemas.openxmlformats.org/drawingml/2006/main" noGrp="1"/>
          </p:cNvSpPr>
          <p:nvPr/>
        </p:nvSpPr>
        <p:spPr>
          <a:xfrm xmlns:a="http://schemas.openxmlformats.org/drawingml/2006/main">
            <a:off x="4495800" y="1952625"/>
            <a:ext cx="3190875" cy="66675"/>
          </a:xfrm>
          <a:prstGeom xmlns:a="http://schemas.openxmlformats.org/drawingml/2006/main" prst="rect">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16" name="矩形 15">
            <a:extLst xmlns:a="http://schemas.openxmlformats.org/drawingml/2006/main">
              <a:ext uri="{FF2B5EF4-FFF2-40B4-BE49-F238E27FC236}">
                <a16:creationId xmlns:a16="http://schemas.microsoft.com/office/drawing/2014/main" id="{EFEC5772-FF10-4196-B255-A7A1549B1798}"/>
              </a:ext>
            </a:extLst>
          </p:cNvPr>
          <p:cNvSpPr>
            <a:spLocks xmlns:a="http://schemas.openxmlformats.org/drawingml/2006/main" noGrp="1"/>
          </p:cNvSpPr>
          <p:nvPr/>
        </p:nvSpPr>
        <p:spPr>
          <a:xfrm xmlns:a="http://schemas.openxmlformats.org/drawingml/2006/main">
            <a:off x="4686300" y="2190750"/>
            <a:ext cx="280987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A — Cell grasping &amp; loading</a:t>
            </a:r>
          </a:p>
        </p:txBody>
      </p:sp>
      <p:sp>
        <p:nvSpPr>
          <p:cNvPr id="17" name="矩形 16">
            <a:extLst xmlns:a="http://schemas.openxmlformats.org/drawingml/2006/main">
              <a:ext uri="{FF2B5EF4-FFF2-40B4-BE49-F238E27FC236}">
                <a16:creationId xmlns:a16="http://schemas.microsoft.com/office/drawing/2014/main" id="{6CEA8F51-AA59-461B-BA8A-7D001B0059E9}"/>
              </a:ext>
            </a:extLst>
          </p:cNvPr>
          <p:cNvSpPr>
            <a:spLocks xmlns:a="http://schemas.openxmlformats.org/drawingml/2006/main" noGrp="1"/>
          </p:cNvSpPr>
          <p:nvPr/>
        </p:nvSpPr>
        <p:spPr>
          <a:xfrm xmlns:a="http://schemas.openxmlformats.org/drawingml/2006/main">
            <a:off x="4686300" y="2619375"/>
            <a:ext cx="2809875" cy="1495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Identify incoming cells, plan the grasp, pick, and load for module/pack assembly.</a:t>
            </a:r>
          </a:p>
          <a:p xmlns:a="http://schemas.openxmlformats.org/drawingml/2006/main">
            <a:r>
              <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Needs a clearer destination and interface.</a:t>
            </a:r>
          </a:p>
        </p:txBody>
      </p:sp>
      <p:sp>
        <p:nvSpPr>
          <p:cNvPr id="18" name="矩形 17">
            <a:extLst xmlns:a="http://schemas.openxmlformats.org/drawingml/2006/main">
              <a:ext uri="{FF2B5EF4-FFF2-40B4-BE49-F238E27FC236}">
                <a16:creationId xmlns:a16="http://schemas.microsoft.com/office/drawing/2014/main" id="{B8DA2B8D-FF9E-4A8D-85A8-A1B5CE93EFAB}"/>
              </a:ext>
            </a:extLst>
          </p:cNvPr>
          <p:cNvSpPr>
            <a:spLocks xmlns:a="http://schemas.openxmlformats.org/drawingml/2006/main" noGrp="1"/>
          </p:cNvSpPr>
          <p:nvPr/>
        </p:nvSpPr>
        <p:spPr>
          <a:xfrm xmlns:a="http://schemas.openxmlformats.org/drawingml/2006/main">
            <a:off x="5143500" y="4524375"/>
            <a:ext cx="1905000" cy="304800"/>
          </a:xfrm>
          <a:prstGeom xmlns:a="http://schemas.openxmlformats.org/drawingml/2006/main" prst="rect">
            <a:avLst/>
          </a:prstGeom>
          <a:solidFill xmlns:a="http://schemas.openxmlformats.org/drawingml/2006/main">
            <a:srgbClr val="F1DDCF"/>
          </a:solidFill>
          <a:ln xmlns:a="http://schemas.openxmlformats.org/drawingml/2006/main" w="0">
            <a:solidFill>
              <a:srgbClr val="000000">
                <a:alpha val="0"/>
              </a:srgbClr>
            </a:solidFill>
            <a:prstDash val="solid"/>
          </a:ln>
        </p:spPr>
      </p:sp>
      <p:sp>
        <p:nvSpPr>
          <p:cNvPr id="19" name="矩形 18">
            <a:extLst xmlns:a="http://schemas.openxmlformats.org/drawingml/2006/main">
              <a:ext uri="{FF2B5EF4-FFF2-40B4-BE49-F238E27FC236}">
                <a16:creationId xmlns:a16="http://schemas.microsoft.com/office/drawing/2014/main" id="{6A0DDB4D-FAB9-4B80-AF16-289E2A46E642}"/>
              </a:ext>
            </a:extLst>
          </p:cNvPr>
          <p:cNvSpPr>
            <a:spLocks xmlns:a="http://schemas.openxmlformats.org/drawingml/2006/main" noGrp="1"/>
          </p:cNvSpPr>
          <p:nvPr/>
        </p:nvSpPr>
        <p:spPr>
          <a:xfrm xmlns:a="http://schemas.openxmlformats.org/drawingml/2006/main">
            <a:off x="5219700" y="4572000"/>
            <a:ext cx="1752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938" b="1">
                <a:solidFill>
                  <a:srgbClr val="B46B3A"/>
                </a:solidFill>
                <a:latin typeface="Aptos"/>
                <a:ea typeface="Aptos"/>
                <a:cs typeface="Aptos"/>
              </a:defRPr>
            </a:pPr>
            <a:r>
              <a:rPr sz="938" b="1">
                <a:solidFill>
                  <a:srgbClr val="B46B3A"/>
                </a:solidFill>
                <a:latin typeface="Aptos"/>
                <a:ea typeface="Aptos"/>
                <a:cs typeface="Aptos"/>
              </a:rPr>
              <a:t>STRONG BACKUP</a:t>
            </a:r>
          </a:p>
        </p:txBody>
      </p:sp>
      <p:sp>
        <p:nvSpPr>
          <p:cNvPr id="20" name="矩形 19">
            <a:extLst xmlns:a="http://schemas.openxmlformats.org/drawingml/2006/main">
              <a:ext uri="{FF2B5EF4-FFF2-40B4-BE49-F238E27FC236}">
                <a16:creationId xmlns:a16="http://schemas.microsoft.com/office/drawing/2014/main" id="{1BF41D8E-1ED4-4CA0-896F-CCCA5C416811}"/>
              </a:ext>
            </a:extLst>
          </p:cNvPr>
          <p:cNvSpPr>
            <a:spLocks xmlns:a="http://schemas.openxmlformats.org/drawingml/2006/main" noGrp="1"/>
          </p:cNvSpPr>
          <p:nvPr/>
        </p:nvSpPr>
        <p:spPr>
          <a:xfrm xmlns:a="http://schemas.openxmlformats.org/drawingml/2006/main">
            <a:off x="8305800" y="1952625"/>
            <a:ext cx="3190875" cy="2333625"/>
          </a:xfrm>
          <a:prstGeom xmlns:a="http://schemas.openxmlformats.org/drawingml/2006/main" prst="rect">
            <a:avLst/>
          </a:prstGeom>
          <a:solidFill xmlns:a="http://schemas.openxmlformats.org/drawingml/2006/main">
            <a:srgbClr val="FFFFFF"/>
          </a:solidFill>
          <a:ln xmlns:a="http://schemas.openxmlformats.org/drawingml/2006/main" w="9525">
            <a:solidFill>
              <a:srgbClr val="D8D1C3"/>
            </a:solidFill>
            <a:prstDash val="solid"/>
          </a:ln>
        </p:spPr>
      </p:sp>
      <p:sp>
        <p:nvSpPr>
          <p:cNvPr id="21" name="矩形 20">
            <a:extLst xmlns:a="http://schemas.openxmlformats.org/drawingml/2006/main">
              <a:ext uri="{FF2B5EF4-FFF2-40B4-BE49-F238E27FC236}">
                <a16:creationId xmlns:a16="http://schemas.microsoft.com/office/drawing/2014/main" id="{7DFA5472-0477-4574-A99E-BA897E1E4EBD}"/>
              </a:ext>
            </a:extLst>
          </p:cNvPr>
          <p:cNvSpPr>
            <a:spLocks xmlns:a="http://schemas.openxmlformats.org/drawingml/2006/main" noGrp="1"/>
          </p:cNvSpPr>
          <p:nvPr/>
        </p:nvSpPr>
        <p:spPr>
          <a:xfrm xmlns:a="http://schemas.openxmlformats.org/drawingml/2006/main">
            <a:off x="8305800" y="1952625"/>
            <a:ext cx="3190875" cy="66675"/>
          </a:xfrm>
          <a:prstGeom xmlns:a="http://schemas.openxmlformats.org/drawingml/2006/main" prst="rect">
            <a:avLst/>
          </a:prstGeom>
          <a:solidFill xmlns:a="http://schemas.openxmlformats.org/drawingml/2006/main">
            <a:srgbClr val="597389"/>
          </a:solidFill>
          <a:ln xmlns:a="http://schemas.openxmlformats.org/drawingml/2006/main" w="0">
            <a:solidFill>
              <a:srgbClr val="000000">
                <a:alpha val="0"/>
              </a:srgbClr>
            </a:solidFill>
            <a:prstDash val="solid"/>
          </a:ln>
        </p:spPr>
      </p:sp>
      <p:sp>
        <p:nvSpPr>
          <p:cNvPr id="22" name="矩形 21">
            <a:extLst xmlns:a="http://schemas.openxmlformats.org/drawingml/2006/main">
              <a:ext uri="{FF2B5EF4-FFF2-40B4-BE49-F238E27FC236}">
                <a16:creationId xmlns:a16="http://schemas.microsoft.com/office/drawing/2014/main" id="{2AE841EA-4FF3-4E9F-84C1-6F4CF60F071B}"/>
              </a:ext>
            </a:extLst>
          </p:cNvPr>
          <p:cNvSpPr>
            <a:spLocks xmlns:a="http://schemas.openxmlformats.org/drawingml/2006/main" noGrp="1"/>
          </p:cNvSpPr>
          <p:nvPr/>
        </p:nvSpPr>
        <p:spPr>
          <a:xfrm xmlns:a="http://schemas.openxmlformats.org/drawingml/2006/main">
            <a:off x="8496300" y="2190750"/>
            <a:ext cx="280987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C — Multi-station handling</a:t>
            </a:r>
          </a:p>
        </p:txBody>
      </p:sp>
      <p:sp>
        <p:nvSpPr>
          <p:cNvPr id="23" name="矩形 22">
            <a:extLst xmlns:a="http://schemas.openxmlformats.org/drawingml/2006/main">
              <a:ext uri="{FF2B5EF4-FFF2-40B4-BE49-F238E27FC236}">
                <a16:creationId xmlns:a16="http://schemas.microsoft.com/office/drawing/2014/main" id="{E642F8A4-172D-4956-9298-4E9D0FAECC48}"/>
              </a:ext>
            </a:extLst>
          </p:cNvPr>
          <p:cNvSpPr>
            <a:spLocks xmlns:a="http://schemas.openxmlformats.org/drawingml/2006/main" noGrp="1"/>
          </p:cNvSpPr>
          <p:nvPr/>
        </p:nvSpPr>
        <p:spPr>
          <a:xfrm xmlns:a="http://schemas.openxmlformats.org/drawingml/2006/main">
            <a:off x="8496300" y="2619375"/>
            <a:ext cx="2809875" cy="1495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Module/pack material handling and picking across stations.</a:t>
            </a:r>
          </a:p>
          <a:p xmlns:a="http://schemas.openxmlformats.org/drawingml/2006/main">
            <a:r>
              <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Flow object, handover, and battery-specific effect remain unclear.</a:t>
            </a:r>
          </a:p>
        </p:txBody>
      </p:sp>
      <p:sp>
        <p:nvSpPr>
          <p:cNvPr id="24" name="矩形 23">
            <a:extLst xmlns:a="http://schemas.openxmlformats.org/drawingml/2006/main">
              <a:ext uri="{FF2B5EF4-FFF2-40B4-BE49-F238E27FC236}">
                <a16:creationId xmlns:a16="http://schemas.microsoft.com/office/drawing/2014/main" id="{C47A4A78-5257-4EE8-AC04-7F45686B58B1}"/>
              </a:ext>
            </a:extLst>
          </p:cNvPr>
          <p:cNvSpPr>
            <a:spLocks xmlns:a="http://schemas.openxmlformats.org/drawingml/2006/main" noGrp="1"/>
          </p:cNvSpPr>
          <p:nvPr/>
        </p:nvSpPr>
        <p:spPr>
          <a:xfrm xmlns:a="http://schemas.openxmlformats.org/drawingml/2006/main">
            <a:off x="8953500" y="4524375"/>
            <a:ext cx="1905000" cy="304800"/>
          </a:xfrm>
          <a:prstGeom xmlns:a="http://schemas.openxmlformats.org/drawingml/2006/main" prst="rect">
            <a:avLst/>
          </a:prstGeom>
          <a:solidFill xmlns:a="http://schemas.openxmlformats.org/drawingml/2006/main">
            <a:srgbClr val="E2E9ED"/>
          </a:solidFill>
          <a:ln xmlns:a="http://schemas.openxmlformats.org/drawingml/2006/main" w="0">
            <a:solidFill>
              <a:srgbClr val="000000">
                <a:alpha val="0"/>
              </a:srgbClr>
            </a:solidFill>
            <a:prstDash val="solid"/>
          </a:ln>
        </p:spPr>
      </p:sp>
      <p:sp>
        <p:nvSpPr>
          <p:cNvPr id="25" name="矩形 24">
            <a:extLst xmlns:a="http://schemas.openxmlformats.org/drawingml/2006/main">
              <a:ext uri="{FF2B5EF4-FFF2-40B4-BE49-F238E27FC236}">
                <a16:creationId xmlns:a16="http://schemas.microsoft.com/office/drawing/2014/main" id="{6E14F1CC-4D4C-4C41-B143-73705C95271D}"/>
              </a:ext>
            </a:extLst>
          </p:cNvPr>
          <p:cNvSpPr>
            <a:spLocks xmlns:a="http://schemas.openxmlformats.org/drawingml/2006/main" noGrp="1"/>
          </p:cNvSpPr>
          <p:nvPr/>
        </p:nvSpPr>
        <p:spPr>
          <a:xfrm xmlns:a="http://schemas.openxmlformats.org/drawingml/2006/main">
            <a:off x="9029700" y="4572000"/>
            <a:ext cx="1752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938" b="1">
                <a:solidFill>
                  <a:srgbClr val="597389"/>
                </a:solidFill>
                <a:latin typeface="Aptos"/>
                <a:ea typeface="Aptos"/>
                <a:cs typeface="Aptos"/>
              </a:defRPr>
            </a:pPr>
            <a:r>
              <a:rPr sz="938" b="1">
                <a:solidFill>
                  <a:srgbClr val="597389"/>
                </a:solidFill>
                <a:latin typeface="Aptos"/>
                <a:ea typeface="Aptos"/>
                <a:cs typeface="Aptos"/>
              </a:rPr>
              <a:t>EXPLORATORY</a:t>
            </a:r>
          </a:p>
        </p:txBody>
      </p:sp>
      <p:sp>
        <p:nvSpPr>
          <p:cNvPr id="26" name="矩形 25">
            <a:extLst xmlns:a="http://schemas.openxmlformats.org/drawingml/2006/main">
              <a:ext uri="{FF2B5EF4-FFF2-40B4-BE49-F238E27FC236}">
                <a16:creationId xmlns:a16="http://schemas.microsoft.com/office/drawing/2014/main" id="{426C46B3-D347-4AF9-A5EA-F6AF4F202552}"/>
              </a:ext>
            </a:extLst>
          </p:cNvPr>
          <p:cNvSpPr>
            <a:spLocks xmlns:a="http://schemas.openxmlformats.org/drawingml/2006/main" noGrp="1"/>
          </p:cNvSpPr>
          <p:nvPr/>
        </p:nvSpPr>
        <p:spPr>
          <a:xfrm xmlns:a="http://schemas.openxmlformats.org/drawingml/2006/main">
            <a:off x="1238250" y="5286375"/>
            <a:ext cx="9715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b="1">
                <a:solidFill>
                  <a:srgbClr val="315C49"/>
                </a:solidFill>
                <a:latin typeface="Aptos"/>
                <a:ea typeface="Aptos"/>
                <a:cs typeface="Aptos"/>
              </a:defRPr>
            </a:pPr>
            <a:r>
              <a:rPr sz="1650" b="1">
                <a:solidFill>
                  <a:srgbClr val="315C49"/>
                </a:solidFill>
                <a:latin typeface="Aptos"/>
                <a:ea typeface="Aptos"/>
                <a:cs typeface="Aptos"/>
              </a:rPr>
              <a:t>All three remain candidates; each needs a battery-specific requirement, baseline, and validation route.</a:t>
            </a:r>
          </a:p>
        </p:txBody>
      </p:sp>
    </p:spTree>
    <p:extLst>
      <p:ext uri="{BB962C8B-B14F-4D97-AF65-F5344CB8AC3E}">
        <p14:creationId xmlns:p14="http://schemas.microsoft.com/office/powerpoint/2010/main" val="40907296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2" name="矩形 21">
            <a:extLst xmlns:a="http://schemas.openxmlformats.org/drawingml/2006/main">
              <a:ext uri="{FF2B5EF4-FFF2-40B4-BE49-F238E27FC236}">
                <a16:creationId xmlns:a16="http://schemas.microsoft.com/office/drawing/2014/main" id="{88FE5911-D2B9-406B-9BAF-79B24AEFF1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kicker-8-marker">
            <a:extLst xmlns:a="http://schemas.openxmlformats.org/drawingml/2006/main">
              <a:ext uri="{FF2B5EF4-FFF2-40B4-BE49-F238E27FC236}">
                <a16:creationId xmlns:a16="http://schemas.microsoft.com/office/drawing/2014/main" id="{19E970EF-F549-4928-AEB1-B697DED64572}"/>
              </a:ext>
            </a:extLst>
          </p:cNvPr>
          <p:cNvSpPr>
            <a:spLocks xmlns:a="http://schemas.openxmlformats.org/drawingml/2006/main" noGrp="1"/>
          </p:cNvSpPr>
          <p:nvPr/>
        </p:nvSpPr>
        <p:spPr>
          <a:xfrm xmlns:a="http://schemas.openxmlformats.org/drawingml/2006/main">
            <a:off x="514350" y="400050"/>
            <a:ext cx="95250" cy="95250"/>
          </a:xfrm>
          <a:prstGeom xmlns:a="http://schemas.openxmlformats.org/drawingml/2006/main" prst="ellipse">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3" name="kicker-8-label">
            <a:extLst xmlns:a="http://schemas.openxmlformats.org/drawingml/2006/main">
              <a:ext uri="{FF2B5EF4-FFF2-40B4-BE49-F238E27FC236}">
                <a16:creationId xmlns:a16="http://schemas.microsoft.com/office/drawing/2014/main" id="{30B1403A-3E0A-403C-91FF-EF3DB7174D87}"/>
              </a:ext>
            </a:extLst>
          </p:cNvPr>
          <p:cNvSpPr>
            <a:spLocks xmlns:a="http://schemas.openxmlformats.org/drawingml/2006/main" noGrp="1"/>
          </p:cNvSpPr>
          <p:nvPr/>
        </p:nvSpPr>
        <p:spPr>
          <a:xfrm xmlns:a="http://schemas.openxmlformats.org/drawingml/2006/main">
            <a:off x="704850" y="3238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38" b="1">
                <a:solidFill>
                  <a:srgbClr val="315C49"/>
                </a:solidFill>
                <a:latin typeface="Aptos"/>
                <a:ea typeface="Aptos"/>
                <a:cs typeface="Aptos"/>
              </a:defRPr>
            </a:pPr>
            <a:r>
              <a:rPr sz="938" b="1">
                <a:solidFill>
                  <a:srgbClr val="315C49"/>
                </a:solidFill>
                <a:latin typeface="Aptos"/>
                <a:ea typeface="Aptos"/>
                <a:cs typeface="Aptos"/>
              </a:rPr>
              <a:t>THOMAS DECISION</a:t>
            </a:r>
          </a:p>
        </p:txBody>
      </p:sp>
      <p:sp>
        <p:nvSpPr>
          <p:cNvPr id="4" name="矩形 3">
            <a:extLst xmlns:a="http://schemas.openxmlformats.org/drawingml/2006/main">
              <a:ext uri="{FF2B5EF4-FFF2-40B4-BE49-F238E27FC236}">
                <a16:creationId xmlns:a16="http://schemas.microsoft.com/office/drawing/2014/main" id="{5FEBF03F-6ACD-4EC3-90B1-2268C44B0F99}"/>
              </a:ext>
            </a:extLst>
          </p:cNvPr>
          <p:cNvSpPr>
            <a:spLocks xmlns:a="http://schemas.openxmlformats.org/drawingml/2006/main" noGrp="1"/>
          </p:cNvSpPr>
          <p:nvPr/>
        </p:nvSpPr>
        <p:spPr>
          <a:xfrm xmlns:a="http://schemas.openxmlformats.org/drawingml/2006/main">
            <a:off x="514350" y="742950"/>
            <a:ext cx="9906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Next week should lock one case—not expand the map again.</a:t>
            </a:r>
          </a:p>
        </p:txBody>
      </p:sp>
      <p:sp>
        <p:nvSpPr>
          <p:cNvPr id="5" name="矩形 4">
            <a:extLst xmlns:a="http://schemas.openxmlformats.org/drawingml/2006/main">
              <a:ext uri="{FF2B5EF4-FFF2-40B4-BE49-F238E27FC236}">
                <a16:creationId xmlns:a16="http://schemas.microsoft.com/office/drawing/2014/main" id="{AFF21A77-70BB-4991-AD88-45B7CF84DD89}"/>
              </a:ext>
            </a:extLst>
          </p:cNvPr>
          <p:cNvSpPr>
            <a:spLocks xmlns:a="http://schemas.openxmlformats.org/drawingml/2006/main" noGrp="1"/>
          </p:cNvSpPr>
          <p:nvPr/>
        </p:nvSpPr>
        <p:spPr>
          <a:xfrm xmlns:a="http://schemas.openxmlformats.org/drawingml/2006/main">
            <a:off x="514350" y="6153150"/>
            <a:ext cx="9620250" cy="11430"/>
          </a:xfrm>
          <a:prstGeom xmlns:a="http://schemas.openxmlformats.org/drawingml/2006/main" prst="rect">
            <a:avLst/>
          </a:prstGeom>
          <a:solidFill xmlns:a="http://schemas.openxmlformats.org/drawingml/2006/main">
            <a:srgbClr val="D8D1C3"/>
          </a:solidFill>
          <a:ln xmlns:a="http://schemas.openxmlformats.org/drawingml/2006/main" w="0">
            <a:solidFill>
              <a:srgbClr val="000000">
                <a:alpha val="0"/>
              </a:srgbClr>
            </a:solidFill>
            <a:prstDash val="solid"/>
          </a:ln>
        </p:spPr>
      </p:sp>
      <p:sp>
        <p:nvSpPr>
          <p:cNvPr id="6" name="矩形 5">
            <a:extLst xmlns:a="http://schemas.openxmlformats.org/drawingml/2006/main">
              <a:ext uri="{FF2B5EF4-FFF2-40B4-BE49-F238E27FC236}">
                <a16:creationId xmlns:a16="http://schemas.microsoft.com/office/drawing/2014/main" id="{FB815C6C-E86C-4D6B-8C65-5D4CF4250B56}"/>
              </a:ext>
            </a:extLst>
          </p:cNvPr>
          <p:cNvSpPr>
            <a:spLocks xmlns:a="http://schemas.openxmlformats.org/drawingml/2006/main" noGrp="1"/>
          </p:cNvSpPr>
          <p:nvPr/>
        </p:nvSpPr>
        <p:spPr>
          <a:xfrm xmlns:a="http://schemas.openxmlformats.org/drawingml/2006/main">
            <a:off x="514350" y="6257925"/>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13" b="0">
                <a:solidFill>
                  <a:srgbClr val="5E625D"/>
                </a:solidFill>
                <a:latin typeface="Aptos"/>
                <a:ea typeface="Aptos"/>
                <a:cs typeface="Aptos"/>
              </a:defRPr>
            </a:pPr>
            <a:r>
              <a:rPr sz="713" b="0">
                <a:solidFill>
                  <a:srgbClr val="5E625D"/>
                </a:solidFill>
                <a:latin typeface="Aptos"/>
                <a:ea typeface="Aptos"/>
                <a:cs typeface="Aptos"/>
              </a:rPr>
              <a:t>Decision gate derived from the original thesis brief and the Week 04–05 evidence audit</a:t>
            </a:r>
          </a:p>
        </p:txBody>
      </p:sp>
      <p:sp>
        <p:nvSpPr>
          <p:cNvPr id="7" name="矩形 6">
            <a:extLst xmlns:a="http://schemas.openxmlformats.org/drawingml/2006/main">
              <a:ext uri="{FF2B5EF4-FFF2-40B4-BE49-F238E27FC236}">
                <a16:creationId xmlns:a16="http://schemas.microsoft.com/office/drawing/2014/main" id="{EB202910-6AFC-4B91-93BA-2895A67BCE07}"/>
              </a:ext>
            </a:extLst>
          </p:cNvPr>
          <p:cNvSpPr>
            <a:spLocks xmlns:a="http://schemas.openxmlformats.org/drawingml/2006/main" noGrp="1"/>
          </p:cNvSpPr>
          <p:nvPr/>
        </p:nvSpPr>
        <p:spPr>
          <a:xfrm xmlns:a="http://schemas.openxmlformats.org/drawingml/2006/main">
            <a:off x="11049000" y="62293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315C49"/>
                </a:solidFill>
                <a:latin typeface="Aptos"/>
                <a:ea typeface="Aptos"/>
                <a:cs typeface="Aptos"/>
              </a:defRPr>
            </a:pPr>
            <a:r>
              <a:rPr sz="900" b="1">
                <a:solidFill>
                  <a:srgbClr val="315C49"/>
                </a:solidFill>
                <a:latin typeface="Aptos"/>
                <a:ea typeface="Aptos"/>
                <a:cs typeface="Aptos"/>
              </a:rPr>
              <a:t>06</a:t>
            </a:r>
          </a:p>
        </p:txBody>
      </p:sp>
      <p:sp>
        <p:nvSpPr>
          <p:cNvPr id="8" name="矩形 7">
            <a:extLst xmlns:a="http://schemas.openxmlformats.org/drawingml/2006/main">
              <a:ext uri="{FF2B5EF4-FFF2-40B4-BE49-F238E27FC236}">
                <a16:creationId xmlns:a16="http://schemas.microsoft.com/office/drawing/2014/main" id="{74AD29CC-E8DC-448B-8514-36C4E28060FE}"/>
              </a:ext>
            </a:extLst>
          </p:cNvPr>
          <p:cNvSpPr>
            <a:spLocks xmlns:a="http://schemas.openxmlformats.org/drawingml/2006/main" noGrp="1"/>
          </p:cNvSpPr>
          <p:nvPr/>
        </p:nvSpPr>
        <p:spPr>
          <a:xfrm xmlns:a="http://schemas.openxmlformats.org/drawingml/2006/main">
            <a:off x="809625" y="2238375"/>
            <a:ext cx="2857500" cy="2047875"/>
          </a:xfrm>
          <a:prstGeom xmlns:a="http://schemas.openxmlformats.org/drawingml/2006/main" prst="rect">
            <a:avLst/>
          </a:prstGeom>
          <a:solidFill xmlns:a="http://schemas.openxmlformats.org/drawingml/2006/main">
            <a:srgbClr val="DDE8DF"/>
          </a:solidFill>
          <a:ln xmlns:a="http://schemas.openxmlformats.org/drawingml/2006/main" w="9525">
            <a:solidFill>
              <a:srgbClr val="D8D1C3"/>
            </a:solidFill>
            <a:prstDash val="solid"/>
          </a:ln>
        </p:spPr>
      </p:sp>
      <p:sp>
        <p:nvSpPr>
          <p:cNvPr id="9" name="矩形 8">
            <a:extLst xmlns:a="http://schemas.openxmlformats.org/drawingml/2006/main">
              <a:ext uri="{FF2B5EF4-FFF2-40B4-BE49-F238E27FC236}">
                <a16:creationId xmlns:a16="http://schemas.microsoft.com/office/drawing/2014/main" id="{AB759619-D00F-4012-B891-737AA86C96D0}"/>
              </a:ext>
            </a:extLst>
          </p:cNvPr>
          <p:cNvSpPr>
            <a:spLocks xmlns:a="http://schemas.openxmlformats.org/drawingml/2006/main" noGrp="1"/>
          </p:cNvSpPr>
          <p:nvPr/>
        </p:nvSpPr>
        <p:spPr>
          <a:xfrm xmlns:a="http://schemas.openxmlformats.org/drawingml/2006/main">
            <a:off x="809625" y="2238375"/>
            <a:ext cx="2857500" cy="66675"/>
          </a:xfrm>
          <a:prstGeom xmlns:a="http://schemas.openxmlformats.org/drawingml/2006/main" prst="rect">
            <a:avLst/>
          </a:prstGeom>
          <a:solidFill xmlns:a="http://schemas.openxmlformats.org/drawingml/2006/main">
            <a:srgbClr val="315C49"/>
          </a:solidFill>
          <a:ln xmlns:a="http://schemas.openxmlformats.org/drawingml/2006/main" w="0">
            <a:solidFill>
              <a:srgbClr val="000000">
                <a:alpha val="0"/>
              </a:srgbClr>
            </a:solidFill>
            <a:prstDash val="solid"/>
          </a:ln>
        </p:spPr>
      </p:sp>
      <p:sp>
        <p:nvSpPr>
          <p:cNvPr id="10" name="矩形 9">
            <a:extLst xmlns:a="http://schemas.openxmlformats.org/drawingml/2006/main">
              <a:ext uri="{FF2B5EF4-FFF2-40B4-BE49-F238E27FC236}">
                <a16:creationId xmlns:a16="http://schemas.microsoft.com/office/drawing/2014/main" id="{F97FE040-EEA0-4576-98F4-CEBE9898CB2E}"/>
              </a:ext>
            </a:extLst>
          </p:cNvPr>
          <p:cNvSpPr>
            <a:spLocks xmlns:a="http://schemas.openxmlformats.org/drawingml/2006/main" noGrp="1"/>
          </p:cNvSpPr>
          <p:nvPr/>
        </p:nvSpPr>
        <p:spPr>
          <a:xfrm xmlns:a="http://schemas.openxmlformats.org/drawingml/2006/main">
            <a:off x="1000125" y="2476500"/>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1. Confirm scope</a:t>
            </a:r>
          </a:p>
        </p:txBody>
      </p:sp>
      <p:sp>
        <p:nvSpPr>
          <p:cNvPr id="11" name="矩形 10">
            <a:extLst xmlns:a="http://schemas.openxmlformats.org/drawingml/2006/main">
              <a:ext uri="{FF2B5EF4-FFF2-40B4-BE49-F238E27FC236}">
                <a16:creationId xmlns:a16="http://schemas.microsoft.com/office/drawing/2014/main" id="{A42B2FE6-58D5-44EF-9CFE-2D943F542135}"/>
              </a:ext>
            </a:extLst>
          </p:cNvPr>
          <p:cNvSpPr>
            <a:spLocks xmlns:a="http://schemas.openxmlformats.org/drawingml/2006/main" noGrp="1"/>
          </p:cNvSpPr>
          <p:nvPr/>
        </p:nvSpPr>
        <p:spPr>
          <a:xfrm xmlns:a="http://schemas.openxmlformats.org/drawingml/2006/main">
            <a:off x="1000125" y="2905125"/>
            <a:ext cx="2476500" cy="1209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Can module/pack manufacturing become the primary case?</a:t>
            </a:r>
          </a:p>
          <a:p xmlns:a="http://schemas.openxmlformats.org/drawingml/2006/main">
            <a:r>
              <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Which product format and production environment should anchor it?</a:t>
            </a:r>
          </a:p>
        </p:txBody>
      </p:sp>
      <p:sp>
        <p:nvSpPr>
          <p:cNvPr id="12" name="矩形 11">
            <a:extLst xmlns:a="http://schemas.openxmlformats.org/drawingml/2006/main">
              <a:ext uri="{FF2B5EF4-FFF2-40B4-BE49-F238E27FC236}">
                <a16:creationId xmlns:a16="http://schemas.microsoft.com/office/drawing/2014/main" id="{4E848A93-5B4F-4EB0-8462-440C7F1B785D}"/>
              </a:ext>
            </a:extLst>
          </p:cNvPr>
          <p:cNvSpPr>
            <a:spLocks xmlns:a="http://schemas.openxmlformats.org/drawingml/2006/main" noGrp="1"/>
          </p:cNvSpPr>
          <p:nvPr/>
        </p:nvSpPr>
        <p:spPr>
          <a:xfrm xmlns:a="http://schemas.openxmlformats.org/drawingml/2006/main">
            <a:off x="4667250" y="2238375"/>
            <a:ext cx="2857500" cy="2047875"/>
          </a:xfrm>
          <a:prstGeom xmlns:a="http://schemas.openxmlformats.org/drawingml/2006/main" prst="rect">
            <a:avLst/>
          </a:prstGeom>
          <a:solidFill xmlns:a="http://schemas.openxmlformats.org/drawingml/2006/main">
            <a:srgbClr val="F1DDCF"/>
          </a:solidFill>
          <a:ln xmlns:a="http://schemas.openxmlformats.org/drawingml/2006/main" w="9525">
            <a:solidFill>
              <a:srgbClr val="D8D1C3"/>
            </a:solidFill>
            <a:prstDash val="solid"/>
          </a:ln>
        </p:spPr>
      </p:sp>
      <p:sp>
        <p:nvSpPr>
          <p:cNvPr id="13" name="矩形 12">
            <a:extLst xmlns:a="http://schemas.openxmlformats.org/drawingml/2006/main">
              <a:ext uri="{FF2B5EF4-FFF2-40B4-BE49-F238E27FC236}">
                <a16:creationId xmlns:a16="http://schemas.microsoft.com/office/drawing/2014/main" id="{727E5C90-255C-4C6D-8F56-2AD09078A0B7}"/>
              </a:ext>
            </a:extLst>
          </p:cNvPr>
          <p:cNvSpPr>
            <a:spLocks xmlns:a="http://schemas.openxmlformats.org/drawingml/2006/main" noGrp="1"/>
          </p:cNvSpPr>
          <p:nvPr/>
        </p:nvSpPr>
        <p:spPr>
          <a:xfrm xmlns:a="http://schemas.openxmlformats.org/drawingml/2006/main">
            <a:off x="4667250" y="2238375"/>
            <a:ext cx="2857500" cy="66675"/>
          </a:xfrm>
          <a:prstGeom xmlns:a="http://schemas.openxmlformats.org/drawingml/2006/main" prst="rect">
            <a:avLst/>
          </a:prstGeom>
          <a:solidFill xmlns:a="http://schemas.openxmlformats.org/drawingml/2006/main">
            <a:srgbClr val="B46B3A"/>
          </a:solidFill>
          <a:ln xmlns:a="http://schemas.openxmlformats.org/drawingml/2006/main" w="0">
            <a:solidFill>
              <a:srgbClr val="000000">
                <a:alpha val="0"/>
              </a:srgbClr>
            </a:solidFill>
            <a:prstDash val="solid"/>
          </a:ln>
        </p:spPr>
      </p:sp>
      <p:sp>
        <p:nvSpPr>
          <p:cNvPr id="14" name="矩形 13">
            <a:extLst xmlns:a="http://schemas.openxmlformats.org/drawingml/2006/main">
              <a:ext uri="{FF2B5EF4-FFF2-40B4-BE49-F238E27FC236}">
                <a16:creationId xmlns:a16="http://schemas.microsoft.com/office/drawing/2014/main" id="{421FB068-6F0C-4A77-BECF-88CC0562E59A}"/>
              </a:ext>
            </a:extLst>
          </p:cNvPr>
          <p:cNvSpPr>
            <a:spLocks xmlns:a="http://schemas.openxmlformats.org/drawingml/2006/main" noGrp="1"/>
          </p:cNvSpPr>
          <p:nvPr/>
        </p:nvSpPr>
        <p:spPr>
          <a:xfrm xmlns:a="http://schemas.openxmlformats.org/drawingml/2006/main">
            <a:off x="4857750" y="2476500"/>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2. Choose case + robot role</a:t>
            </a:r>
          </a:p>
        </p:txBody>
      </p:sp>
      <p:sp>
        <p:nvSpPr>
          <p:cNvPr id="15" name="矩形 14">
            <a:extLst xmlns:a="http://schemas.openxmlformats.org/drawingml/2006/main">
              <a:ext uri="{FF2B5EF4-FFF2-40B4-BE49-F238E27FC236}">
                <a16:creationId xmlns:a16="http://schemas.microsoft.com/office/drawing/2014/main" id="{E27DE29E-64AB-4543-A4FE-DEA68E61411F}"/>
              </a:ext>
            </a:extLst>
          </p:cNvPr>
          <p:cNvSpPr>
            <a:spLocks xmlns:a="http://schemas.openxmlformats.org/drawingml/2006/main" noGrp="1"/>
          </p:cNvSpPr>
          <p:nvPr/>
        </p:nvSpPr>
        <p:spPr>
          <a:xfrm xmlns:a="http://schemas.openxmlformats.org/drawingml/2006/main">
            <a:off x="4857750" y="2905125"/>
            <a:ext cx="2476500" cy="1209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Prioritize B, A, or C.</a:t>
            </a:r>
          </a:p>
          <a:p xmlns:a="http://schemas.openxmlformats.org/drawingml/2006/main">
            <a:r>
              <a:t/>
            </a:r>
          </a:p>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Is humanoid the main technology, one comparison architecture, or a future trend?</a:t>
            </a:r>
          </a:p>
        </p:txBody>
      </p:sp>
      <p:sp>
        <p:nvSpPr>
          <p:cNvPr id="16" name="矩形 15">
            <a:extLst xmlns:a="http://schemas.openxmlformats.org/drawingml/2006/main">
              <a:ext uri="{FF2B5EF4-FFF2-40B4-BE49-F238E27FC236}">
                <a16:creationId xmlns:a16="http://schemas.microsoft.com/office/drawing/2014/main" id="{E3AC0792-31BA-4B4F-A0CE-08E6B3B0E096}"/>
              </a:ext>
            </a:extLst>
          </p:cNvPr>
          <p:cNvSpPr>
            <a:spLocks xmlns:a="http://schemas.openxmlformats.org/drawingml/2006/main" noGrp="1"/>
          </p:cNvSpPr>
          <p:nvPr/>
        </p:nvSpPr>
        <p:spPr>
          <a:xfrm xmlns:a="http://schemas.openxmlformats.org/drawingml/2006/main">
            <a:off x="8524875" y="2238375"/>
            <a:ext cx="2857500" cy="2047875"/>
          </a:xfrm>
          <a:prstGeom xmlns:a="http://schemas.openxmlformats.org/drawingml/2006/main" prst="rect">
            <a:avLst/>
          </a:prstGeom>
          <a:solidFill xmlns:a="http://schemas.openxmlformats.org/drawingml/2006/main">
            <a:srgbClr val="E2E9ED"/>
          </a:solidFill>
          <a:ln xmlns:a="http://schemas.openxmlformats.org/drawingml/2006/main" w="9525">
            <a:solidFill>
              <a:srgbClr val="D8D1C3"/>
            </a:solidFill>
            <a:prstDash val="solid"/>
          </a:ln>
        </p:spPr>
      </p:sp>
      <p:sp>
        <p:nvSpPr>
          <p:cNvPr id="17" name="矩形 16">
            <a:extLst xmlns:a="http://schemas.openxmlformats.org/drawingml/2006/main">
              <a:ext uri="{FF2B5EF4-FFF2-40B4-BE49-F238E27FC236}">
                <a16:creationId xmlns:a16="http://schemas.microsoft.com/office/drawing/2014/main" id="{FCF33EBD-A93D-4FE9-AB7F-33B6B65CF4C0}"/>
              </a:ext>
            </a:extLst>
          </p:cNvPr>
          <p:cNvSpPr>
            <a:spLocks xmlns:a="http://schemas.openxmlformats.org/drawingml/2006/main" noGrp="1"/>
          </p:cNvSpPr>
          <p:nvPr/>
        </p:nvSpPr>
        <p:spPr>
          <a:xfrm xmlns:a="http://schemas.openxmlformats.org/drawingml/2006/main">
            <a:off x="8524875" y="2238375"/>
            <a:ext cx="2857500" cy="66675"/>
          </a:xfrm>
          <a:prstGeom xmlns:a="http://schemas.openxmlformats.org/drawingml/2006/main" prst="rect">
            <a:avLst/>
          </a:prstGeom>
          <a:solidFill xmlns:a="http://schemas.openxmlformats.org/drawingml/2006/main">
            <a:srgbClr val="597389"/>
          </a:solidFill>
          <a:ln xmlns:a="http://schemas.openxmlformats.org/drawingml/2006/main" w="0">
            <a:solidFill>
              <a:srgbClr val="000000">
                <a:alpha val="0"/>
              </a:srgbClr>
            </a:solidFill>
            <a:prstDash val="solid"/>
          </a:ln>
        </p:spPr>
      </p:sp>
      <p:sp>
        <p:nvSpPr>
          <p:cNvPr id="18" name="矩形 17">
            <a:extLst xmlns:a="http://schemas.openxmlformats.org/drawingml/2006/main">
              <a:ext uri="{FF2B5EF4-FFF2-40B4-BE49-F238E27FC236}">
                <a16:creationId xmlns:a16="http://schemas.microsoft.com/office/drawing/2014/main" id="{77773BA7-1F71-4D65-A6FB-4F9739715313}"/>
              </a:ext>
            </a:extLst>
          </p:cNvPr>
          <p:cNvSpPr>
            <a:spLocks xmlns:a="http://schemas.openxmlformats.org/drawingml/2006/main" noGrp="1"/>
          </p:cNvSpPr>
          <p:nvPr/>
        </p:nvSpPr>
        <p:spPr>
          <a:xfrm xmlns:a="http://schemas.openxmlformats.org/drawingml/2006/main">
            <a:off x="8715375" y="2476500"/>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3. Confirm validation</a:t>
            </a:r>
          </a:p>
        </p:txBody>
      </p:sp>
      <p:sp>
        <p:nvSpPr>
          <p:cNvPr id="19" name="矩形 18">
            <a:extLst xmlns:a="http://schemas.openxmlformats.org/drawingml/2006/main">
              <a:ext uri="{FF2B5EF4-FFF2-40B4-BE49-F238E27FC236}">
                <a16:creationId xmlns:a16="http://schemas.microsoft.com/office/drawing/2014/main" id="{459DAFEA-E80F-4DFF-B4B2-377AD0883D8A}"/>
              </a:ext>
            </a:extLst>
          </p:cNvPr>
          <p:cNvSpPr>
            <a:spLocks xmlns:a="http://schemas.openxmlformats.org/drawingml/2006/main" noGrp="1"/>
          </p:cNvSpPr>
          <p:nvPr/>
        </p:nvSpPr>
        <p:spPr>
          <a:xfrm xmlns:a="http://schemas.openxmlformats.org/drawingml/2006/main">
            <a:off x="8715375" y="2905125"/>
            <a:ext cx="2476500" cy="1209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88" b="0">
                <a:solidFill>
                  <a:srgbClr val="5E625D"/>
                </a:solidFill>
                <a:latin typeface="Aptos"/>
                <a:ea typeface="Aptos"/>
                <a:cs typeface="Aptos"/>
              </a:defRPr>
            </a:pPr>
            <a:r>
              <a:rPr sz="1088" b="0">
                <a:solidFill>
                  <a:srgbClr val="5E625D"/>
                </a:solidFill>
                <a:latin typeface="Aptos"/>
                <a:ea typeface="Aptos"/>
                <a:cs typeface="Aptos"/>
              </a:rPr>
              <a:t>Which PEM/FFB/industry station, expert, equipment specification, or dataset is realistically accessible?</a:t>
            </a:r>
          </a:p>
        </p:txBody>
      </p:sp>
      <p:sp>
        <p:nvSpPr>
          <p:cNvPr id="20" name="矩形 19">
            <a:extLst xmlns:a="http://schemas.openxmlformats.org/drawingml/2006/main">
              <a:ext uri="{FF2B5EF4-FFF2-40B4-BE49-F238E27FC236}">
                <a16:creationId xmlns:a16="http://schemas.microsoft.com/office/drawing/2014/main" id="{10165C83-EC73-43E7-B4CF-F44CB4385D5B}"/>
              </a:ext>
            </a:extLst>
          </p:cNvPr>
          <p:cNvSpPr>
            <a:spLocks xmlns:a="http://schemas.openxmlformats.org/drawingml/2006/main" noGrp="1"/>
          </p:cNvSpPr>
          <p:nvPr/>
        </p:nvSpPr>
        <p:spPr>
          <a:xfrm xmlns:a="http://schemas.openxmlformats.org/drawingml/2006/main">
            <a:off x="1238250" y="5029200"/>
            <a:ext cx="9715500" cy="514350"/>
          </a:xfrm>
          <a:prstGeom xmlns:a="http://schemas.openxmlformats.org/drawingml/2006/main" prst="rect">
            <a:avLst/>
          </a:prstGeom>
          <a:solidFill xmlns:a="http://schemas.openxmlformats.org/drawingml/2006/main">
            <a:srgbClr val="315C49"/>
          </a:solidFill>
          <a:ln xmlns:a="http://schemas.openxmlformats.org/drawingml/2006/main" w="0">
            <a:solidFill>
              <a:srgbClr val="000000">
                <a:alpha val="0"/>
              </a:srgbClr>
            </a:solidFill>
            <a:prstDash val="solid"/>
          </a:ln>
        </p:spPr>
      </p:sp>
      <p:sp>
        <p:nvSpPr>
          <p:cNvPr id="21" name="矩形 20">
            <a:extLst xmlns:a="http://schemas.openxmlformats.org/drawingml/2006/main">
              <a:ext uri="{FF2B5EF4-FFF2-40B4-BE49-F238E27FC236}">
                <a16:creationId xmlns:a16="http://schemas.microsoft.com/office/drawing/2014/main" id="{C3158F5B-FFB2-46DC-B440-BA3EDEDE6750}"/>
              </a:ext>
            </a:extLst>
          </p:cNvPr>
          <p:cNvSpPr>
            <a:spLocks xmlns:a="http://schemas.openxmlformats.org/drawingml/2006/main" noGrp="1"/>
          </p:cNvSpPr>
          <p:nvPr/>
        </p:nvSpPr>
        <p:spPr>
          <a:xfrm xmlns:a="http://schemas.openxmlformats.org/drawingml/2006/main">
            <a:off x="1524000" y="5172075"/>
            <a:ext cx="914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Next week: lock one case charter—task, battery requirement, baseline, method, evidence, and validation.</a:t>
            </a:r>
          </a:p>
        </p:txBody>
      </p:sp>
    </p:spTree>
    <p:extLst>
      <p:ext uri="{BB962C8B-B14F-4D97-AF65-F5344CB8AC3E}">
        <p14:creationId xmlns:p14="http://schemas.microsoft.com/office/powerpoint/2010/main" val="21008212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2026-08-12T12:11:12.5360000Z</dcterms:created>
  <dcterms:modified xsi:type="dcterms:W3CDTF">2026-08-12T12:11:12.5360000Z</dcterms:modified>
</coreProperties>
</file>