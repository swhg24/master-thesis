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7e82300bc24e88" /><Relationship Type="http://schemas.openxmlformats.org/officeDocument/2006/relationships/extended-properties" Target="/docProps/app.xml" Id="R873c27b270d74b7c" /><Relationship Type="http://schemas.openxmlformats.org/officeDocument/2006/relationships/officeDocument" Target="/ppt/presentation.xml" Id="Ra77dfb4bbe244f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efe6a0c1e45aa"/>
  </p:sldMasterIdLst>
  <p:notesMasterIdLst>
    <p:notesMasterId xmlns:r="http://schemas.openxmlformats.org/officeDocument/2006/relationships" r:id="Rb9613814a0c64583"/>
  </p:notesMasterIdLst>
  <p:sldIdLst>
    <p:sldId xmlns:r="http://schemas.openxmlformats.org/officeDocument/2006/relationships" id="256" r:id="R895dcfc71bf547e6"/>
    <p:sldId xmlns:r="http://schemas.openxmlformats.org/officeDocument/2006/relationships" id="257" r:id="Rc8814618fdfc41b8"/>
    <p:sldId xmlns:r="http://schemas.openxmlformats.org/officeDocument/2006/relationships" id="258" r:id="R0b013fee16dc43df"/>
    <p:sldId xmlns:r="http://schemas.openxmlformats.org/officeDocument/2006/relationships" id="259" r:id="R72224217b65b45a9"/>
    <p:sldId xmlns:r="http://schemas.openxmlformats.org/officeDocument/2006/relationships" id="260" r:id="R37c2b98efdfe4ef3"/>
    <p:sldId xmlns:r="http://schemas.openxmlformats.org/officeDocument/2006/relationships" id="261" r:id="R4b5d412cdf1847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107da72d7044af" /><Relationship Type="http://schemas.openxmlformats.org/officeDocument/2006/relationships/slideMaster" Target="/ppt/slideMasters/slideMaster1.xml" Id="R902efe6a0c1e45aa" /><Relationship Type="http://schemas.openxmlformats.org/officeDocument/2006/relationships/notesMaster" Target="/ppt/notesMasters/notesMaster1.xml" Id="Rb9613814a0c64583" /><Relationship Type="http://schemas.openxmlformats.org/officeDocument/2006/relationships/presProps" Target="/ppt/presProps.xml" Id="Rf4b2c2a741ae406e" /><Relationship Type="http://schemas.openxmlformats.org/officeDocument/2006/relationships/viewProps" Target="/ppt/viewProps.xml" Id="R4619415333974708" /><Relationship Type="http://schemas.openxmlformats.org/officeDocument/2006/relationships/tableStyles" Target="/ppt/tableStyles.xml" Id="R9e28cab38eef4019" /><Relationship Type="http://schemas.openxmlformats.org/officeDocument/2006/relationships/slide" Target="/ppt/slides/slide1.xml" Id="R895dcfc71bf547e6" /><Relationship Type="http://schemas.openxmlformats.org/officeDocument/2006/relationships/slide" Target="/ppt/slides/slide2.xml" Id="Rc8814618fdfc41b8" /><Relationship Type="http://schemas.openxmlformats.org/officeDocument/2006/relationships/slide" Target="/ppt/slides/slide3.xml" Id="R0b013fee16dc43df" /><Relationship Type="http://schemas.openxmlformats.org/officeDocument/2006/relationships/slide" Target="/ppt/slides/slide4.xml" Id="R72224217b65b45a9" /><Relationship Type="http://schemas.openxmlformats.org/officeDocument/2006/relationships/slide" Target="/ppt/slides/slide5.xml" Id="R37c2b98efdfe4ef3" /><Relationship Type="http://schemas.openxmlformats.org/officeDocument/2006/relationships/slide" Target="/ppt/slides/slide6.xml" Id="R4b5d412cdf1847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6c5106531141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10b186017e4edb" /><Relationship Type="http://schemas.openxmlformats.org/officeDocument/2006/relationships/notesMaster" Target="/ppt/notesMasters/notesMaster1.xml" Id="R9d315ad71e034a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63f1bfe58342f5" /><Relationship Type="http://schemas.openxmlformats.org/officeDocument/2006/relationships/notesMaster" Target="/ppt/notesMasters/notesMaster1.xml" Id="R7e7031f9fb8b4b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c8028905574a30" /><Relationship Type="http://schemas.openxmlformats.org/officeDocument/2006/relationships/notesMaster" Target="/ppt/notesMasters/notesMaster1.xml" Id="Rbe39c98f470941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dfbb68a39b4ea4" /><Relationship Type="http://schemas.openxmlformats.org/officeDocument/2006/relationships/notesMaster" Target="/ppt/notesMasters/notesMaster1.xml" Id="Re9d76babe27545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331501cd124858" /><Relationship Type="http://schemas.openxmlformats.org/officeDocument/2006/relationships/notesMaster" Target="/ppt/notesMasters/notesMaster1.xml" Id="R032181b6bd8c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620127e71d4084" /><Relationship Type="http://schemas.openxmlformats.org/officeDocument/2006/relationships/notesMaster" Target="/ppt/notesMasters/notesMaster1.xml" Id="R3b256b05d70143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 I will give a concise Week 03 update around the same three questions: what I did, what problem I found, and what I will do next week. In response to the last feedback, I stopped comparing several robotics candidates at a high level and selected one learning case: tray transport between formation, aging, and end-of-line testing. I then decomposed this case from the process functions to transport requests, waiting, and equipment handover. The main progress is therefore not a final AGV model. It is a more concrete, process-specific understanding of what the transport system would actually need to 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decomposed the selected case into four layers. First, I separated the functions of formation, room-temperature aging, end-of-line testing, and grading, because they do not create the same process or storage requirements. Second, I examined the carrier flow and learned that two neighboring process steps do not automatically create a transport task; a task exists only when the locations are separated and the carrier must move. Third, I separated process completion, load release, request creation, waiting, pickup, delivery, destination acceptance, and the final state update. Finally, I distinguished fleet sizing, dispatching, routing, traffic control, and physical handover instead of calling everything AGV scheduling. This gives me a clearer basis for later modelling and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decomposed the selected case into four layers. First, I separated the functions of formation, room-temperature aging, end-of-line testing, and grading, because they do not create the same process or storage requirements. Second, I examined the carrier flow and learned that two neighboring process steps do not automatically create a transport task; a task exists only when the locations are separated and the carrier must move. Third, I separated process completion, load release, request creation, waiting, pickup, delivery, destination acceptance, and the final state update. Finally, I distinguished fleet sizing, dispatching, routing, traffic control, and physical handover instead of calling everything AGV scheduling. This gives me a clearer basis for later modelling and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problem is now more specific than simply saying that data are missing. The literature supports several parts of the model: cell-finishing routes vary by manufacturer and cell format, AGV systems contain different design and control decisions, and there is at least one real AGV case in rechargeable-battery production. However, the connection to our selected tray-flow case is still conditional. I can infer that physical separation and carrier relocation create a transport task, and that delays may cause blocking or starvation under certain buffer conditions. But the cell format, transport unit, tray continuity, handover interface, layout, takt time, empty-carrier flow, AGV number, and even the use of AGVs are still unknown. Therefore, this is a conceptual model, not a confirmed factory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test the evidence boundary, I studied the closest public AGV case I found in rechargeable-battery production. The case is valuable because it uses actual job records and a real site configuration with nine AGVs, one hundred ports, and four charging stations, and it evaluates an idle-vehicle parking policy. However, the paper does not disclose what material is transported or which battery process is involved. It does not mention formation, aging, end-of-line testing, trays, or the handover interface. I therefore use it as direct evidence that an AGV-system problem exists in battery production, but only as adjacent evidence for my cell-finishing case. I should not transfer its reported performance results or parameters to my scenario without process-specific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week I will test whether the possible research gap is real before I define a simulation study. First, I will search specifically for research that connects cell finishing, carrier flow, and AGV or material-handling design, and I will classify the results as direct, adjacent, or false matches. Second, I will build one comparison table and actively search for counterexamples that may already connect process constraints with mobile transport decisions. Third, I will keep only one or two candidate gaps and convert the remaining unknown interfaces and parameters into focused expert questions. At this point, I would like to ask whether this level of decomposition is concrete enough, and whether I should prioritize academic counterexamples or industrial interface evidence in the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8b18957564e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b84d5330544f6e" /><Relationship Type="http://schemas.openxmlformats.org/officeDocument/2006/relationships/slideLayout" Target="/ppt/slideLayouts/slideLayout1.xml" Id="Rb86b4b1e597b49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6b4b1e597b49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f1382165c456e" /><Relationship Type="http://schemas.openxmlformats.org/officeDocument/2006/relationships/notesSlide" Target="/ppt/notesSlides/notesSlide1.xml" Id="R5c03c07314e8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c126ee1d14459" /><Relationship Type="http://schemas.openxmlformats.org/officeDocument/2006/relationships/notesSlide" Target="/ppt/notesSlides/notesSlide2.xml" Id="R948b836167a24e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68a701a4a4ef2" /><Relationship Type="http://schemas.openxmlformats.org/officeDocument/2006/relationships/notesSlide" Target="/ppt/notesSlides/notesSlide3.xml" Id="R74fcd4a46f2645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fc493b3fd4c3f" /><Relationship Type="http://schemas.openxmlformats.org/officeDocument/2006/relationships/notesSlide" Target="/ppt/notesSlides/notesSlide4.xml" Id="R72942d218b5b46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b6d7e0ba44853" /><Relationship Type="http://schemas.openxmlformats.org/officeDocument/2006/relationships/notesSlide" Target="/ppt/notesSlides/notesSlide5.xml" Id="R9b5b742aca0e41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7147daf1643c9" /><Relationship Type="http://schemas.openxmlformats.org/officeDocument/2006/relationships/notesSlide" Target="/ppt/notesSlides/notesSlide6.xml" Id="R563d6ee7660b48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B57BA72-5BCA-4E6C-B31F-49203BE9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612BEC4B-5D21-4EEF-B4A9-E899ABFD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BBA4343D-859B-4C4B-A0A6-D041D350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33F659E-A3B3-485D-83A4-D2AE77F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Week 04–05 update: evidence changed the direction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786B3CA-566B-4DB7-80EE-E1333573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D5FEA4F-6EE3-4BC1-ACD1-9136DC9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Week 04–05 group meeting | Robotic systems in battery manufacturing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E63D1E8-42E4-44A9-8E51-63AA0B8A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C49EFB7-933B-45A1-84A8-6EE992A6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Main message: One candidate became a baseline; I returned to clearer robotics cases.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61287F-01CD-42D4-86D0-1AFDDFDF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43D4C4-8AEE-47F8-B009-E9612D66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68135E3-EE11-4E9A-A28E-5A2ADF0B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1. What I did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3BAE0F9-C0F7-438E-8EF3-EFB2BAE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476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Audited cell-finishing carrier flow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Tested one formation-loading interface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0375BAD-FBED-44A7-B1F9-D5E27327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8588ECF-9983-4CE8-901D-9FC38D55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C0C0DE5-C240-48C5-9BBA-BD76F318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2. What is the problem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E3B8EA-FE13-4C2C-A121-6C27743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2476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Battery-specific conditions did not clearly change the fixed transfer task.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ECA506B-4A9A-40FB-9CC5-A9DEACF5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2093E58-0183-41C3-9927-D9F732F1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8592CC6-A73C-41B2-B528-2AFC860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3. What I need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5976506-0752-4D76-B925-CEE21FD8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476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Thomas decision on scope, case priority, humanoid role, and validation access.</a:t>
            </a:r>
          </a:p>
        </p:txBody>
      </p:sp>
    </p:spTree>
    <p:extLst>
      <p:ext uri="{BB962C8B-B14F-4D97-AF65-F5344CB8AC3E}">
        <p14:creationId xmlns:p14="http://schemas.microsoft.com/office/powerpoint/2010/main" val="18307776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EB71877-DC0F-44F2-8047-460D5A8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2559543-829F-4655-ACC4-FE82F6A2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215A233-EC9A-4B73-9DD7-49BF5E2B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WEEK 04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4B04BB-9AF0-4208-B234-E072C13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Existing research already covers configurations and interfaces.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9DCF76F-F8BF-40C4-8642-343BC589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D7F2AB0-20BB-404C-A9B9-48621C6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Sources: Wanner et al. 2022; Schomburg et al. 2024; Deng et al. 2026; Lee et al. 2024 | Evidence boundaries retained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7E8BA48-1577-48AB-92FE-283166A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45A0D0-7355-4409-8D55-FE2ACB6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9F86C95-080F-47CC-9C10-B104EB79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15F98-63B9-4E83-A792-E5E3B90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B2AA8A-AF68-420C-AA40-22690792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 established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7966F74-ECC5-478E-9359-23F3A50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C64017-1033-4C5E-9C2F-6ACE0E50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implication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B095CD-5DC3-4341-9E23-99C512D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AE4D640-38B5-4469-9424-901CD462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State of the art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3361C8F-F913-4995-AC7B-91F83AD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7E5C3B-0873-4736-B1A4-346392F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Manual and fully automated tray-based configurations exist.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03DDBF-B8E9-47B1-9355-2A5D252D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18AEFF3-779D-4C80-8B0A-1D7C675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‘Fully automated’ does not prove AGV transport.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28D5AA5-E361-4C4D-BFCC-52C0446A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D7C2C81-CF3A-4ADF-9410-9DC6DE0B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Carrier role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4FEBE67-61B3-4A42-BC56-A888C47E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7B7A232-009A-4411-A6AF-C34391D8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Some carriers also provide contact, fixture, or controlled pressure.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C0DF377-59F5-402E-B3CC-860087AE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3F9C5D7-21D8-45D8-965F-20B11A12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A carrier is not always a passive logistics unit.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2CE93A6-F89F-4880-816D-E2F157F1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84E4208-32C4-4180-A659-EC747DB7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Counterexample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9AAEFEF-9483-4C92-8632-A4C69B27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3C05742-D5E5-499D-9947-9350683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Deng models physical interfaces and intralogistics transitions.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C0834C7-2039-472C-BEC0-87466C2E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AC9261E-2D22-4B2A-B760-D3331EA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No claim that interfaces or logistics were never studied.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E6BA80B-C869-40BB-B3C0-C58BEA2E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7BFE6E3-3186-4246-94E8-439B9BA7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Week 04 decision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06AF5A6-A76A-4917-8852-E524D6C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1984449-24E8-4D3D-AE06-5519B7F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Kept handover and exception flow only as testable candidates.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548144B-9C7C-497E-9995-DA41D9E4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30D8BD5-FD37-41BE-8495-D199CE68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No final gap; no simulation without a validated task.</a:t>
            </a:r>
          </a:p>
        </p:txBody>
      </p:sp>
    </p:spTree>
    <p:extLst>
      <p:ext uri="{BB962C8B-B14F-4D97-AF65-F5344CB8AC3E}">
        <p14:creationId xmlns:p14="http://schemas.microsoft.com/office/powerpoint/2010/main" val="6734119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EB71877-DC0F-44F2-8047-460D5A8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2559543-829F-4655-ACC4-FE82F6A2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215A233-EC9A-4B73-9DD7-49BF5E2B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WEEK 05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4B04BB-9AF0-4208-B234-E072C13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One formation-loading architecture became a bounded baseline.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9DCF76F-F8BF-40C4-8642-343BC589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D7F2AB0-20BB-404C-A9B9-48621C6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Source: CN118970237A, description [0061]–[0062] | Patent disclosure, not deployment validation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7E8BA48-1577-48AB-92FE-283166A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45A0D0-7355-4409-8D55-FE2ACB6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9F86C95-080F-47CC-9C10-B104EB79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15F98-63B9-4E83-A792-E5E3B90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B2AA8A-AF68-420C-AA40-22690792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 evidence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7966F74-ECC5-478E-9359-23F3A50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C64017-1033-4C5E-9C2F-6ACE0E50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B095CD-5DC3-4341-9E23-99C512D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AE4D640-38B5-4469-9424-901CD462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3361C8F-F913-4995-AC7B-91F83AD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7E5C3B-0873-4736-B1A4-346392F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Inbound machine 27 → stacker crane 28 → formation equipment 3.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03DDBF-B8E9-47B1-9355-2A5D252D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18AEFF3-779D-4C80-8B0A-1D7C675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Fixed automation; not an AGV deployment.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28D5AA5-E361-4C4D-BFCC-52C0446A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D7C2C81-CF3A-4ADF-9410-9DC6DE0B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Flow object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4FEBE67-61B3-4A42-BC56-A888C47E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7B7A232-009A-4411-A6AF-C34391D8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A carrier/tray holds multiple cells and is transferred into formation.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C0DF377-59F5-402E-B3CC-860087AE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3F9C5D7-21D8-45D8-965F-20B11A12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Pickup port, receiving port, and final contact remain unknown.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2CE93A6-F89F-4880-816D-E2F157F1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84E4208-32C4-4180-A659-EC747DB7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Responsibility audit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9AAEFEF-9483-4C92-8632-A4C69B27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3C05742-D5E5-499D-9947-9350683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Tested position, locking, contact, identity, and readiness.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C0834C7-2039-472C-BEC0-87466C2E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AC9261E-2D22-4B2A-B760-D3331EA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No same-case evidence that they change the stacker-crane task.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E6BA80B-C869-40BB-B3C0-C58BEA2E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7BFE6E3-3186-4246-94E8-439B9BA7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Week 05 decision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06AF5A6-A76A-4917-8852-E524D6C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1984449-24E8-4D3D-AE06-5519B7F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Retain B2 as a fixed-automation baseline and counterexample.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548144B-9C7C-497E-9995-DA41D9E4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30D8BD5-FD37-41BE-8495-D199CE68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Exit the thesis-candidate path; return to the robotics map.</a:t>
            </a:r>
          </a:p>
        </p:txBody>
      </p:sp>
    </p:spTree>
    <p:extLst>
      <p:ext uri="{BB962C8B-B14F-4D97-AF65-F5344CB8AC3E}">
        <p14:creationId xmlns:p14="http://schemas.microsoft.com/office/powerpoint/2010/main" val="6734119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7943506-0EEF-48F6-A2C3-18CDF84D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174E8124-537B-4D3F-9646-C59C9C60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9D3D9169-9990-413F-9B21-A390A784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32BB5CE-8DFE-4F60-AA07-EF3734A2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The missing link is a battery requirement that changes a robot task.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7F2B88B-CC6D-4BC4-9C65-17CE58C6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F27EC39-8A3A-4BD2-96FE-1B8ED7C1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Direction criterion: Thomas original thesis brief + Week 05 robotics-relevance gate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EEACF1E-03D7-4021-9655-DBAE7D07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05EBB6-6251-4BAB-B7CE-71A323DB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D564F46-3738-4009-967F-DC6649B1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175F7B6-1998-44DA-A8AB-B1998BC0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Direct battery evidence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A8B5354-9BE4-4BD4-BA1F-370550FC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YES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The architecture belongs to cell formation and moves a battery carrier.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C8305F1-E5AF-4894-8104-C82B8868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C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A410DF0-97B1-4239-846D-7A3C696A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0C62A9-C1A2-4BED-A35B-7EC1CCD9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Battery effect on robot task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D0A2A5-D171-40F6-A2C6-F369E00E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NO DIRECT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Identity is known; locking, contact, and precision are not shown to alter the transfer task.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C45DDAD-B473-4D2A-909B-B2910352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ED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5FEA89E-963D-4704-9DE6-F1177EB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4B4E663-E031-4714-B7B5-70733A9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Validation route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5097C3-394C-4163-B171-D4966DF8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NOT ESTABLISHED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No accessible interface, expert, or dataset confirms a meaningful remaining problem.</a:t>
            </a:r>
          </a:p>
        </p:txBody>
      </p:sp>
    </p:spTree>
    <p:extLst>
      <p:ext uri="{BB962C8B-B14F-4D97-AF65-F5344CB8AC3E}">
        <p14:creationId xmlns:p14="http://schemas.microsoft.com/office/powerpoint/2010/main" val="10349030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8CD10F4-E482-475D-937D-400679B0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63C30FAA-40F3-4AA3-A9AE-962BACE4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D67F532F-1B89-4E15-B090-50A0AD8D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DIRECTION RESET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CC49A7-01B0-4E79-A4C3-3E9765B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Three candidates restore an explicit robot actor and task.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EAD11E-BE2C-41D4-AA37-C17118AF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AA60F74-8C0F-4973-B394-AB63162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Evidence: direct company disclosures define tasks; performance and maturity remain independently unverified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1CE26EC-70B0-453B-88F1-07A87BE5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B255AAE-F081-4962-9CB7-59334E1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90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8BEA1D-F9B5-465B-A018-56C95254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90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B8A6173-F37E-4E7D-8523-64548DFB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B — Pack EoL/DCR connectors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909B475-0F05-4863-AE50-61BC4A4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8098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Locate, insert, verify, and remove flexible test connectors.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Compare dedicated automation, fixed robots, and mobile/humanoid systems.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95733E-3F1B-4F91-8AEA-CF80455B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3FBCB0-9638-4111-A761-6A11F45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CONDITIONAL PRIMARY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F6A1DCB-59F8-4582-AF1F-FE80A00D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E1FCEE6-2655-43A4-8AF0-947BD260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EC5772-FF10-4196-B255-A7A1549B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A — Cell grasping &amp; loading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CEA8F51-AA59-461B-BA8A-7D001B0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8098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Identify incoming cells, plan the grasp, pick, and load for module/pack assembly.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Needs a clearer destination and interface.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8DA2B8D-FF9E-4A8D-85A8-A1B5CE9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2437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0DDB4D-FAB9-4B80-AF16-289E2A46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B46B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46B3A"/>
                </a:solidFill>
                <a:latin typeface="Aptos"/>
                <a:ea typeface="Aptos"/>
                <a:cs typeface="Aptos"/>
              </a:rPr>
              <a:t>STRONG BACKUP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BF41D8E-1ED4-4CA0-896F-CCCA5C41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90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DFA5472-0477-4574-A99E-BA897E1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90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AE841EA-4FF3-4E9F-84C1-6F4CF60F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C — Multi-station handling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642F8A4-172D-4956-9298-4E9D0FA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19375"/>
            <a:ext cx="28098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Module/pack material handling and picking across stations.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Flow object, handover, and battery-specific effect remain unclear.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47A4A78-5257-4EE8-AC04-7F45686B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E14F1CC-4D4C-4C41-B143-73705C95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59738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7389"/>
                </a:solidFill>
                <a:latin typeface="Aptos"/>
                <a:ea typeface="Aptos"/>
                <a:cs typeface="Aptos"/>
              </a:rPr>
              <a:t>EXPLORATORY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26C46B3-D347-4AF9-A5EA-F6AF4F20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All three remain candidates; each needs a battery-specific requirement, baseline, and validation route.</a:t>
            </a:r>
          </a:p>
        </p:txBody>
      </p:sp>
    </p:spTree>
    <p:extLst>
      <p:ext uri="{BB962C8B-B14F-4D97-AF65-F5344CB8AC3E}">
        <p14:creationId xmlns:p14="http://schemas.microsoft.com/office/powerpoint/2010/main" val="4090729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8FE5911-D2B9-406B-9BAF-79B24AEF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19E970EF-F549-4928-AEB1-B697DED6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0B1403A-3E0A-403C-91FF-EF3DB71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THOMAS DECISION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FEBF03F-6ACD-4EC3-90B1-2268C44B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Next week should lock one case—not expand the map again.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FF21A77-70BB-4991-AD88-45B7CF84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815C6C-E86C-4D6B-8C65-5D4CF425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Decision gate derived from the original thesis brief and the Week 04–05 evidence audit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202910-6AFC-4B91-93BA-2895A67B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4AD29CC-E8DC-448B-8514-36C4E280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57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B759619-D00F-4012-B891-737AA86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97FE040-EEA0-4576-98F4-CEBE989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1. Confirm scope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42B2FE6-58D5-44EF-9CFE-2D943F54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2476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Can module/pack manufacturing become the primary case?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Which product format and production environment should anchor it?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E848A93-5B4F-4EB0-8462-440C7F1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C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27E5C90-255C-4C6D-8F56-2AD09078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21FB068-6F0C-4A77-BECF-88CC0562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2. Choose case + robot role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27DE29E-64AB-4543-A4FE-DEA68E6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05125"/>
            <a:ext cx="2476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Prioritize B, A, or 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Is humanoid the main technology, one comparison architecture, or a future trend?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3AC0792-31BA-4B4F-A0CE-08E6B3B0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857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ED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CF33EBD-A93D-4FE9-AB7F-33B6B65C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7773BA7-1F71-4D65-A6FB-4F97397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3. Confirm validation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59DAFEA-E80F-4DFF-B4B2-377AD08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05125"/>
            <a:ext cx="2476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Which PEM/FFB/industry station, expert, equipment specification, or dataset is realistically accessible?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0165C83-EC73-43E7-B4CF-F44CB438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3158F5B-FFB2-46DC-B440-BA3EDEDE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week: lock one case charter—task, battery requirement, baseline, method, evidence,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2100821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2026-08-12T12:01:03.8370000Z</dcterms:created>
  <dcterms:modified xsi:type="dcterms:W3CDTF">2026-08-12T12:01:03.8370000Z</dcterms:modified>
</coreProperties>
</file>