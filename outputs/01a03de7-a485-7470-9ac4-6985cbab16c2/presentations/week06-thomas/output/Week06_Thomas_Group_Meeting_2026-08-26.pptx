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35aef9edd4ecf" /><Relationship Type="http://schemas.openxmlformats.org/officeDocument/2006/relationships/extended-properties" Target="/docProps/app.xml" Id="R54bff77eb6ff4902" /><Relationship Type="http://schemas.openxmlformats.org/officeDocument/2006/relationships/officeDocument" Target="/ppt/presentation.xml" Id="R3130b5a64b43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370e93ee6349fd"/>
  </p:sldMasterIdLst>
  <p:notesMasterIdLst>
    <p:notesMasterId xmlns:r="http://schemas.openxmlformats.org/officeDocument/2006/relationships" r:id="Rde8c7dc8bcd74f65"/>
  </p:notesMasterIdLst>
  <p:sldIdLst>
    <p:sldId xmlns:r="http://schemas.openxmlformats.org/officeDocument/2006/relationships" id="256" r:id="R326424d9500a4f9b"/>
    <p:sldId xmlns:r="http://schemas.openxmlformats.org/officeDocument/2006/relationships" id="257" r:id="R5200633321ba44c9"/>
    <p:sldId xmlns:r="http://schemas.openxmlformats.org/officeDocument/2006/relationships" id="258" r:id="Raf147d985d864b47"/>
    <p:sldId xmlns:r="http://schemas.openxmlformats.org/officeDocument/2006/relationships" id="259" r:id="Rfe6413bda1964948"/>
    <p:sldId xmlns:r="http://schemas.openxmlformats.org/officeDocument/2006/relationships" id="260" r:id="R4768bfcece9f4c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14f44b340e4ac6" /><Relationship Type="http://schemas.openxmlformats.org/officeDocument/2006/relationships/slideMaster" Target="/ppt/slideMasters/slideMaster1.xml" Id="R9d370e93ee6349fd" /><Relationship Type="http://schemas.openxmlformats.org/officeDocument/2006/relationships/notesMaster" Target="/ppt/notesMasters/notesMaster1.xml" Id="Rde8c7dc8bcd74f65" /><Relationship Type="http://schemas.openxmlformats.org/officeDocument/2006/relationships/presProps" Target="/ppt/presProps.xml" Id="R5375c5338d624f0f" /><Relationship Type="http://schemas.openxmlformats.org/officeDocument/2006/relationships/viewProps" Target="/ppt/viewProps.xml" Id="R0b4d4b95c1bd46a8" /><Relationship Type="http://schemas.openxmlformats.org/officeDocument/2006/relationships/tableStyles" Target="/ppt/tableStyles.xml" Id="R13472b6869bb4ee7" /><Relationship Type="http://schemas.openxmlformats.org/officeDocument/2006/relationships/slide" Target="/ppt/slides/slide1.xml" Id="R326424d9500a4f9b" /><Relationship Type="http://schemas.openxmlformats.org/officeDocument/2006/relationships/slide" Target="/ppt/slides/slide2.xml" Id="R5200633321ba44c9" /><Relationship Type="http://schemas.openxmlformats.org/officeDocument/2006/relationships/slide" Target="/ppt/slides/slide3.xml" Id="Raf147d985d864b47" /><Relationship Type="http://schemas.openxmlformats.org/officeDocument/2006/relationships/slide" Target="/ppt/slides/slide4.xml" Id="Rfe6413bda1964948" /><Relationship Type="http://schemas.openxmlformats.org/officeDocument/2006/relationships/slide" Target="/ppt/slides/slide5.xml" Id="R4768bfcece9f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6d20d2b16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9ab3d11ae84ca6" /><Relationship Type="http://schemas.openxmlformats.org/officeDocument/2006/relationships/notesMaster" Target="/ppt/notesMasters/notesMaster1.xml" Id="R0af9e8206ebc4c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345da705a443a" /><Relationship Type="http://schemas.openxmlformats.org/officeDocument/2006/relationships/notesMaster" Target="/ppt/notesMasters/notesMaster1.xml" Id="Ra582ff97b2df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5fed47b30d4ba5" /><Relationship Type="http://schemas.openxmlformats.org/officeDocument/2006/relationships/notesMaster" Target="/ppt/notesMasters/notesMaster1.xml" Id="R910efb1614514d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10ff17bad349d4" /><Relationship Type="http://schemas.openxmlformats.org/officeDocument/2006/relationships/notesMaster" Target="/ppt/notesMasters/notesMaster1.xml" Id="R8d8a2c04442f41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0fb120990400b" /><Relationship Type="http://schemas.openxmlformats.org/officeDocument/2006/relationships/notesMaster" Target="/ppt/notesMasters/notesMaster1.xml" Id="R9141b0342cc3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4cc2cd99c4b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acb6b59724313" /><Relationship Type="http://schemas.openxmlformats.org/officeDocument/2006/relationships/slideLayout" Target="/ppt/slideLayouts/slideLayout1.xml" Id="R96b44bc0047b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44bc0047b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7b64984cc4c29" /><Relationship Type="http://schemas.openxmlformats.org/officeDocument/2006/relationships/notesSlide" Target="/ppt/notesSlides/notesSlide1.xml" Id="Reb883b5753da4a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76d8df5e84ff0" /><Relationship Type="http://schemas.openxmlformats.org/officeDocument/2006/relationships/notesSlide" Target="/ppt/notesSlides/notesSlide2.xml" Id="R17f3b5a242814e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439e85a4c4b38" /><Relationship Type="http://schemas.openxmlformats.org/officeDocument/2006/relationships/notesSlide" Target="/ppt/notesSlides/notesSlide3.xml" Id="R2637094bfaae41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36a6f87974786" /><Relationship Type="http://schemas.openxmlformats.org/officeDocument/2006/relationships/notesSlide" Target="/ppt/notesSlides/notesSlide4.xml" Id="R599b511e4f5847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f96a8ecc14b0f" /><Relationship Type="http://schemas.openxmlformats.org/officeDocument/2006/relationships/notesSlide" Target="/ppt/notesSlides/notesSlide5.xml" Id="R8a9f598f9b1747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B2E4CF-879A-4825-9C83-C14A878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99569ED2-EE8D-4523-88C3-2FA1C59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462C7D8-7990-4CBB-B2CE-79942688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WEEK 06 UPDATE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6A594AF-BB34-4D72-AEB6-8FA700D7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"/>
            <a:ext cx="1133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Week 06 turned one use case into a repeatable assessment method.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A8B12D-493D-4A1D-80BD-EA6D916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050D022-6C77-4D0E-B0A0-9A10A0AF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C00F83E-6A75-485B-AC97-4652F71B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43675"/>
            <a:ext cx="1019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Sources: Week 06 Day 1–5 synthesis; 2026-08-26 Thomas meeting outline; registration consensus 2026-08-20.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83EBACD-0A9C-4EDC-9839-0AA0180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45C44-AEA3-4584-B6E4-09F9D3B6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1143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Pack EoL test-connector handling was the deep reference case—not the final thesis boundary.</a:t>
            </a:r>
          </a:p>
        </p:txBody>
      </p:sp>
      <p:sp>
        <p:nvSpPr>
          <p:cNvPr id="10" name="did-panel">
            <a:extLst xmlns:a="http://schemas.openxmlformats.org/drawingml/2006/main">
              <a:ext uri="{FF2B5EF4-FFF2-40B4-BE49-F238E27FC236}">
                <a16:creationId xmlns:a16="http://schemas.microsoft.com/office/drawing/2014/main" id="{59D4BA31-5F33-4918-9642-A5ED494E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47875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1" name="did-panel-accent">
            <a:extLst xmlns:a="http://schemas.openxmlformats.org/drawingml/2006/main">
              <a:ext uri="{FF2B5EF4-FFF2-40B4-BE49-F238E27FC236}">
                <a16:creationId xmlns:a16="http://schemas.microsoft.com/office/drawing/2014/main" id="{E8617017-421E-466B-A341-F8A8CB61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4787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d-panel-title">
            <a:extLst xmlns:a="http://schemas.openxmlformats.org/drawingml/2006/main">
              <a:ext uri="{FF2B5EF4-FFF2-40B4-BE49-F238E27FC236}">
                <a16:creationId xmlns:a16="http://schemas.microsoft.com/office/drawing/2014/main" id="{9004BC13-39F7-4CDE-83A4-B8A8AA6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3133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1  What I did</a:t>
            </a:r>
          </a:p>
        </p:txBody>
      </p:sp>
      <p:sp>
        <p:nvSpPr>
          <p:cNvPr id="13" name="did-panel-body">
            <a:extLst xmlns:a="http://schemas.openxmlformats.org/drawingml/2006/main">
              <a:ext uri="{FF2B5EF4-FFF2-40B4-BE49-F238E27FC236}">
                <a16:creationId xmlns:a16="http://schemas.microsoft.com/office/drawing/2014/main" id="{4CECC862-D636-4381-BAA4-5A289D8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313372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Decomposed the connector-handling cycle and system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Derived six task and production requirements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Built Framework v0.1 for architecture assessment</a:t>
            </a:r>
          </a:p>
        </p:txBody>
      </p:sp>
      <p:sp>
        <p:nvSpPr>
          <p:cNvPr id="14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CB4AC38A-AC80-4A18-A34D-BB9D45C2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8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5" name="problem-panel-accent">
            <a:extLst xmlns:a="http://schemas.openxmlformats.org/drawingml/2006/main">
              <a:ext uri="{FF2B5EF4-FFF2-40B4-BE49-F238E27FC236}">
                <a16:creationId xmlns:a16="http://schemas.microsoft.com/office/drawing/2014/main" id="{291EED0C-008F-4EEF-A793-F51A07D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roblem-panel-title">
            <a:extLst xmlns:a="http://schemas.openxmlformats.org/drawingml/2006/main">
              <a:ext uri="{FF2B5EF4-FFF2-40B4-BE49-F238E27FC236}">
                <a16:creationId xmlns:a16="http://schemas.microsoft.com/office/drawing/2014/main" id="{1C302F61-0EAC-418F-BB1A-DC5A652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19325"/>
            <a:ext cx="3133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2  What is the problem</a:t>
            </a:r>
          </a:p>
        </p:txBody>
      </p:sp>
      <p:sp>
        <p:nvSpPr>
          <p:cNvPr id="17" name="problem-panel-body">
            <a:extLst xmlns:a="http://schemas.openxmlformats.org/drawingml/2006/main">
              <a:ext uri="{FF2B5EF4-FFF2-40B4-BE49-F238E27FC236}">
                <a16:creationId xmlns:a16="http://schemas.microsoft.com/office/drawing/2014/main" id="{E44C4915-C21C-4B5C-A45D-CA612DF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13372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The task is flexible, contact-rich and safety-gated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Evidence strength is unequal across architectures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Current evidence cannot support a global ranking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41B9183C-255B-43D1-9525-1BD3993A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9" name="next-panel-accent">
            <a:extLst xmlns:a="http://schemas.openxmlformats.org/drawingml/2006/main">
              <a:ext uri="{FF2B5EF4-FFF2-40B4-BE49-F238E27FC236}">
                <a16:creationId xmlns:a16="http://schemas.microsoft.com/office/drawing/2014/main" id="{DEE9AF8C-1EFC-4981-8428-9A7497B9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next-panel-title">
            <a:extLst xmlns:a="http://schemas.openxmlformats.org/drawingml/2006/main">
              <a:ext uri="{FF2B5EF4-FFF2-40B4-BE49-F238E27FC236}">
                <a16:creationId xmlns:a16="http://schemas.microsoft.com/office/drawing/2014/main" id="{E36894C3-793C-42FE-AAC5-1A6596AC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19325"/>
            <a:ext cx="3133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3  Next week</a:t>
            </a:r>
          </a:p>
        </p:txBody>
      </p:sp>
      <p:sp>
        <p:nvSpPr>
          <p:cNvPr id="21" name="next-panel-body">
            <a:extLst xmlns:a="http://schemas.openxmlformats.org/drawingml/2006/main">
              <a:ext uri="{FF2B5EF4-FFF2-40B4-BE49-F238E27FC236}">
                <a16:creationId xmlns:a16="http://schemas.microsoft.com/office/drawing/2014/main" id="{94DFCEB0-FCF6-406A-93E6-41EE4002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90800"/>
            <a:ext cx="313372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Run one bounded transfer test on cell identification, grasping and loading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• Confirm title, RQs and production-level scope with Thomas</a:t>
            </a:r>
          </a:p>
        </p:txBody>
      </p:sp>
      <p:sp>
        <p:nvSpPr>
          <p:cNvPr id="22" name="method-ribbon">
            <a:extLst xmlns:a="http://schemas.openxmlformats.org/drawingml/2006/main">
              <a:ext uri="{FF2B5EF4-FFF2-40B4-BE49-F238E27FC236}">
                <a16:creationId xmlns:a16="http://schemas.microsoft.com/office/drawing/2014/main" id="{F0D4679B-230D-409C-837C-C51A8B96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11430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DCABA-AEE6-42E4-AA15-F0537C80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D5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D5C9"/>
                </a:solidFill>
                <a:latin typeface="Aptos"/>
                <a:ea typeface="Aptos"/>
                <a:cs typeface="Aptos"/>
              </a:rPr>
              <a:t>FRAMEWORK v0.1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10D41-F3CB-4F2C-9C11-3EC23A3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101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Task  →  Requirements  →  Capabilities  →  Conditional suitability  →  Evidence-bounded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2D2B6-7F04-434C-AF3A-B9EC3E5B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101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DB"/>
                </a:solidFill>
                <a:latin typeface="Aptos"/>
                <a:ea typeface="Aptos"/>
                <a:cs typeface="Aptos"/>
              </a:rPr>
              <a:t>The method is reusable; the Pack-specific answers are not.</a:t>
            </a:r>
          </a:p>
        </p:txBody>
      </p:sp>
    </p:spTree>
    <p:extLst>
      <p:ext uri="{BB962C8B-B14F-4D97-AF65-F5344CB8AC3E}">
        <p14:creationId xmlns:p14="http://schemas.microsoft.com/office/powerpoint/2010/main" val="6370259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BD43468-8552-41FE-9932-234D0701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5F60E173-AD0A-428B-B870-B2F5E265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53AB451-79A8-4CF2-846E-3917EE7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WHAT I DID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64EDBE4-2BC2-4E2C-BE70-4AB7CB44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"/>
            <a:ext cx="1133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The robot connects the tester; it does not perform the electrical test.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60EB5B-9362-4D4F-B623-F83DD33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17A62B0-33F8-4A3E-A783-90E3C95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D747014-67EA-4DB7-9B7D-637114D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43675"/>
            <a:ext cx="1019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Reference abstraction from Pack EoL equipment baselines, company disclosure and engineering reasoning; not a CATL site reconstruction.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631B1FC-C5CB-4FCD-A284-B55BE14A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stage-STATION / MES">
            <a:extLst xmlns:a="http://schemas.openxmlformats.org/drawingml/2006/main">
              <a:ext uri="{FF2B5EF4-FFF2-40B4-BE49-F238E27FC236}">
                <a16:creationId xmlns:a16="http://schemas.microsoft.com/office/drawing/2014/main" id="{7E1EB2DA-3CC2-49E8-899C-EBAD6EA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4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59793-4D5A-4878-A5A1-A0EE0A0C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608FC-0622-4FBB-B9F3-EC7F480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78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7897"/>
                </a:solidFill>
                <a:latin typeface="Aptos"/>
                <a:ea typeface="Aptos"/>
                <a:cs typeface="Aptos"/>
              </a:rPr>
              <a:t>STATION / 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BF4A5-4F4E-437E-8808-6985A44B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543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Pack positioned</a:t>
            </a:r>
          </a:p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and identified</a:t>
            </a:r>
          </a:p>
        </p:txBody>
      </p:sp>
      <p:sp>
        <p:nvSpPr>
          <p:cNvPr id="13" name="stage-PLC / SAFETY">
            <a:extLst xmlns:a="http://schemas.openxmlformats.org/drawingml/2006/main">
              <a:ext uri="{FF2B5EF4-FFF2-40B4-BE49-F238E27FC236}">
                <a16:creationId xmlns:a16="http://schemas.microsoft.com/office/drawing/2014/main" id="{2EF7AF51-2881-489B-84EC-22405DF5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8"/>
          </a:solidFill>
          <a:ln xmlns:a="http://schemas.openxmlformats.org/drawingml/2006/main" w="9525">
            <a:solidFill>
              <a:srgbClr val="D4D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A2ED2-B487-4A4F-9CDA-76A6E79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B81EE-B507-41CE-A70C-E2F9284E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98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79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941"/>
                </a:solidFill>
                <a:latin typeface="Aptos"/>
                <a:ea typeface="Aptos"/>
                <a:cs typeface="Aptos"/>
              </a:rPr>
              <a:t>PLC /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8A560-6075-4BD2-83B5-B88D19C0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1543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Safe-to-connect</a:t>
            </a:r>
          </a:p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permission</a:t>
            </a:r>
          </a:p>
        </p:txBody>
      </p:sp>
      <p:sp>
        <p:nvSpPr>
          <p:cNvPr id="17" name="stage-ROBOT">
            <a:extLst xmlns:a="http://schemas.openxmlformats.org/drawingml/2006/main">
              <a:ext uri="{FF2B5EF4-FFF2-40B4-BE49-F238E27FC236}">
                <a16:creationId xmlns:a16="http://schemas.microsoft.com/office/drawing/2014/main" id="{9BCF5EDF-6B12-4641-8DB0-090B3C50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57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4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255AB-970F-4DC5-91E5-9976AC7F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89B75-BCC2-45B0-93FD-865A3679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982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ROBOT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0072B-142D-428E-8873-3AE104D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590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Locate &amp; support → align →</a:t>
            </a:r>
          </a:p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insert → confirm</a:t>
            </a:r>
          </a:p>
        </p:txBody>
      </p:sp>
      <p:sp>
        <p:nvSpPr>
          <p:cNvPr id="21" name="stage-TESTER">
            <a:extLst xmlns:a="http://schemas.openxmlformats.org/drawingml/2006/main">
              <a:ext uri="{FF2B5EF4-FFF2-40B4-BE49-F238E27FC236}">
                <a16:creationId xmlns:a16="http://schemas.microsoft.com/office/drawing/2014/main" id="{41B29F1C-4A9F-4578-BC43-58F689D9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4D4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8E4D5-3C96-42F7-9D75-CC1B6D02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7CA7E-4760-433C-80BD-14AEC89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98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78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7897"/>
                </a:solidFill>
                <a:latin typeface="Aptos"/>
                <a:ea typeface="Aptos"/>
                <a:cs typeface="Aptos"/>
              </a:rPr>
              <a:t>TESTER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F7EDD-CBAD-4741-8E02-88D3D79B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1543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Electrical and</a:t>
            </a:r>
          </a:p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functional EoL test</a:t>
            </a:r>
          </a:p>
        </p:txBody>
      </p:sp>
      <p:sp>
        <p:nvSpPr>
          <p:cNvPr id="25" name="stage-PLC + ROBOT">
            <a:extLst xmlns:a="http://schemas.openxmlformats.org/drawingml/2006/main">
              <a:ext uri="{FF2B5EF4-FFF2-40B4-BE49-F238E27FC236}">
                <a16:creationId xmlns:a16="http://schemas.microsoft.com/office/drawing/2014/main" id="{CF4B09EF-3CD7-4E52-A1D8-5D916ED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2000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8"/>
          </a:solidFill>
          <a:ln xmlns:a="http://schemas.openxmlformats.org/drawingml/2006/main" w="9525">
            <a:solidFill>
              <a:srgbClr val="D4D4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A627D-B194-487A-8809-13C4D837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18380-479C-461C-87AD-53A961A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98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79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941"/>
                </a:solidFill>
                <a:latin typeface="Aptos"/>
                <a:ea typeface="Aptos"/>
                <a:cs typeface="Aptos"/>
              </a:rPr>
              <a:t>PLC + ROBOT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98D0E-BC9A-4F06-A695-CCCA7246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733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De-energize → remove</a:t>
            </a:r>
          </a:p>
          <a:p xmlns:a="http://schemas.openxmlformats.org/drawingml/2006/main">
            <a:pPr algn="ctr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→ return 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8DFF4-7ADA-4D17-8BE9-F818AD5F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14625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943EE-1740-46F5-94E6-DF9D51DA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0FCFE-90D5-4A45-9B1E-3B06A254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14625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2B546D-C565-465E-BBA1-53F7316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14625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responsibility-note">
            <a:extLst xmlns:a="http://schemas.openxmlformats.org/drawingml/2006/main">
              <a:ext uri="{FF2B5EF4-FFF2-40B4-BE49-F238E27FC236}">
                <a16:creationId xmlns:a16="http://schemas.microsoft.com/office/drawing/2014/main" id="{AACCA152-B9D6-47CA-8221-837F4313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48125"/>
            <a:ext cx="723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C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D41388-56DA-4A7E-976C-F2F02E78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695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REFERENCE RESPONSIBILITY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A5E062-2A5C-4D23-B23C-82097B11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Robot / connector automation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B505BD-076A-4B8B-8D80-2BA88D5D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4429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physical connector and harness manipulation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3C5A4-7F18-41B0-B5B8-8F6F2B6E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Test equipment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B83C7A-C227-4157-992B-73E9EFC6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0125"/>
            <a:ext cx="4429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electrical measurement and test execution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230F6-8A22-41DF-B6B6-3FBBA5BB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PLC / safety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A012DF-4D34-41A2-8803-781AB8F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7300"/>
            <a:ext cx="4429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permissions, interlocks, safe state and safe stop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D592EE-B651-407F-AB6C-7D73F212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MES / traceability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36B856-BDFA-4C27-97E8-CACD92D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24475"/>
            <a:ext cx="4429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pack identity, recipe and result association</a:t>
            </a:r>
          </a:p>
        </p:txBody>
      </p:sp>
      <p:sp>
        <p:nvSpPr>
          <p:cNvPr id="43" name="boundary-callout">
            <a:extLst xmlns:a="http://schemas.openxmlformats.org/drawingml/2006/main">
              <a:ext uri="{FF2B5EF4-FFF2-40B4-BE49-F238E27FC236}">
                <a16:creationId xmlns:a16="http://schemas.microsoft.com/office/drawing/2014/main" id="{5EFF903F-997B-4438-9D0C-B6E5F9AA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48125"/>
            <a:ext cx="385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pill-EVIDENCE BOUNDARY">
            <a:extLst xmlns:a="http://schemas.openxmlformats.org/drawingml/2006/main">
              <a:ext uri="{FF2B5EF4-FFF2-40B4-BE49-F238E27FC236}">
                <a16:creationId xmlns:a16="http://schemas.microsoft.com/office/drawing/2014/main" id="{995B7AF6-B49F-479F-AF01-8C4BB28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38625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4"/>
          </a:solidFill>
          <a:ln xmlns:a="http://schemas.openxmlformats.org/drawingml/2006/main" w="0">
            <a:solidFill>
              <a:srgbClr val="3550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78BFDB-D5C1-4FBA-BC16-622CA54C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5A53F5-8E95-40B8-ADC8-9CC687C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91050"/>
            <a:ext cx="3476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This is a reference abstraction.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The actual CATL task allocation, safety sequence and connector geometry remain UNKNOWN.</a:t>
            </a:r>
          </a:p>
        </p:txBody>
      </p:sp>
    </p:spTree>
    <p:extLst>
      <p:ext uri="{BB962C8B-B14F-4D97-AF65-F5344CB8AC3E}">
        <p14:creationId xmlns:p14="http://schemas.microsoft.com/office/powerpoint/2010/main" val="1414062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6FDEDF0-6AAE-4537-9125-BEB1A4BE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003E8FB-AD07-4CF5-B30D-C9FF59EF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6206FB4-E6A8-4699-96EB-BAF34553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WHAT IS THE PROBLEM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D928F03-EB22-4E92-BB03-50F8A74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"/>
            <a:ext cx="1133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Six requirements turn a simple plug-in action into a robotics-system problem.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9D9B21-392A-4E92-87E5-46ACF68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1A930C-9D1E-4FFE-998E-58748325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049544-FEB1-4302-B72D-8D7ADD4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43675"/>
            <a:ext cx="1019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Source: Week 06 Day 3 requirement audit. R3 is the only fully battery-specific requirement; R1/R2/R5/R6 are hybrid constraints.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52391FE-C05A-47AC-AE72-2AE3C65B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quirement-band-1">
            <a:extLst xmlns:a="http://schemas.openxmlformats.org/drawingml/2006/main">
              <a:ext uri="{FF2B5EF4-FFF2-40B4-BE49-F238E27FC236}">
                <a16:creationId xmlns:a16="http://schemas.microsoft.com/office/drawing/2014/main" id="{BBB9BEF2-15B3-49E1-A35B-5EB45C37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62125"/>
            <a:ext cx="1143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FA77B-E00B-48E7-989B-F0281B7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62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AF132-CAFE-4F8C-B539-04189F3D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PHYSICAL MANIPULATION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CED3D-7BC7-4397-84C4-3797DF8E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3286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R1  Flexible-harness handling</a:t>
            </a:r>
          </a:p>
          <a:p xmlns:a="http://schemas.openxmlformats.org/drawingml/2006/main">
            <a:pPr algn="l">
              <a:defRPr sz="127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R2  Contact-rich insertion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A3D73-163B-4F4B-9D66-FB0FE208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335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B8EFC-78BF-4B03-83B2-F355844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81200"/>
            <a:ext cx="7191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Changing pose, tension and contact forces demand perception, support, compliance and recovery.</a:t>
            </a:r>
          </a:p>
        </p:txBody>
      </p:sp>
      <p:sp>
        <p:nvSpPr>
          <p:cNvPr id="15" name="requirement-band-2">
            <a:extLst xmlns:a="http://schemas.openxmlformats.org/drawingml/2006/main">
              <a:ext uri="{FF2B5EF4-FFF2-40B4-BE49-F238E27FC236}">
                <a16:creationId xmlns:a16="http://schemas.microsoft.com/office/drawing/2014/main" id="{50D7EE6F-5252-4BD6-A5F0-6E01F386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0"/>
            <a:ext cx="1143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DE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0D243-008E-41FD-AAEA-3DD3A1B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6BF80-0CF0-47BF-80A2-2F5AD38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4D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4D45"/>
                </a:solidFill>
                <a:latin typeface="Aptos"/>
                <a:ea typeface="Aptos"/>
                <a:cs typeface="Aptos"/>
              </a:rPr>
              <a:t>PROCESS &amp;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2B1F8-00A4-4D55-A40E-065103E5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3286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R3  Electrical / HV safety interface</a:t>
            </a:r>
          </a:p>
          <a:p xmlns:a="http://schemas.openxmlformats.org/drawingml/2006/main">
            <a:pPr algn="l">
              <a:defRPr sz="127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R5  Connection-quality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E3841-47E1-4D04-9BC4-9438CE3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EA535-7CD4-4A0D-8AC6-A20335E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71825"/>
            <a:ext cx="7191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The robot acts only under safe-state permission; insertion must be confirmed, not merely completed geometrically.</a:t>
            </a:r>
          </a:p>
        </p:txBody>
      </p:sp>
      <p:sp>
        <p:nvSpPr>
          <p:cNvPr id="21" name="pill-BATTERY-SPECIFIC">
            <a:extLst xmlns:a="http://schemas.openxmlformats.org/drawingml/2006/main">
              <a:ext uri="{FF2B5EF4-FFF2-40B4-BE49-F238E27FC236}">
                <a16:creationId xmlns:a16="http://schemas.microsoft.com/office/drawing/2014/main" id="{AB94377A-AB06-42FD-A56F-503ED4AB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38475"/>
            <a:ext cx="1285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D45"/>
          </a:solidFill>
          <a:ln xmlns:a="http://schemas.openxmlformats.org/drawingml/2006/main" w="0">
            <a:solidFill>
              <a:srgbClr val="9B4D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CBE5E-E1EE-4463-9CA1-7536AC7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57525"/>
            <a:ext cx="1152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BATTERY-SPECIFIC</a:t>
            </a:r>
          </a:p>
        </p:txBody>
      </p:sp>
      <p:sp>
        <p:nvSpPr>
          <p:cNvPr id="23" name="requirement-band-3">
            <a:extLst xmlns:a="http://schemas.openxmlformats.org/drawingml/2006/main">
              <a:ext uri="{FF2B5EF4-FFF2-40B4-BE49-F238E27FC236}">
                <a16:creationId xmlns:a16="http://schemas.microsoft.com/office/drawing/2014/main" id="{D05C0963-2FC2-4E6A-ADA6-D481FFB6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43375"/>
            <a:ext cx="1143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AEC1E-050D-4037-BF21-657E814B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433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FC444-9663-4935-AC70-1DD662A0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78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7897"/>
                </a:solidFill>
                <a:latin typeface="Aptos"/>
                <a:ea typeface="Aptos"/>
                <a:cs typeface="Aptos"/>
              </a:rPr>
              <a:t>PRODUCTION &amp; INTEGRATION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F9F4B-6C96-40FC-A879-BDBEAA7B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3286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R4  Variation and changeover</a:t>
            </a:r>
          </a:p>
          <a:p xmlns:a="http://schemas.openxmlformats.org/drawingml/2006/main">
            <a:pPr algn="l">
              <a:defRPr sz="127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R6  Traceability and 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F5145-D153-4BAC-B399-DDADC4BF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482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DACDB-17BA-45F8-937F-718DBF30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62450"/>
            <a:ext cx="7191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Programs, tooling and records must remain linked to pack identity, recipe and exception handling.</a:t>
            </a:r>
          </a:p>
        </p:txBody>
      </p:sp>
      <p:sp>
        <p:nvSpPr>
          <p:cNvPr id="29" name="unknown-rail">
            <a:extLst xmlns:a="http://schemas.openxmlformats.org/drawingml/2006/main">
              <a:ext uri="{FF2B5EF4-FFF2-40B4-BE49-F238E27FC236}">
                <a16:creationId xmlns:a16="http://schemas.microsoft.com/office/drawing/2014/main" id="{A44469AA-6237-4C07-898F-66A93F4D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6875"/>
            <a:ext cx="1143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FD81B9-465B-4DA7-B373-8163B446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C7B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C7BD"/>
                </a:solidFill>
                <a:latin typeface="Aptos"/>
                <a:ea typeface="Aptos"/>
                <a:cs typeface="Aptos"/>
              </a:rPr>
              <a:t>CRITICAL UNKNOWNS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1403C-2775-44EA-A8D8-1820F114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72125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connector geometry &amp; force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099C58-7AE0-4235-B546-6D5E39D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72125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safe-state handshake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E5D23-6513-4B4E-B9F8-7968F20A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72125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actual confirmation logic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6F7B7-835E-405F-B829-D6DDE4CB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72125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cycle, reliability &amp; cost</a:t>
            </a:r>
          </a:p>
        </p:txBody>
      </p:sp>
    </p:spTree>
    <p:extLst>
      <p:ext uri="{BB962C8B-B14F-4D97-AF65-F5344CB8AC3E}">
        <p14:creationId xmlns:p14="http://schemas.microsoft.com/office/powerpoint/2010/main" val="1208976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B390DB-793E-499B-B2C2-49626D6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C9D1E899-95F6-4F0E-A3E5-FB93FFA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2B6E58E-5642-4D12-9182-80021FB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WEEK 06 FINDING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70FB080-2C53-4345-99B3-3A41B144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"/>
            <a:ext cx="1133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Production conditions and evidence strength change architecture suitability.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1300BC-5A90-4B22-B5E6-E77F0C3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47E7C4-3DDC-4CA6-8703-519343EA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5967650-8E43-4546-A4FD-40AFF37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43675"/>
            <a:ext cx="1019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Sources: Week 06 Day 4–5 architecture audit. Scenarios are illustrative, not descriptions of the CATL line.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3FE2363-B984-4349-A76D-EA1FFA3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scenario-1">
            <a:extLst xmlns:a="http://schemas.openxmlformats.org/drawingml/2006/main">
              <a:ext uri="{FF2B5EF4-FFF2-40B4-BE49-F238E27FC236}">
                <a16:creationId xmlns:a16="http://schemas.microsoft.com/office/drawing/2014/main" id="{6D16A530-9AED-45D8-80B3-94F241AD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882FE-96EA-4531-AC99-21D978FF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9849-AF47-4014-8742-4A87C7AC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LOW VARIETY · HIGH VOLUME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19924-1F7F-41AD-A1A1-8D66372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Prioritise dedicated automation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D2181-2E20-4E0A-AB65-4105A53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67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8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01728-80F8-4B6D-B201-843F913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670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Fixtures and mechanical guidance can absorb part of the handling complexity at one stable interface.</a:t>
            </a:r>
          </a:p>
        </p:txBody>
      </p:sp>
      <p:sp>
        <p:nvSpPr>
          <p:cNvPr id="15" name="pill-SUPPORTED BY EQUIPMENT BASELINES">
            <a:extLst xmlns:a="http://schemas.openxmlformats.org/drawingml/2006/main">
              <a:ext uri="{FF2B5EF4-FFF2-40B4-BE49-F238E27FC236}">
                <a16:creationId xmlns:a16="http://schemas.microsoft.com/office/drawing/2014/main" id="{6CFD715A-BB59-4801-8FDF-9459840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2F6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ABEB9-E35A-4030-9800-39D47D8D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SUPPORTED BY EQUIPMENT BASELINES</a:t>
            </a:r>
          </a:p>
        </p:txBody>
      </p:sp>
      <p:sp>
        <p:nvSpPr>
          <p:cNvPr id="17" name="scenario-2">
            <a:extLst xmlns:a="http://schemas.openxmlformats.org/drawingml/2006/main">
              <a:ext uri="{FF2B5EF4-FFF2-40B4-BE49-F238E27FC236}">
                <a16:creationId xmlns:a16="http://schemas.microsoft.com/office/drawing/2014/main" id="{905C5636-E1BC-4955-8763-611622A8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345A9-937B-4B4A-A74F-C5F33082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EE8F7-D516-4E9D-90AA-A322D948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097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94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941"/>
                </a:solidFill>
                <a:latin typeface="Aptos"/>
                <a:ea typeface="Aptos"/>
                <a:cs typeface="Aptos"/>
              </a:rPr>
              <a:t>MODERATE VARIATION · FIXED STATION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67411-06F9-4297-BA36-EBE4D0A5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Prioritise a fixed industrial robot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97096-7935-40B1-8DA8-1AEBAD8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67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8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5C2CB-C495-45AF-AD5A-A8EDE0B3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48050"/>
            <a:ext cx="30670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Vision, force control and programmable motion address R1/R2/R5; changeover remains manageable.</a:t>
            </a:r>
          </a:p>
        </p:txBody>
      </p:sp>
      <p:sp>
        <p:nvSpPr>
          <p:cNvPr id="23" name="pill-STRONGEST ROBOTICS BASELINE">
            <a:extLst xmlns:a="http://schemas.openxmlformats.org/drawingml/2006/main">
              <a:ext uri="{FF2B5EF4-FFF2-40B4-BE49-F238E27FC236}">
                <a16:creationId xmlns:a16="http://schemas.microsoft.com/office/drawing/2014/main" id="{120461F3-EF15-4304-A902-F8017B3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D979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D1812-F1C1-4AB5-9E05-EEA1BEA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40055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STRONGEST ROBOTICS BASELINE</a:t>
            </a:r>
          </a:p>
        </p:txBody>
      </p:sp>
      <p:sp>
        <p:nvSpPr>
          <p:cNvPr id="25" name="scenario-3">
            <a:extLst xmlns:a="http://schemas.openxmlformats.org/drawingml/2006/main">
              <a:ext uri="{FF2B5EF4-FFF2-40B4-BE49-F238E27FC236}">
                <a16:creationId xmlns:a16="http://schemas.microsoft.com/office/drawing/2014/main" id="{3A8424DA-8FD0-4BE1-9480-8E1EA634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1709B-32CE-44CE-9B44-21C59F39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F471B-3449-4F0C-848C-50366B5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97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78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7897"/>
                </a:solidFill>
                <a:latin typeface="Aptos"/>
                <a:ea typeface="Aptos"/>
                <a:cs typeface="Aptos"/>
              </a:rPr>
              <a:t>HIGH VARIATION · MULTI-STATION · BROWNFIELD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FE4B6-D3EC-4177-9645-201CE9E4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Evaluate mobile dual-arm / humanoid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CD570-D175-419F-A20E-44D38AF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67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8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C34F7-0CFB-4337-9872-82D0E812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48050"/>
            <a:ext cx="30670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Mobility and two-arm support may create value across stations, but R3 safety, maturity and economics remain unresolved.</a:t>
            </a:r>
          </a:p>
        </p:txBody>
      </p:sp>
      <p:sp>
        <p:nvSpPr>
          <p:cNvPr id="31" name="pill-CONDITIONAL / KEY UNKNOWNS">
            <a:extLst xmlns:a="http://schemas.openxmlformats.org/drawingml/2006/main">
              <a:ext uri="{FF2B5EF4-FFF2-40B4-BE49-F238E27FC236}">
                <a16:creationId xmlns:a16="http://schemas.microsoft.com/office/drawing/2014/main" id="{AFDD9323-0796-4741-8792-588AB31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4E789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C74DA-C3EA-4E92-92B5-F8F54DB9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0055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CONDITIONAL / KEY UNKNOWNS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2F710E-A2FD-4AD6-A4BC-96B250E5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72050"/>
            <a:ext cx="1143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A technology passes deployment only when all four checks are credible: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C1AAB-CDCC-4B6E-9AEA-B8CBB041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1495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84FC4-48D8-4D5C-B1B0-93C39E40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TASK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F7C506-3F5B-4B80-8FBC-2E5B34E5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2447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Can it satisfy the critical requirement?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39AE13-57BC-407E-ADA7-04AF2C95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1495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C79708-92AE-40CD-8779-8B9CA5D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10200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79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941"/>
                </a:solidFill>
                <a:latin typeface="Aptos"/>
                <a:ea typeface="Aptos"/>
                <a:cs typeface="Aptos"/>
              </a:rPr>
              <a:t>CONDITION 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C778E-B00F-4B07-9FCE-9C76C62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2447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Is this architecture reasonable here?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FD9D6F-91E4-47BB-99EB-E3A0928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DE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369FED-77CB-41E9-81CB-DF28D5C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10200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4D4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B4D45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29A373-7D68-479E-A01A-5FF647D6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38800"/>
            <a:ext cx="2447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Can mandatory permissions be satisfied?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AAEE27-2686-4098-BADC-DCE0CCF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1495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414E52-0C0A-4C6C-988E-1BFB2DCA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78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7897"/>
                </a:solidFill>
                <a:latin typeface="Aptos"/>
                <a:ea typeface="Aptos"/>
                <a:cs typeface="Aptos"/>
              </a:rPr>
              <a:t>EVIDENCE GATE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22032B-A02B-4A81-ACBA-9AEE0449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38800"/>
            <a:ext cx="2447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Is the claim supported strongly enough?</a:t>
            </a:r>
          </a:p>
        </p:txBody>
      </p:sp>
    </p:spTree>
    <p:extLst>
      <p:ext uri="{BB962C8B-B14F-4D97-AF65-F5344CB8AC3E}">
        <p14:creationId xmlns:p14="http://schemas.microsoft.com/office/powerpoint/2010/main" val="4389493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D2E27D-2C18-4942-BE60-D46BD84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FB0719F1-4338-4B0A-80FD-E3DE40BC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6EEEAF21-2E26-4B30-BBE8-27FB9D2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NEXT WEEK PLAN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3F55D8B-064C-4447-BDA8-38309F6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"/>
            <a:ext cx="1133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A3A"/>
                </a:solidFill>
                <a:latin typeface="Aptos Display"/>
                <a:ea typeface="Aptos Display"/>
                <a:cs typeface="Aptos Display"/>
              </a:rPr>
              <a:t>Next week should test transferability and confirm the registration basis.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BE6973-96A1-48D8-9AA0-1C9C3B94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55C5E6A-F0F0-4974-8513-0B80FC2C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431859-6ACB-408E-8623-760C536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43675"/>
            <a:ext cx="1019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3717B"/>
                </a:solidFill>
                <a:latin typeface="Aptos"/>
                <a:ea typeface="Aptos"/>
                <a:cs typeface="Aptos"/>
              </a:rPr>
              <a:t>Sources: Week 06 Day 5 transfer decision; thesis registration consensus 2026-08-20. Title/RQs remain pending Thomas confirmation.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11BA86C-89BA-4433-B833-D3922E1C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1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DA191-1E38-403B-ADF2-42A310B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71625"/>
            <a:ext cx="704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BOUNDED TRANSFER TEST — CANDIDATE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D6BBF-2E59-499E-A8CC-EEAFA3CF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52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B5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next-step-1">
            <a:extLst xmlns:a="http://schemas.openxmlformats.org/drawingml/2006/main">
              <a:ext uri="{FF2B5EF4-FFF2-40B4-BE49-F238E27FC236}">
                <a16:creationId xmlns:a16="http://schemas.microsoft.com/office/drawing/2014/main" id="{B442D5CC-7A25-46B7-8FBE-CDFB7A4D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2095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B594B-71A4-443D-A9F0-7726ACA0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12AD8-0A7F-4DFF-B494-82D2DB19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Define the task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7807C-75C6-445A-AB94-12A5D864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790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Source → destination → completion criterion → battery-specific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9095F-2E9C-4D87-953F-6479B0C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6230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837BF-63DA-40D0-866D-89BD8F49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52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9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794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next-step-2">
            <a:extLst xmlns:a="http://schemas.openxmlformats.org/drawingml/2006/main">
              <a:ext uri="{FF2B5EF4-FFF2-40B4-BE49-F238E27FC236}">
                <a16:creationId xmlns:a16="http://schemas.microsoft.com/office/drawing/2014/main" id="{9F892C74-3BC9-47DD-8668-BE81BFE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2095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8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FBF59-A138-4DB4-A46D-1900BFC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2949F-D30A-45E7-BBC1-11C29BF5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Run the same 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D0394-B3E9-4FA6-9AF6-7BD71D84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14700"/>
            <a:ext cx="1790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Task → requirements → baseline → capabilities → conditional suitability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5FCAC-15D7-40E1-918D-94CABFF3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DA6FD-025F-4F75-B7C5-6BECE9F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52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E789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E789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next-step-3">
            <a:extLst xmlns:a="http://schemas.openxmlformats.org/drawingml/2006/main">
              <a:ext uri="{FF2B5EF4-FFF2-40B4-BE49-F238E27FC236}">
                <a16:creationId xmlns:a16="http://schemas.microsoft.com/office/drawing/2014/main" id="{9064D1D5-C1C5-4E7D-A8A7-2BAA02C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2095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F0"/>
          </a:solidFill>
          <a:ln xmlns:a="http://schemas.openxmlformats.org/drawingml/2006/main" w="9525">
            <a:solidFill>
              <a:srgbClr val="D6D5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970E1-8166-421D-A604-08E62B5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B102B-249D-4802-9CA0-83DFCF8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Compare what transfers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DCE6D-3E1B-4DDA-BB7D-0077D8C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14700"/>
            <a:ext cx="1790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A3A"/>
                </a:solidFill>
                <a:latin typeface="Aptos"/>
                <a:ea typeface="Aptos"/>
                <a:cs typeface="Aptos"/>
              </a:rPr>
              <a:t>Keep the assessment logic; re-derive the case-specific answers and evidence needs</a:t>
            </a:r>
          </a:p>
        </p:txBody>
      </p:sp>
      <p:sp>
        <p:nvSpPr>
          <p:cNvPr id="27" name="thomas-decisions">
            <a:extLst xmlns:a="http://schemas.openxmlformats.org/drawingml/2006/main">
              <a:ext uri="{FF2B5EF4-FFF2-40B4-BE49-F238E27FC236}">
                <a16:creationId xmlns:a16="http://schemas.microsoft.com/office/drawing/2014/main" id="{D7791D58-4CC8-44FC-AB6A-CE26E868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4143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44098-2252-461A-9326-CB0166FF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43075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5C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D5C9"/>
                </a:solidFill>
                <a:latin typeface="Aptos"/>
                <a:ea typeface="Aptos"/>
                <a:cs typeface="Aptos"/>
              </a:rPr>
              <a:t>THOMAS — THREE DECISIONS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2C8C7-084C-4B0F-836C-1D62365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35D53-DBA1-4026-B1F8-4E21BBE6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12BD8-710B-476B-9F56-35CE2312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Registration proposal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F2445-8C5F-43BB-B2EE-98A3CA43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98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0E5"/>
                </a:solidFill>
                <a:latin typeface="Aptos"/>
                <a:ea typeface="Aptos"/>
                <a:cs typeface="Aptos"/>
              </a:rPr>
              <a:t>Confirm or revise the proposed title and three RQs.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FF109-1C5F-4103-A1F4-27487D6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0B7A84-3005-4803-8566-A8A0C64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BD62A6-890B-4467-B94C-B19885E7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Production-level scope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B553E0-3621-4117-B2E5-5C2933DE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0E5"/>
                </a:solidFill>
                <a:latin typeface="Aptos"/>
                <a:ea typeface="Aptos"/>
                <a:cs typeface="Aptos"/>
              </a:rPr>
              <a:t>Explicitly include selected module/pack cases alongside cell-production applications?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F640F-37AA-41F7-BFEA-E59A437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747013-7018-466C-BF28-91E898A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E60EB6-3A97-4454-9F88-E9AD1F44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Research route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766204-48A1-48D4-A863-21AEA92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8142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0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0E5"/>
                </a:solidFill>
                <a:latin typeface="Aptos"/>
                <a:ea typeface="Aptos"/>
                <a:cs typeface="Aptos"/>
              </a:rPr>
              <a:t>Deep case → framework → adjacent case(s) → cross-case comparison?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B15B2-D5FA-47EC-BAE6-AB511A8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43450"/>
            <a:ext cx="1143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B57"/>
                </a:solidFill>
                <a:latin typeface="Aptos"/>
                <a:ea typeface="Aptos"/>
                <a:cs typeface="Aptos"/>
              </a:rPr>
              <a:t>WEEK 06 STATUS</a:t>
            </a:r>
          </a:p>
        </p:txBody>
      </p:sp>
      <p:sp>
        <p:nvSpPr>
          <p:cNvPr id="42" name="pill-DEEP CASE CONTINUES">
            <a:extLst xmlns:a="http://schemas.openxmlformats.org/drawingml/2006/main">
              <a:ext uri="{FF2B5EF4-FFF2-40B4-BE49-F238E27FC236}">
                <a16:creationId xmlns:a16="http://schemas.microsoft.com/office/drawing/2014/main" id="{4B8A364A-E14C-4C99-B799-28BC1F74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86350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0">
            <a:solidFill>
              <a:srgbClr val="2F6B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3CBED0-F1A0-4EF5-9503-4DBD5895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105400"/>
            <a:ext cx="2200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DEEP CASE CONTINUES</a:t>
            </a:r>
          </a:p>
        </p:txBody>
      </p:sp>
      <p:sp>
        <p:nvSpPr>
          <p:cNvPr id="44" name="pill-NARROW CLAIM">
            <a:extLst xmlns:a="http://schemas.openxmlformats.org/drawingml/2006/main">
              <a:ext uri="{FF2B5EF4-FFF2-40B4-BE49-F238E27FC236}">
                <a16:creationId xmlns:a16="http://schemas.microsoft.com/office/drawing/2014/main" id="{7310344B-8295-48FD-9040-2AC35BDF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86350"/>
            <a:ext cx="2333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1"/>
          </a:solidFill>
          <a:ln xmlns:a="http://schemas.openxmlformats.org/drawingml/2006/main" w="0">
            <a:solidFill>
              <a:srgbClr val="D9794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73730C-3F46-4CCB-A87D-0D57DF4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105400"/>
            <a:ext cx="2200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NARROW CLAIM</a:t>
            </a:r>
          </a:p>
        </p:txBody>
      </p:sp>
      <p:sp>
        <p:nvSpPr>
          <p:cNvPr id="46" name="pill-FRAMEWORK TRANSFER READY">
            <a:extLst xmlns:a="http://schemas.openxmlformats.org/drawingml/2006/main">
              <a:ext uri="{FF2B5EF4-FFF2-40B4-BE49-F238E27FC236}">
                <a16:creationId xmlns:a16="http://schemas.microsoft.com/office/drawing/2014/main" id="{22C0AD60-E21B-4EF1-B21A-E2D5331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86350"/>
            <a:ext cx="2714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solidFill>
              <a:srgbClr val="4E789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AF2C55-6653-459B-B5D1-B46A81DD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105400"/>
            <a:ext cx="2581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FRAMEWORK TRANSFER READY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275A84-89A1-4927-AC7A-300B104F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76800"/>
            <a:ext cx="3476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C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5A2669-E4FD-4E07-8555-67BE632D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911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1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17B"/>
                </a:solidFill>
                <a:latin typeface="Aptos"/>
                <a:ea typeface="Aptos"/>
                <a:cs typeface="Aptos"/>
              </a:rPr>
              <a:t>PROPOSED TITLE — PENDING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D7BD52-8F03-43B1-8798-87FD3C75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1970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A3A"/>
                </a:solidFill>
                <a:latin typeface="Aptos"/>
                <a:ea typeface="Aptos"/>
                <a:cs typeface="Aptos"/>
              </a:rPr>
              <a:t>Task-Based Assessment of Robotic Systems in Battery Manufacturing</a:t>
            </a:r>
          </a:p>
        </p:txBody>
      </p:sp>
    </p:spTree>
    <p:extLst>
      <p:ext uri="{BB962C8B-B14F-4D97-AF65-F5344CB8AC3E}">
        <p14:creationId xmlns:p14="http://schemas.microsoft.com/office/powerpoint/2010/main" val="247244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2026-08-26T12:04:27.5830000Z</dcterms:created>
  <dcterms:modified xsi:type="dcterms:W3CDTF">2026-08-26T12:04:27.5830000Z</dcterms:modified>
</coreProperties>
</file>