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313109d608f4aa4" /><Relationship Type="http://schemas.openxmlformats.org/officeDocument/2006/relationships/extended-properties" Target="/docProps/app.xml" Id="Rbdab3fd4a53d4464" /><Relationship Type="http://schemas.openxmlformats.org/officeDocument/2006/relationships/officeDocument" Target="/ppt/presentation.xml" Id="R2ef4b9f6bcb74124" /></Relationships>
</file>

<file path=ppt/presentation.xml><?xml version="1.0" encoding="utf-8"?>
<p:presentation xmlns:p="http://schemas.openxmlformats.org/presentationml/2006/main">
  <p:sldMasterIdLst>
    <p:sldMasterId xmlns:r="http://schemas.openxmlformats.org/officeDocument/2006/relationships" id="2147483648" r:id="Rdd19f215b2044eef"/>
  </p:sldMasterIdLst>
  <p:notesMasterIdLst>
    <p:notesMasterId xmlns:r="http://schemas.openxmlformats.org/officeDocument/2006/relationships" r:id="Rb85e6a134dc24283"/>
  </p:notesMasterIdLst>
  <p:sldIdLst>
    <p:sldId xmlns:r="http://schemas.openxmlformats.org/officeDocument/2006/relationships" id="256" r:id="R911c89f533be4c11"/>
    <p:sldId xmlns:r="http://schemas.openxmlformats.org/officeDocument/2006/relationships" id="257" r:id="R36bb92a3f7b647ee"/>
    <p:sldId xmlns:r="http://schemas.openxmlformats.org/officeDocument/2006/relationships" id="258" r:id="Rbec96d83c86640c2"/>
    <p:sldId xmlns:r="http://schemas.openxmlformats.org/officeDocument/2006/relationships" id="259" r:id="Rb2666b1a6c3646f9"/>
    <p:sldId xmlns:r="http://schemas.openxmlformats.org/officeDocument/2006/relationships" id="260" r:id="R8f3bd5044b5344c7"/>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c041f6dcb93143c5" /><Relationship Type="http://schemas.openxmlformats.org/officeDocument/2006/relationships/slideMaster" Target="/ppt/slideMasters/slideMaster1.xml" Id="Rdd19f215b2044eef" /><Relationship Type="http://schemas.openxmlformats.org/officeDocument/2006/relationships/notesMaster" Target="/ppt/notesMasters/notesMaster1.xml" Id="Rb85e6a134dc24283" /><Relationship Type="http://schemas.openxmlformats.org/officeDocument/2006/relationships/presProps" Target="/ppt/presProps.xml" Id="R78074cabe39d4932" /><Relationship Type="http://schemas.openxmlformats.org/officeDocument/2006/relationships/viewProps" Target="/ppt/viewProps.xml" Id="R0af56e7f98604c63" /><Relationship Type="http://schemas.openxmlformats.org/officeDocument/2006/relationships/tableStyles" Target="/ppt/tableStyles.xml" Id="R646d1589ee4741a8" /><Relationship Type="http://schemas.openxmlformats.org/officeDocument/2006/relationships/slide" Target="/ppt/slides/slide1.xml" Id="R911c89f533be4c11" /><Relationship Type="http://schemas.openxmlformats.org/officeDocument/2006/relationships/slide" Target="/ppt/slides/slide2.xml" Id="R36bb92a3f7b647ee" /><Relationship Type="http://schemas.openxmlformats.org/officeDocument/2006/relationships/slide" Target="/ppt/slides/slide3.xml" Id="Rbec96d83c86640c2" /><Relationship Type="http://schemas.openxmlformats.org/officeDocument/2006/relationships/slide" Target="/ppt/slides/slide4.xml" Id="Rb2666b1a6c3646f9" /><Relationship Type="http://schemas.openxmlformats.org/officeDocument/2006/relationships/slide" Target="/ppt/slides/slide5.xml" Id="R8f3bd5044b5344c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b9ca398b7464d3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e005a5d3b734b77" /><Relationship Type="http://schemas.openxmlformats.org/officeDocument/2006/relationships/notesMaster" Target="/ppt/notesMasters/notesMaster1.xml" Id="R7f6ca7aeb820467d" /></Relationships>
</file>

<file path=ppt/notesSlides/_rels/notesSlide2.xml.rels>&#65279;<?xml version="1.0" encoding="utf-8"?><Relationships xmlns="http://schemas.openxmlformats.org/package/2006/relationships"><Relationship Type="http://schemas.openxmlformats.org/officeDocument/2006/relationships/slide" Target="/ppt/slides/slide2.xml" Id="Rfdab1f755ed84cd7" /><Relationship Type="http://schemas.openxmlformats.org/officeDocument/2006/relationships/notesMaster" Target="/ppt/notesMasters/notesMaster1.xml" Id="R3db84fc1876345e0" /></Relationships>
</file>

<file path=ppt/notesSlides/_rels/notesSlide3.xml.rels>&#65279;<?xml version="1.0" encoding="utf-8"?><Relationships xmlns="http://schemas.openxmlformats.org/package/2006/relationships"><Relationship Type="http://schemas.openxmlformats.org/officeDocument/2006/relationships/slide" Target="/ppt/slides/slide3.xml" Id="Rb86b6917b25e4686" /><Relationship Type="http://schemas.openxmlformats.org/officeDocument/2006/relationships/notesMaster" Target="/ppt/notesMasters/notesMaster1.xml" Id="R2bb763f27a2a4d53" /></Relationships>
</file>

<file path=ppt/notesSlides/_rels/notesSlide4.xml.rels>&#65279;<?xml version="1.0" encoding="utf-8"?><Relationships xmlns="http://schemas.openxmlformats.org/package/2006/relationships"><Relationship Type="http://schemas.openxmlformats.org/officeDocument/2006/relationships/slide" Target="/ppt/slides/slide4.xml" Id="Rcef4f7d901384dd2" /><Relationship Type="http://schemas.openxmlformats.org/officeDocument/2006/relationships/notesMaster" Target="/ppt/notesMasters/notesMaster1.xml" Id="R6693a47aba1443f2" /></Relationships>
</file>

<file path=ppt/notesSlides/_rels/notesSlide5.xml.rels>&#65279;<?xml version="1.0" encoding="utf-8"?><Relationships xmlns="http://schemas.openxmlformats.org/package/2006/relationships"><Relationship Type="http://schemas.openxmlformats.org/officeDocument/2006/relationships/slide" Target="/ppt/slides/slide5.xml" Id="Rbebb6788d1b44983" /><Relationship Type="http://schemas.openxmlformats.org/officeDocument/2006/relationships/notesMaster" Target="/ppt/notesMasters/notesMaster1.xml" Id="Re6d23f7009a14c4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Good morning. Today I will report the main outcome of Week 6 and the proposed next step.</a:t>
            </a:r>
          </a:p>
          <a:p xmlns:a="http://schemas.openxmlformats.org/drawingml/2006/main">
            <a:r>
              <a:t/>
            </a:r>
          </a:p>
          <a:p xmlns:a="http://schemas.openxmlformats.org/drawingml/2006/main">
            <a:r>
              <a:t>I used battery-pack end-of-line test-connector handling as a deep reference case. The goal was not to evaluate one company or prove that a humanoid robot is superior. I decomposed the task and system responsibilities, derived six relevant requirements, and built the first version of a task-based assessment framework.</a:t>
            </a:r>
          </a:p>
          <a:p xmlns:a="http://schemas.openxmlformats.org/drawingml/2006/main">
            <a:r>
              <a:t/>
            </a:r>
          </a:p>
          <a:p xmlns:a="http://schemas.openxmlformats.org/drawingml/2006/main">
            <a:r>
              <a:t>The central logic is: task, requirements, capabilities, conditional suitability and an evidence-bounded decision. The Pack EoL case develops the method; it is not the final thesis boundary.</a:t>
            </a:r>
          </a:p>
          <a:p xmlns:a="http://schemas.openxmlformats.org/drawingml/2006/main">
            <a:r>
              <a:t/>
            </a:r>
          </a:p>
          <a:p xmlns:a="http://schemas.openxmlformats.org/drawingml/2006/main">
            <a:r>
              <a:t>The remaining problem is unequal evidence strength across architectures, so current evidence does not support a global ranking. Next, I propose a bounded transfer test on cell identification, grasping and loading, while confirming the title, research questions and production-level scope with Thomas.</a:t>
            </a:r>
          </a:p>
          <a:p xmlns:a="http://schemas.openxmlformats.org/drawingml/2006/main">
            <a:r>
              <a:t/>
            </a:r>
          </a:p>
          <a:p xmlns:a="http://schemas.openxmlformats.org/drawingml/2006/main">
            <a:r>
              <a:t>Transition: First, I will clarify what the robot actually does in the Pack EoL task.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separates the physical robot task from the electrical test process.</a:t>
            </a:r>
          </a:p>
          <a:p xmlns:a="http://schemas.openxmlformats.org/drawingml/2006/main">
            <a:r>
              <a:t/>
            </a:r>
          </a:p>
          <a:p xmlns:a="http://schemas.openxmlformats.org/drawingml/2006/main">
            <a:r>
              <a:t>The pack is first positioned and identified. The PLC and safety system then provide permission to connect. Only after this permission does the robot locate and support the harness, align and insert the connector, and confirm the physical connection.</a:t>
            </a:r>
          </a:p>
          <a:p xmlns:a="http://schemas.openxmlformats.org/drawingml/2006/main">
            <a:r>
              <a:t/>
            </a:r>
          </a:p>
          <a:p xmlns:a="http://schemas.openxmlformats.org/drawingml/2006/main">
            <a:r>
              <a:t>The test equipment—not the robot—performs the electrical and functional EoL test. Afterwards, the tester and PLC confirm that the system is de-energized and safe to disconnect. The robot removes the connector and returns the harness, while MES links the recipe and result to the pack identity.</a:t>
            </a:r>
          </a:p>
          <a:p xmlns:a="http://schemas.openxmlformats.org/drawingml/2006/main">
            <a:r>
              <a:t/>
            </a:r>
          </a:p>
          <a:p xmlns:a="http://schemas.openxmlformats.org/drawingml/2006/main">
            <a:r>
              <a:t>This responsibility boundary prevents the robot task, test process and safety logic from being mixed together, and it identifies the interfaces required for implementation.</a:t>
            </a:r>
          </a:p>
          <a:p xmlns:a="http://schemas.openxmlformats.org/drawingml/2006/main">
            <a:r>
              <a:t/>
            </a:r>
          </a:p>
          <a:p xmlns:a="http://schemas.openxmlformats.org/drawingml/2006/main">
            <a:r>
              <a:t>This is a reference abstraction, not a reconstruction of the CATL station. The actual task allocation, connector geometry and safety sequence remain unknown.</a:t>
            </a:r>
          </a:p>
          <a:p xmlns:a="http://schemas.openxmlformats.org/drawingml/2006/main">
            <a:r>
              <a:t/>
            </a:r>
          </a:p>
          <a:p xmlns:a="http://schemas.openxmlformats.org/drawingml/2006/main">
            <a:r>
              <a:t>Transition: Based on this task cycle, I derived the requirements that actually change the robotic task.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connector task is more than a simple pick-and-place or a geometric plug-in action. I grouped the six requirements into three layers.</a:t>
            </a:r>
          </a:p>
          <a:p xmlns:a="http://schemas.openxmlformats.org/drawingml/2006/main">
            <a:r>
              <a:t/>
            </a:r>
          </a:p>
          <a:p xmlns:a="http://schemas.openxmlformats.org/drawingml/2006/main">
            <a:r>
              <a:t>The first layer is physical manipulation. R1 is flexible-harness handling: connector pose changes with gravity, grasp point and cable history. R2 is contact-rich insertion: after contact, geometry alone is insufficient, so the system needs compliance, force sensing and recovery.</a:t>
            </a:r>
          </a:p>
          <a:p xmlns:a="http://schemas.openxmlformats.org/drawingml/2006/main">
            <a:r>
              <a:t/>
            </a:r>
          </a:p>
          <a:p xmlns:a="http://schemas.openxmlformats.org/drawingml/2006/main">
            <a:r>
              <a:t>The second layer is process and safety. R3 is the electrical and high-voltage safety interface. The robot must follow safe-state permissions and interlocks. R5 is connection-quality confirmation, because physical insertion does not prove correct locking or electrical connection.</a:t>
            </a:r>
          </a:p>
          <a:p xmlns:a="http://schemas.openxmlformats.org/drawingml/2006/main">
            <a:r>
              <a:t/>
            </a:r>
          </a:p>
          <a:p xmlns:a="http://schemas.openxmlformats.org/drawingml/2006/main">
            <a:r>
              <a:t>The third layer is production and integration. R4 covers variation and changeover; R6 covers traceability and synchronization with the PLC, tester and MES.</a:t>
            </a:r>
          </a:p>
          <a:p xmlns:a="http://schemas.openxmlformats.org/drawingml/2006/main">
            <a:r>
              <a:t/>
            </a:r>
          </a:p>
          <a:p xmlns:a="http://schemas.openxmlformats.org/drawingml/2006/main">
            <a:r>
              <a:t>R3 is the strongest fully battery-specific gate. The other requirements also occur elsewhere, but the battery context changes their consequences and validation needs.</a:t>
            </a:r>
          </a:p>
          <a:p xmlns:a="http://schemas.openxmlformats.org/drawingml/2006/main">
            <a:r>
              <a:t/>
            </a:r>
          </a:p>
          <a:p xmlns:a="http://schemas.openxmlformats.org/drawingml/2006/main">
            <a:r>
              <a:t>Key unknowns remain: connector geometry and force, the safety handshake, confirmation logic, and independent cycle, reliability and cost data.</a:t>
            </a:r>
          </a:p>
          <a:p xmlns:a="http://schemas.openxmlformats.org/drawingml/2006/main">
            <a:r>
              <a:t/>
            </a:r>
          </a:p>
          <a:p xmlns:a="http://schemas.openxmlformats.org/drawingml/2006/main">
            <a:r>
              <a:t>Transition: These requirements do not produce one universal winner; the answer changes with the production scenario.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main Week 6 finding is conditional suitability, not architecture ranking.</a:t>
            </a:r>
          </a:p>
          <a:p xmlns:a="http://schemas.openxmlformats.org/drawingml/2006/main">
            <a:r>
              <a:t/>
            </a:r>
          </a:p>
          <a:p xmlns:a="http://schemas.openxmlformats.org/drawingml/2006/main">
            <a:r>
              <a:t>For low variety, high volume, a fixed interface and one station, dedicated automation should be prioritized. Fixtures and mechanical guidance can absorb part of the handling complexity, and equipment baselines support this conclusion.</a:t>
            </a:r>
          </a:p>
          <a:p xmlns:a="http://schemas.openxmlformats.org/drawingml/2006/main">
            <a:r>
              <a:t/>
            </a:r>
          </a:p>
          <a:p xmlns:a="http://schemas.openxmlformats.org/drawingml/2006/main">
            <a:r>
              <a:t>With moderate variation and a stationary task, a fixed industrial robot is the strongest robotics baseline. Vision, force control and programmable motion address harness handling, insertion and confirmation. Its boundary appears when several stations require robot replication or layout modification.</a:t>
            </a:r>
          </a:p>
          <a:p xmlns:a="http://schemas.openxmlformats.org/drawingml/2006/main">
            <a:r>
              <a:t/>
            </a:r>
          </a:p>
          <a:p xmlns:a="http://schemas.openxmlformats.org/drawingml/2006/main">
            <a:r>
              <a:t>Under high variation, multiple stations and a human-oriented brownfield layout, a mobile dual-arm or humanoid system is worth evaluating. However, current evidence does not establish battery-specific safety integration, long-term reliability, maturity or economic superiority.</a:t>
            </a:r>
          </a:p>
          <a:p xmlns:a="http://schemas.openxmlformats.org/drawingml/2006/main">
            <a:r>
              <a:t/>
            </a:r>
          </a:p>
          <a:p xmlns:a="http://schemas.openxmlformats.org/drawingml/2006/main">
            <a:r>
              <a:t>Each architecture must therefore pass four checks: can it satisfy the task, is it reasonable under these production conditions, can mandatory safety permissions be fulfilled, and is the evidence strong enough for the intended claim?</a:t>
            </a:r>
          </a:p>
          <a:p xmlns:a="http://schemas.openxmlformats.org/drawingml/2006/main">
            <a:r>
              <a:t/>
            </a:r>
          </a:p>
          <a:p xmlns:a="http://schemas.openxmlformats.org/drawingml/2006/main">
            <a:r>
              <a:t>Transition: The next week should test whether this reasoning can be transferred beyond the Pack EoL case.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My proposed next step is one bounded transfer test on Candidate A: cell identification, grasping and loading in module or pack manufacturing.</a:t>
            </a:r>
          </a:p>
          <a:p xmlns:a="http://schemas.openxmlformats.org/drawingml/2006/main">
            <a:r>
              <a:t/>
            </a:r>
          </a:p>
          <a:p xmlns:a="http://schemas.openxmlformats.org/drawingml/2006/main">
            <a:r>
              <a:t>First, I will define the source, destination, completion criterion and battery-specific effect before comparing robots. Week 5 showed that merely moving an object from A to B does not establish a robotics problem.</a:t>
            </a:r>
          </a:p>
          <a:p xmlns:a="http://schemas.openxmlformats.org/drawingml/2006/main">
            <a:r>
              <a:t/>
            </a:r>
          </a:p>
          <a:p xmlns:a="http://schemas.openxmlformats.org/drawingml/2006/main">
            <a:r>
              <a:t>Second, I will apply the same questions: task, requirements, baseline, capabilities and conditional suitability. Third, I will compare what transfers. The assessment logic should transfer, but Pack-specific answers such as harness handling and connector insertion must be re-derived rather than copied.</a:t>
            </a:r>
          </a:p>
          <a:p xmlns:a="http://schemas.openxmlformats.org/drawingml/2006/main">
            <a:r>
              <a:t/>
            </a:r>
          </a:p>
          <a:p xmlns:a="http://schemas.openxmlformats.org/drawingml/2006/main">
            <a:r>
              <a:t>I also need three decisions from Thomas: whether the proposed title and three research questions should be accepted or revised; whether selected module- and pack-level applications should be explicitly included alongside cell-production applications; and whether the route from one deep case, through a transferable framework and adjacent cases, to a cross-case comparison matches the intended thesis profile.</a:t>
            </a:r>
          </a:p>
          <a:p xmlns:a="http://schemas.openxmlformats.org/drawingml/2006/main">
            <a:r>
              <a:t/>
            </a:r>
          </a:p>
          <a:p xmlns:a="http://schemas.openxmlformats.org/drawingml/2006/main">
            <a:r>
              <a:t>The Week 6 status is: the deep case continues, the claims remain narrow and evidence-bounded, and the framework is ready for a first transfer test.</a:t>
            </a:r>
          </a:p>
          <a:p xmlns:a="http://schemas.openxmlformats.org/drawingml/2006/main">
            <a:r>
              <a:t/>
            </a:r>
          </a:p>
          <a:p xmlns:a="http://schemas.openxmlformats.org/drawingml/2006/main">
            <a:r>
              <a:t>Closing: The outcome is not that one robot is best. It is a first repeatable procedure connecting a battery-manufacturing task to requirements, capabilities, production conditions and defensible implementation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b484f4bb4cb40d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8241126a61145dd" /><Relationship Type="http://schemas.openxmlformats.org/officeDocument/2006/relationships/slideLayout" Target="/ppt/slideLayouts/slideLayout1.xml" Id="Rdb652c2c065d46c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b652c2c065d46c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50482df6c894c82" /><Relationship Type="http://schemas.openxmlformats.org/officeDocument/2006/relationships/notesSlide" Target="/ppt/notesSlides/notesSlide1.xml" Id="Rc1b38cfdaf1e444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ae47e4972304636" /><Relationship Type="http://schemas.openxmlformats.org/officeDocument/2006/relationships/notesSlide" Target="/ppt/notesSlides/notesSlide2.xml" Id="R8927a83ad16f410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056dfb9091f4bdc" /><Relationship Type="http://schemas.openxmlformats.org/officeDocument/2006/relationships/notesSlide" Target="/ppt/notesSlides/notesSlide3.xml" Id="Rf6749a80f91f4d1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b52098c4e7f4ce3" /><Relationship Type="http://schemas.openxmlformats.org/officeDocument/2006/relationships/notesSlide" Target="/ppt/notesSlides/notesSlide4.xml" Id="R6eec36108e0347d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a400555f7dc441a" /><Relationship Type="http://schemas.openxmlformats.org/officeDocument/2006/relationships/notesSlide" Target="/ppt/notesSlides/notesSlide5.xml" Id="Ra1520247da0040d6"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 name="background">
            <a:extLst xmlns:a="http://schemas.openxmlformats.org/drawingml/2006/main">
              <a:ext uri="{FF2B5EF4-FFF2-40B4-BE49-F238E27FC236}">
                <a16:creationId xmlns:a16="http://schemas.microsoft.com/office/drawing/2014/main" id="{A4B2E4CF-879A-4825-9C83-C14A8785D9A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A"/>
          </a:solidFill>
          <a:ln xmlns:a="http://schemas.openxmlformats.org/drawingml/2006/main" w="0">
            <a:solidFill>
              <a:srgbClr val="000000">
                <a:alpha val="0"/>
              </a:srgbClr>
            </a:solidFill>
            <a:prstDash val="solid"/>
          </a:ln>
        </p:spPr>
      </p:sp>
      <p:sp>
        <p:nvSpPr>
          <p:cNvPr id="2" name="kicker-01-marker">
            <a:extLst xmlns:a="http://schemas.openxmlformats.org/drawingml/2006/main">
              <a:ext uri="{FF2B5EF4-FFF2-40B4-BE49-F238E27FC236}">
                <a16:creationId xmlns:a16="http://schemas.microsoft.com/office/drawing/2014/main" id="{99569ED2-EE8D-4523-88C3-2FA1C5970280}"/>
              </a:ext>
            </a:extLst>
          </p:cNvPr>
          <p:cNvSpPr>
            <a:spLocks xmlns:a="http://schemas.openxmlformats.org/drawingml/2006/main" noGrp="1"/>
          </p:cNvSpPr>
          <p:nvPr/>
        </p:nvSpPr>
        <p:spPr>
          <a:xfrm xmlns:a="http://schemas.openxmlformats.org/drawingml/2006/main">
            <a:off x="381000" y="323850"/>
            <a:ext cx="76200" cy="76200"/>
          </a:xfrm>
          <a:prstGeom xmlns:a="http://schemas.openxmlformats.org/drawingml/2006/main" prst="ellipse">
            <a:avLst/>
          </a:prstGeom>
          <a:solidFill xmlns:a="http://schemas.openxmlformats.org/drawingml/2006/main">
            <a:srgbClr val="2F6B57"/>
          </a:solidFill>
          <a:ln xmlns:a="http://schemas.openxmlformats.org/drawingml/2006/main" w="0">
            <a:solidFill>
              <a:srgbClr val="000000">
                <a:alpha val="0"/>
              </a:srgbClr>
            </a:solidFill>
            <a:prstDash val="solid"/>
          </a:ln>
        </p:spPr>
      </p:sp>
      <p:sp>
        <p:nvSpPr>
          <p:cNvPr id="3" name="kicker-01-label">
            <a:extLst xmlns:a="http://schemas.openxmlformats.org/drawingml/2006/main">
              <a:ext uri="{FF2B5EF4-FFF2-40B4-BE49-F238E27FC236}">
                <a16:creationId xmlns:a16="http://schemas.microsoft.com/office/drawing/2014/main" id="{7462C7D8-7990-4CBB-B2CE-799426882B04}"/>
              </a:ext>
            </a:extLst>
          </p:cNvPr>
          <p:cNvSpPr>
            <a:spLocks xmlns:a="http://schemas.openxmlformats.org/drawingml/2006/main" noGrp="1"/>
          </p:cNvSpPr>
          <p:nvPr/>
        </p:nvSpPr>
        <p:spPr>
          <a:xfrm xmlns:a="http://schemas.openxmlformats.org/drawingml/2006/main">
            <a:off x="533400" y="266700"/>
            <a:ext cx="4000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buNone/>
              <a:defRPr sz="975" b="1">
                <a:solidFill>
                  <a:srgbClr val="2F6B57"/>
                </a:solidFill>
                <a:latin typeface="Aptos"/>
                <a:ea typeface="Aptos"/>
                <a:cs typeface="Aptos"/>
              </a:defRPr>
            </a:pPr>
            <a:r>
              <a:rPr sz="975" b="1">
                <a:solidFill>
                  <a:srgbClr val="2F6B57"/>
                </a:solidFill>
                <a:latin typeface="Aptos"/>
                <a:ea typeface="Aptos"/>
                <a:cs typeface="Aptos"/>
              </a:rPr>
              <a:t>WEEK 06 UPDATE</a:t>
            </a:r>
          </a:p>
        </p:txBody>
      </p:sp>
      <p:sp>
        <p:nvSpPr>
          <p:cNvPr id="4" name="claim-title">
            <a:extLst xmlns:a="http://schemas.openxmlformats.org/drawingml/2006/main">
              <a:ext uri="{FF2B5EF4-FFF2-40B4-BE49-F238E27FC236}">
                <a16:creationId xmlns:a16="http://schemas.microsoft.com/office/drawing/2014/main" id="{76A594AF-BB34-4D72-AEB6-8FA700D757DF}"/>
              </a:ext>
            </a:extLst>
          </p:cNvPr>
          <p:cNvSpPr>
            <a:spLocks xmlns:a="http://schemas.openxmlformats.org/drawingml/2006/main" noGrp="1"/>
          </p:cNvSpPr>
          <p:nvPr/>
        </p:nvSpPr>
        <p:spPr>
          <a:xfrm xmlns:a="http://schemas.openxmlformats.org/drawingml/2006/main">
            <a:off x="381000" y="542925"/>
            <a:ext cx="11334750" cy="742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buNone/>
              <a:defRPr sz="2700" b="1">
                <a:solidFill>
                  <a:srgbClr val="172A3A"/>
                </a:solidFill>
                <a:latin typeface="Aptos Display"/>
                <a:ea typeface="Aptos Display"/>
                <a:cs typeface="Aptos Display"/>
              </a:defRPr>
            </a:pPr>
            <a:r>
              <a:rPr sz="2700" b="1">
                <a:solidFill>
                  <a:srgbClr val="172A3A"/>
                </a:solidFill>
                <a:latin typeface="Aptos Display"/>
                <a:ea typeface="Aptos Display"/>
                <a:cs typeface="Aptos Display"/>
              </a:rPr>
              <a:t>Week 06 turned one use case into a repeatable assessment method.</a:t>
            </a:r>
          </a:p>
        </p:txBody>
      </p:sp>
      <p:sp>
        <p:nvSpPr>
          <p:cNvPr id="5" name="title-rule">
            <a:extLst xmlns:a="http://schemas.openxmlformats.org/drawingml/2006/main">
              <a:ext uri="{FF2B5EF4-FFF2-40B4-BE49-F238E27FC236}">
                <a16:creationId xmlns:a16="http://schemas.microsoft.com/office/drawing/2014/main" id="{62A8B12D-493D-4A1D-80BD-EA6D9169AB1B}"/>
              </a:ext>
            </a:extLst>
          </p:cNvPr>
          <p:cNvSpPr>
            <a:spLocks xmlns:a="http://schemas.openxmlformats.org/drawingml/2006/main" noGrp="1"/>
          </p:cNvSpPr>
          <p:nvPr/>
        </p:nvSpPr>
        <p:spPr>
          <a:xfrm xmlns:a="http://schemas.openxmlformats.org/drawingml/2006/main">
            <a:off x="381000" y="1381125"/>
            <a:ext cx="11430000" cy="9525"/>
          </a:xfrm>
          <a:prstGeom xmlns:a="http://schemas.openxmlformats.org/drawingml/2006/main" prst="rect">
            <a:avLst/>
          </a:prstGeom>
          <a:solidFill xmlns:a="http://schemas.openxmlformats.org/drawingml/2006/main">
            <a:srgbClr val="D6D3CB"/>
          </a:solidFill>
          <a:ln xmlns:a="http://schemas.openxmlformats.org/drawingml/2006/main" w="0">
            <a:solidFill>
              <a:srgbClr val="000000">
                <a:alpha val="0"/>
              </a:srgbClr>
            </a:solidFill>
            <a:prstDash val="solid"/>
          </a:ln>
        </p:spPr>
      </p:sp>
      <p:sp>
        <p:nvSpPr>
          <p:cNvPr id="6" name="footer-rule">
            <a:extLst xmlns:a="http://schemas.openxmlformats.org/drawingml/2006/main">
              <a:ext uri="{FF2B5EF4-FFF2-40B4-BE49-F238E27FC236}">
                <a16:creationId xmlns:a16="http://schemas.microsoft.com/office/drawing/2014/main" id="{8050D022-6C77-4D0E-B0A0-9A10A0AFEB9F}"/>
              </a:ext>
            </a:extLst>
          </p:cNvPr>
          <p:cNvSpPr>
            <a:spLocks xmlns:a="http://schemas.openxmlformats.org/drawingml/2006/main" noGrp="1"/>
          </p:cNvSpPr>
          <p:nvPr/>
        </p:nvSpPr>
        <p:spPr>
          <a:xfrm xmlns:a="http://schemas.openxmlformats.org/drawingml/2006/main">
            <a:off x="381000" y="6477000"/>
            <a:ext cx="11430000" cy="9525"/>
          </a:xfrm>
          <a:prstGeom xmlns:a="http://schemas.openxmlformats.org/drawingml/2006/main" prst="rect">
            <a:avLst/>
          </a:prstGeom>
          <a:solidFill xmlns:a="http://schemas.openxmlformats.org/drawingml/2006/main">
            <a:srgbClr val="D6D3CB"/>
          </a:solidFill>
          <a:ln xmlns:a="http://schemas.openxmlformats.org/drawingml/2006/main" w="0">
            <a:solidFill>
              <a:srgbClr val="000000">
                <a:alpha val="0"/>
              </a:srgbClr>
            </a:solidFill>
            <a:prstDash val="solid"/>
          </a:ln>
        </p:spPr>
      </p:sp>
      <p:sp>
        <p:nvSpPr>
          <p:cNvPr id="7" name="source-footer">
            <a:extLst xmlns:a="http://schemas.openxmlformats.org/drawingml/2006/main">
              <a:ext uri="{FF2B5EF4-FFF2-40B4-BE49-F238E27FC236}">
                <a16:creationId xmlns:a16="http://schemas.microsoft.com/office/drawing/2014/main" id="{8C00F83E-6A75-485B-AC97-4652F71B7BB3}"/>
              </a:ext>
            </a:extLst>
          </p:cNvPr>
          <p:cNvSpPr>
            <a:spLocks xmlns:a="http://schemas.openxmlformats.org/drawingml/2006/main" noGrp="1"/>
          </p:cNvSpPr>
          <p:nvPr/>
        </p:nvSpPr>
        <p:spPr>
          <a:xfrm xmlns:a="http://schemas.openxmlformats.org/drawingml/2006/main">
            <a:off x="381000" y="6543675"/>
            <a:ext cx="1019175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buNone/>
              <a:defRPr sz="675" b="0">
                <a:solidFill>
                  <a:srgbClr val="63717B"/>
                </a:solidFill>
                <a:latin typeface="Aptos"/>
                <a:ea typeface="Aptos"/>
                <a:cs typeface="Aptos"/>
              </a:defRPr>
            </a:pPr>
            <a:r>
              <a:rPr sz="675" b="0">
                <a:solidFill>
                  <a:srgbClr val="63717B"/>
                </a:solidFill>
                <a:latin typeface="Aptos"/>
                <a:ea typeface="Aptos"/>
                <a:cs typeface="Aptos"/>
              </a:rPr>
              <a:t>Sources: Week 06 Day 1–5 synthesis; 2026-08-26 Thomas meeting outline; registration consensus 2026-08-20.</a:t>
            </a:r>
          </a:p>
        </p:txBody>
      </p:sp>
      <p:sp>
        <p:nvSpPr>
          <p:cNvPr id="8" name="page-marker">
            <a:extLst xmlns:a="http://schemas.openxmlformats.org/drawingml/2006/main">
              <a:ext uri="{FF2B5EF4-FFF2-40B4-BE49-F238E27FC236}">
                <a16:creationId xmlns:a16="http://schemas.microsoft.com/office/drawing/2014/main" id="{983EBACD-0A9C-4EDC-9839-0AA01802ECA7}"/>
              </a:ext>
            </a:extLst>
          </p:cNvPr>
          <p:cNvSpPr>
            <a:spLocks xmlns:a="http://schemas.openxmlformats.org/drawingml/2006/main" noGrp="1"/>
          </p:cNvSpPr>
          <p:nvPr/>
        </p:nvSpPr>
        <p:spPr>
          <a:xfrm xmlns:a="http://schemas.openxmlformats.org/drawingml/2006/main">
            <a:off x="11191875" y="6524625"/>
            <a:ext cx="619125"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r">
              <a:buNone/>
              <a:defRPr sz="750" b="1">
                <a:solidFill>
                  <a:srgbClr val="2F6B57"/>
                </a:solidFill>
                <a:latin typeface="Aptos"/>
                <a:ea typeface="Aptos"/>
                <a:cs typeface="Aptos"/>
              </a:defRPr>
            </a:pPr>
            <a:r>
              <a:rPr sz="750" b="1">
                <a:solidFill>
                  <a:srgbClr val="2F6B57"/>
                </a:solidFill>
                <a:latin typeface="Aptos"/>
                <a:ea typeface="Aptos"/>
                <a:cs typeface="Aptos"/>
              </a:rPr>
              <a:t>01</a:t>
            </a:r>
          </a:p>
        </p:txBody>
      </p:sp>
      <p:sp>
        <p:nvSpPr>
          <p:cNvPr id="9" name="">
            <a:extLst xmlns:a="http://schemas.openxmlformats.org/drawingml/2006/main">
              <a:ext uri="{FF2B5EF4-FFF2-40B4-BE49-F238E27FC236}">
                <a16:creationId xmlns:a16="http://schemas.microsoft.com/office/drawing/2014/main" id="{4B345C44-AEA3-4584-B6E4-09F9D3B69440}"/>
              </a:ext>
            </a:extLst>
          </p:cNvPr>
          <p:cNvSpPr>
            <a:spLocks xmlns:a="http://schemas.openxmlformats.org/drawingml/2006/main" noGrp="1"/>
          </p:cNvSpPr>
          <p:nvPr/>
        </p:nvSpPr>
        <p:spPr>
          <a:xfrm xmlns:a="http://schemas.openxmlformats.org/drawingml/2006/main">
            <a:off x="381000" y="1504950"/>
            <a:ext cx="11430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buNone/>
              <a:defRPr sz="1350" b="0">
                <a:solidFill>
                  <a:srgbClr val="63717B"/>
                </a:solidFill>
                <a:latin typeface="Aptos"/>
                <a:ea typeface="Aptos"/>
                <a:cs typeface="Aptos"/>
              </a:defRPr>
            </a:pPr>
            <a:r>
              <a:rPr sz="1350" b="0">
                <a:solidFill>
                  <a:srgbClr val="63717B"/>
                </a:solidFill>
                <a:latin typeface="Aptos"/>
                <a:ea typeface="Aptos"/>
                <a:cs typeface="Aptos"/>
              </a:rPr>
              <a:t>Pack EoL test-connector handling was the deep reference case—not the final thesis boundary.</a:t>
            </a:r>
          </a:p>
        </p:txBody>
      </p:sp>
      <p:sp>
        <p:nvSpPr>
          <p:cNvPr id="10" name="did-panel">
            <a:extLst xmlns:a="http://schemas.openxmlformats.org/drawingml/2006/main">
              <a:ext uri="{FF2B5EF4-FFF2-40B4-BE49-F238E27FC236}">
                <a16:creationId xmlns:a16="http://schemas.microsoft.com/office/drawing/2014/main" id="{59D4BA31-5F33-4918-9642-A5ED494EF391}"/>
              </a:ext>
            </a:extLst>
          </p:cNvPr>
          <p:cNvSpPr>
            <a:spLocks xmlns:a="http://schemas.openxmlformats.org/drawingml/2006/main" noGrp="1"/>
          </p:cNvSpPr>
          <p:nvPr/>
        </p:nvSpPr>
        <p:spPr>
          <a:xfrm xmlns:a="http://schemas.openxmlformats.org/drawingml/2006/main">
            <a:off x="381000" y="2047875"/>
            <a:ext cx="3476625" cy="2333625"/>
          </a:xfrm>
          <a:prstGeom xmlns:a="http://schemas.openxmlformats.org/drawingml/2006/main" prst="rect">
            <a:avLst/>
          </a:prstGeom>
          <a:solidFill xmlns:a="http://schemas.openxmlformats.org/drawingml/2006/main">
            <a:srgbClr val="E4EEE8"/>
          </a:solidFill>
          <a:ln xmlns:a="http://schemas.openxmlformats.org/drawingml/2006/main" w="9525">
            <a:solidFill>
              <a:srgbClr val="D8D7D0"/>
            </a:solidFill>
            <a:prstDash val="solid"/>
          </a:ln>
        </p:spPr>
      </p:sp>
      <p:sp>
        <p:nvSpPr>
          <p:cNvPr id="11" name="did-panel-accent">
            <a:extLst xmlns:a="http://schemas.openxmlformats.org/drawingml/2006/main">
              <a:ext uri="{FF2B5EF4-FFF2-40B4-BE49-F238E27FC236}">
                <a16:creationId xmlns:a16="http://schemas.microsoft.com/office/drawing/2014/main" id="{E8617017-421E-466B-A341-F8A8CB61A5AA}"/>
              </a:ext>
            </a:extLst>
          </p:cNvPr>
          <p:cNvSpPr>
            <a:spLocks xmlns:a="http://schemas.openxmlformats.org/drawingml/2006/main" noGrp="1"/>
          </p:cNvSpPr>
          <p:nvPr/>
        </p:nvSpPr>
        <p:spPr>
          <a:xfrm xmlns:a="http://schemas.openxmlformats.org/drawingml/2006/main">
            <a:off x="381000" y="2047875"/>
            <a:ext cx="3476625" cy="47625"/>
          </a:xfrm>
          <a:prstGeom xmlns:a="http://schemas.openxmlformats.org/drawingml/2006/main" prst="rect">
            <a:avLst/>
          </a:prstGeom>
          <a:solidFill xmlns:a="http://schemas.openxmlformats.org/drawingml/2006/main">
            <a:srgbClr val="2F6B57"/>
          </a:solidFill>
          <a:ln xmlns:a="http://schemas.openxmlformats.org/drawingml/2006/main" w="0">
            <a:solidFill>
              <a:srgbClr val="000000">
                <a:alpha val="0"/>
              </a:srgbClr>
            </a:solidFill>
            <a:prstDash val="solid"/>
          </a:ln>
        </p:spPr>
      </p:sp>
      <p:sp>
        <p:nvSpPr>
          <p:cNvPr id="12" name="did-panel-title">
            <a:extLst xmlns:a="http://schemas.openxmlformats.org/drawingml/2006/main">
              <a:ext uri="{FF2B5EF4-FFF2-40B4-BE49-F238E27FC236}">
                <a16:creationId xmlns:a16="http://schemas.microsoft.com/office/drawing/2014/main" id="{9004BC13-39F7-4CDE-83A4-B8A8AA6C0209}"/>
              </a:ext>
            </a:extLst>
          </p:cNvPr>
          <p:cNvSpPr>
            <a:spLocks xmlns:a="http://schemas.openxmlformats.org/drawingml/2006/main" noGrp="1"/>
          </p:cNvSpPr>
          <p:nvPr/>
        </p:nvSpPr>
        <p:spPr>
          <a:xfrm xmlns:a="http://schemas.openxmlformats.org/drawingml/2006/main">
            <a:off x="552450" y="2219325"/>
            <a:ext cx="3133725"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buNone/>
              <a:defRPr sz="1350" b="1">
                <a:solidFill>
                  <a:srgbClr val="172A3A"/>
                </a:solidFill>
                <a:latin typeface="Aptos"/>
                <a:ea typeface="Aptos"/>
                <a:cs typeface="Aptos"/>
              </a:defRPr>
            </a:pPr>
            <a:r>
              <a:rPr sz="1350" b="1">
                <a:solidFill>
                  <a:srgbClr val="172A3A"/>
                </a:solidFill>
                <a:latin typeface="Aptos"/>
                <a:ea typeface="Aptos"/>
                <a:cs typeface="Aptos"/>
              </a:rPr>
              <a:t>1  What I did</a:t>
            </a:r>
          </a:p>
        </p:txBody>
      </p:sp>
      <p:sp>
        <p:nvSpPr>
          <p:cNvPr id="13" name="did-panel-body">
            <a:extLst xmlns:a="http://schemas.openxmlformats.org/drawingml/2006/main">
              <a:ext uri="{FF2B5EF4-FFF2-40B4-BE49-F238E27FC236}">
                <a16:creationId xmlns:a16="http://schemas.microsoft.com/office/drawing/2014/main" id="{4CECC862-D636-4381-BAA4-5A289D873077}"/>
              </a:ext>
            </a:extLst>
          </p:cNvPr>
          <p:cNvSpPr>
            <a:spLocks xmlns:a="http://schemas.openxmlformats.org/drawingml/2006/main" noGrp="1"/>
          </p:cNvSpPr>
          <p:nvPr/>
        </p:nvSpPr>
        <p:spPr>
          <a:xfrm xmlns:a="http://schemas.openxmlformats.org/drawingml/2006/main">
            <a:off x="552450" y="2590800"/>
            <a:ext cx="3133725" cy="16478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200" b="0">
                <a:solidFill>
                  <a:srgbClr val="172A3A"/>
                </a:solidFill>
                <a:latin typeface="Aptos"/>
                <a:ea typeface="Aptos"/>
                <a:cs typeface="Aptos"/>
              </a:defRPr>
            </a:pPr>
            <a:r>
              <a:rPr sz="1200" b="0">
                <a:solidFill>
                  <a:srgbClr val="172A3A"/>
                </a:solidFill>
                <a:latin typeface="Aptos"/>
                <a:ea typeface="Aptos"/>
                <a:cs typeface="Aptos"/>
              </a:rPr>
              <a:t>• Decomposed the connector-handling cycle and system responsibilities</a:t>
            </a:r>
          </a:p>
          <a:p xmlns:a="http://schemas.openxmlformats.org/drawingml/2006/main">
            <a:r>
              <a:t/>
            </a:r>
          </a:p>
          <a:p xmlns:a="http://schemas.openxmlformats.org/drawingml/2006/main">
            <a:pPr algn="l">
              <a:buNone/>
              <a:defRPr sz="1200" b="0">
                <a:solidFill>
                  <a:srgbClr val="172A3A"/>
                </a:solidFill>
                <a:latin typeface="Aptos"/>
                <a:ea typeface="Aptos"/>
                <a:cs typeface="Aptos"/>
              </a:defRPr>
            </a:pPr>
            <a:r>
              <a:rPr sz="1200" b="0">
                <a:solidFill>
                  <a:srgbClr val="172A3A"/>
                </a:solidFill>
                <a:latin typeface="Aptos"/>
                <a:ea typeface="Aptos"/>
                <a:cs typeface="Aptos"/>
              </a:rPr>
              <a:t>• Derived six task and production requirements</a:t>
            </a:r>
          </a:p>
          <a:p xmlns:a="http://schemas.openxmlformats.org/drawingml/2006/main">
            <a:r>
              <a:t/>
            </a:r>
          </a:p>
          <a:p xmlns:a="http://schemas.openxmlformats.org/drawingml/2006/main">
            <a:pPr algn="l">
              <a:buNone/>
              <a:defRPr sz="1200" b="0">
                <a:solidFill>
                  <a:srgbClr val="172A3A"/>
                </a:solidFill>
                <a:latin typeface="Aptos"/>
                <a:ea typeface="Aptos"/>
                <a:cs typeface="Aptos"/>
              </a:defRPr>
            </a:pPr>
            <a:r>
              <a:rPr sz="1200" b="0">
                <a:solidFill>
                  <a:srgbClr val="172A3A"/>
                </a:solidFill>
                <a:latin typeface="Aptos"/>
                <a:ea typeface="Aptos"/>
                <a:cs typeface="Aptos"/>
              </a:rPr>
              <a:t>• Built Framework v0.1 for architecture assessment</a:t>
            </a:r>
          </a:p>
        </p:txBody>
      </p:sp>
      <p:sp>
        <p:nvSpPr>
          <p:cNvPr id="14" name="problem-panel">
            <a:extLst xmlns:a="http://schemas.openxmlformats.org/drawingml/2006/main">
              <a:ext uri="{FF2B5EF4-FFF2-40B4-BE49-F238E27FC236}">
                <a16:creationId xmlns:a16="http://schemas.microsoft.com/office/drawing/2014/main" id="{CB4AC38A-AC80-4A18-A34D-BB9D45C2C1D6}"/>
              </a:ext>
            </a:extLst>
          </p:cNvPr>
          <p:cNvSpPr>
            <a:spLocks xmlns:a="http://schemas.openxmlformats.org/drawingml/2006/main" noGrp="1"/>
          </p:cNvSpPr>
          <p:nvPr/>
        </p:nvSpPr>
        <p:spPr>
          <a:xfrm xmlns:a="http://schemas.openxmlformats.org/drawingml/2006/main">
            <a:off x="4362450" y="2047875"/>
            <a:ext cx="3476625" cy="2333625"/>
          </a:xfrm>
          <a:prstGeom xmlns:a="http://schemas.openxmlformats.org/drawingml/2006/main" prst="rect">
            <a:avLst/>
          </a:prstGeom>
          <a:solidFill xmlns:a="http://schemas.openxmlformats.org/drawingml/2006/main">
            <a:srgbClr val="F5E5D8"/>
          </a:solidFill>
          <a:ln xmlns:a="http://schemas.openxmlformats.org/drawingml/2006/main" w="9525">
            <a:solidFill>
              <a:srgbClr val="D8D7D0"/>
            </a:solidFill>
            <a:prstDash val="solid"/>
          </a:ln>
        </p:spPr>
      </p:sp>
      <p:sp>
        <p:nvSpPr>
          <p:cNvPr id="15" name="problem-panel-accent">
            <a:extLst xmlns:a="http://schemas.openxmlformats.org/drawingml/2006/main">
              <a:ext uri="{FF2B5EF4-FFF2-40B4-BE49-F238E27FC236}">
                <a16:creationId xmlns:a16="http://schemas.microsoft.com/office/drawing/2014/main" id="{291EED0C-008F-4EEF-A793-F51A07D09B1E}"/>
              </a:ext>
            </a:extLst>
          </p:cNvPr>
          <p:cNvSpPr>
            <a:spLocks xmlns:a="http://schemas.openxmlformats.org/drawingml/2006/main" noGrp="1"/>
          </p:cNvSpPr>
          <p:nvPr/>
        </p:nvSpPr>
        <p:spPr>
          <a:xfrm xmlns:a="http://schemas.openxmlformats.org/drawingml/2006/main">
            <a:off x="4362450" y="2047875"/>
            <a:ext cx="3476625" cy="47625"/>
          </a:xfrm>
          <a:prstGeom xmlns:a="http://schemas.openxmlformats.org/drawingml/2006/main" prst="rect">
            <a:avLst/>
          </a:prstGeom>
          <a:solidFill xmlns:a="http://schemas.openxmlformats.org/drawingml/2006/main">
            <a:srgbClr val="D97941"/>
          </a:solidFill>
          <a:ln xmlns:a="http://schemas.openxmlformats.org/drawingml/2006/main" w="0">
            <a:solidFill>
              <a:srgbClr val="000000">
                <a:alpha val="0"/>
              </a:srgbClr>
            </a:solidFill>
            <a:prstDash val="solid"/>
          </a:ln>
        </p:spPr>
      </p:sp>
      <p:sp>
        <p:nvSpPr>
          <p:cNvPr id="16" name="problem-panel-title">
            <a:extLst xmlns:a="http://schemas.openxmlformats.org/drawingml/2006/main">
              <a:ext uri="{FF2B5EF4-FFF2-40B4-BE49-F238E27FC236}">
                <a16:creationId xmlns:a16="http://schemas.microsoft.com/office/drawing/2014/main" id="{1C302F61-0EAC-418F-BB1A-DC5A65210B3C}"/>
              </a:ext>
            </a:extLst>
          </p:cNvPr>
          <p:cNvSpPr>
            <a:spLocks xmlns:a="http://schemas.openxmlformats.org/drawingml/2006/main" noGrp="1"/>
          </p:cNvSpPr>
          <p:nvPr/>
        </p:nvSpPr>
        <p:spPr>
          <a:xfrm xmlns:a="http://schemas.openxmlformats.org/drawingml/2006/main">
            <a:off x="4533900" y="2219325"/>
            <a:ext cx="3133725"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buNone/>
              <a:defRPr sz="1350" b="1">
                <a:solidFill>
                  <a:srgbClr val="172A3A"/>
                </a:solidFill>
                <a:latin typeface="Aptos"/>
                <a:ea typeface="Aptos"/>
                <a:cs typeface="Aptos"/>
              </a:defRPr>
            </a:pPr>
            <a:r>
              <a:rPr sz="1350" b="1">
                <a:solidFill>
                  <a:srgbClr val="172A3A"/>
                </a:solidFill>
                <a:latin typeface="Aptos"/>
                <a:ea typeface="Aptos"/>
                <a:cs typeface="Aptos"/>
              </a:rPr>
              <a:t>2  What is the problem</a:t>
            </a:r>
          </a:p>
        </p:txBody>
      </p:sp>
      <p:sp>
        <p:nvSpPr>
          <p:cNvPr id="17" name="problem-panel-body">
            <a:extLst xmlns:a="http://schemas.openxmlformats.org/drawingml/2006/main">
              <a:ext uri="{FF2B5EF4-FFF2-40B4-BE49-F238E27FC236}">
                <a16:creationId xmlns:a16="http://schemas.microsoft.com/office/drawing/2014/main" id="{E44C4915-C21C-4B5C-A45D-CA612DF3B910}"/>
              </a:ext>
            </a:extLst>
          </p:cNvPr>
          <p:cNvSpPr>
            <a:spLocks xmlns:a="http://schemas.openxmlformats.org/drawingml/2006/main" noGrp="1"/>
          </p:cNvSpPr>
          <p:nvPr/>
        </p:nvSpPr>
        <p:spPr>
          <a:xfrm xmlns:a="http://schemas.openxmlformats.org/drawingml/2006/main">
            <a:off x="4533900" y="2590800"/>
            <a:ext cx="3133725" cy="16478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200" b="0">
                <a:solidFill>
                  <a:srgbClr val="172A3A"/>
                </a:solidFill>
                <a:latin typeface="Aptos"/>
                <a:ea typeface="Aptos"/>
                <a:cs typeface="Aptos"/>
              </a:defRPr>
            </a:pPr>
            <a:r>
              <a:rPr sz="1200" b="0">
                <a:solidFill>
                  <a:srgbClr val="172A3A"/>
                </a:solidFill>
                <a:latin typeface="Aptos"/>
                <a:ea typeface="Aptos"/>
                <a:cs typeface="Aptos"/>
              </a:rPr>
              <a:t>• The task is flexible, contact-rich and safety-gated</a:t>
            </a:r>
          </a:p>
          <a:p xmlns:a="http://schemas.openxmlformats.org/drawingml/2006/main">
            <a:r>
              <a:t/>
            </a:r>
          </a:p>
          <a:p xmlns:a="http://schemas.openxmlformats.org/drawingml/2006/main">
            <a:pPr algn="l">
              <a:buNone/>
              <a:defRPr sz="1200" b="0">
                <a:solidFill>
                  <a:srgbClr val="172A3A"/>
                </a:solidFill>
                <a:latin typeface="Aptos"/>
                <a:ea typeface="Aptos"/>
                <a:cs typeface="Aptos"/>
              </a:defRPr>
            </a:pPr>
            <a:r>
              <a:rPr sz="1200" b="0">
                <a:solidFill>
                  <a:srgbClr val="172A3A"/>
                </a:solidFill>
                <a:latin typeface="Aptos"/>
                <a:ea typeface="Aptos"/>
                <a:cs typeface="Aptos"/>
              </a:rPr>
              <a:t>• Evidence strength is unequal across architectures</a:t>
            </a:r>
          </a:p>
          <a:p xmlns:a="http://schemas.openxmlformats.org/drawingml/2006/main">
            <a:r>
              <a:t/>
            </a:r>
          </a:p>
          <a:p xmlns:a="http://schemas.openxmlformats.org/drawingml/2006/main">
            <a:pPr algn="l">
              <a:buNone/>
              <a:defRPr sz="1200" b="0">
                <a:solidFill>
                  <a:srgbClr val="172A3A"/>
                </a:solidFill>
                <a:latin typeface="Aptos"/>
                <a:ea typeface="Aptos"/>
                <a:cs typeface="Aptos"/>
              </a:defRPr>
            </a:pPr>
            <a:r>
              <a:rPr sz="1200" b="0">
                <a:solidFill>
                  <a:srgbClr val="172A3A"/>
                </a:solidFill>
                <a:latin typeface="Aptos"/>
                <a:ea typeface="Aptos"/>
                <a:cs typeface="Aptos"/>
              </a:rPr>
              <a:t>• Current evidence cannot support a global ranking</a:t>
            </a:r>
          </a:p>
        </p:txBody>
      </p:sp>
      <p:sp>
        <p:nvSpPr>
          <p:cNvPr id="18" name="next-panel">
            <a:extLst xmlns:a="http://schemas.openxmlformats.org/drawingml/2006/main">
              <a:ext uri="{FF2B5EF4-FFF2-40B4-BE49-F238E27FC236}">
                <a16:creationId xmlns:a16="http://schemas.microsoft.com/office/drawing/2014/main" id="{41B9183C-255B-43D1-9525-1BD3993ABC53}"/>
              </a:ext>
            </a:extLst>
          </p:cNvPr>
          <p:cNvSpPr>
            <a:spLocks xmlns:a="http://schemas.openxmlformats.org/drawingml/2006/main" noGrp="1"/>
          </p:cNvSpPr>
          <p:nvPr/>
        </p:nvSpPr>
        <p:spPr>
          <a:xfrm xmlns:a="http://schemas.openxmlformats.org/drawingml/2006/main">
            <a:off x="8334375" y="2047875"/>
            <a:ext cx="3476625" cy="2333625"/>
          </a:xfrm>
          <a:prstGeom xmlns:a="http://schemas.openxmlformats.org/drawingml/2006/main" prst="rect">
            <a:avLst/>
          </a:prstGeom>
          <a:solidFill xmlns:a="http://schemas.openxmlformats.org/drawingml/2006/main">
            <a:srgbClr val="E4EBF0"/>
          </a:solidFill>
          <a:ln xmlns:a="http://schemas.openxmlformats.org/drawingml/2006/main" w="9525">
            <a:solidFill>
              <a:srgbClr val="D8D7D0"/>
            </a:solidFill>
            <a:prstDash val="solid"/>
          </a:ln>
        </p:spPr>
      </p:sp>
      <p:sp>
        <p:nvSpPr>
          <p:cNvPr id="19" name="next-panel-accent">
            <a:extLst xmlns:a="http://schemas.openxmlformats.org/drawingml/2006/main">
              <a:ext uri="{FF2B5EF4-FFF2-40B4-BE49-F238E27FC236}">
                <a16:creationId xmlns:a16="http://schemas.microsoft.com/office/drawing/2014/main" id="{DEE9AF8C-1EFC-4981-8428-9A7497B9583D}"/>
              </a:ext>
            </a:extLst>
          </p:cNvPr>
          <p:cNvSpPr>
            <a:spLocks xmlns:a="http://schemas.openxmlformats.org/drawingml/2006/main" noGrp="1"/>
          </p:cNvSpPr>
          <p:nvPr/>
        </p:nvSpPr>
        <p:spPr>
          <a:xfrm xmlns:a="http://schemas.openxmlformats.org/drawingml/2006/main">
            <a:off x="8334375" y="2047875"/>
            <a:ext cx="3476625" cy="47625"/>
          </a:xfrm>
          <a:prstGeom xmlns:a="http://schemas.openxmlformats.org/drawingml/2006/main" prst="rect">
            <a:avLst/>
          </a:prstGeom>
          <a:solidFill xmlns:a="http://schemas.openxmlformats.org/drawingml/2006/main">
            <a:srgbClr val="4E7897"/>
          </a:solidFill>
          <a:ln xmlns:a="http://schemas.openxmlformats.org/drawingml/2006/main" w="0">
            <a:solidFill>
              <a:srgbClr val="000000">
                <a:alpha val="0"/>
              </a:srgbClr>
            </a:solidFill>
            <a:prstDash val="solid"/>
          </a:ln>
        </p:spPr>
      </p:sp>
      <p:sp>
        <p:nvSpPr>
          <p:cNvPr id="20" name="next-panel-title">
            <a:extLst xmlns:a="http://schemas.openxmlformats.org/drawingml/2006/main">
              <a:ext uri="{FF2B5EF4-FFF2-40B4-BE49-F238E27FC236}">
                <a16:creationId xmlns:a16="http://schemas.microsoft.com/office/drawing/2014/main" id="{E36894C3-793C-42FE-AAC5-1A6596ACB7FF}"/>
              </a:ext>
            </a:extLst>
          </p:cNvPr>
          <p:cNvSpPr>
            <a:spLocks xmlns:a="http://schemas.openxmlformats.org/drawingml/2006/main" noGrp="1"/>
          </p:cNvSpPr>
          <p:nvPr/>
        </p:nvSpPr>
        <p:spPr>
          <a:xfrm xmlns:a="http://schemas.openxmlformats.org/drawingml/2006/main">
            <a:off x="8505825" y="2219325"/>
            <a:ext cx="3133725"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buNone/>
              <a:defRPr sz="1350" b="1">
                <a:solidFill>
                  <a:srgbClr val="172A3A"/>
                </a:solidFill>
                <a:latin typeface="Aptos"/>
                <a:ea typeface="Aptos"/>
                <a:cs typeface="Aptos"/>
              </a:defRPr>
            </a:pPr>
            <a:r>
              <a:rPr sz="1350" b="1">
                <a:solidFill>
                  <a:srgbClr val="172A3A"/>
                </a:solidFill>
                <a:latin typeface="Aptos"/>
                <a:ea typeface="Aptos"/>
                <a:cs typeface="Aptos"/>
              </a:rPr>
              <a:t>3  Next week</a:t>
            </a:r>
          </a:p>
        </p:txBody>
      </p:sp>
      <p:sp>
        <p:nvSpPr>
          <p:cNvPr id="21" name="next-panel-body">
            <a:extLst xmlns:a="http://schemas.openxmlformats.org/drawingml/2006/main">
              <a:ext uri="{FF2B5EF4-FFF2-40B4-BE49-F238E27FC236}">
                <a16:creationId xmlns:a16="http://schemas.microsoft.com/office/drawing/2014/main" id="{94DFCEB0-FCF6-406A-93E6-41EE40028D71}"/>
              </a:ext>
            </a:extLst>
          </p:cNvPr>
          <p:cNvSpPr>
            <a:spLocks xmlns:a="http://schemas.openxmlformats.org/drawingml/2006/main" noGrp="1"/>
          </p:cNvSpPr>
          <p:nvPr/>
        </p:nvSpPr>
        <p:spPr>
          <a:xfrm xmlns:a="http://schemas.openxmlformats.org/drawingml/2006/main">
            <a:off x="8505825" y="2590800"/>
            <a:ext cx="3133725" cy="16478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200" b="0">
                <a:solidFill>
                  <a:srgbClr val="172A3A"/>
                </a:solidFill>
                <a:latin typeface="Aptos"/>
                <a:ea typeface="Aptos"/>
                <a:cs typeface="Aptos"/>
              </a:defRPr>
            </a:pPr>
            <a:r>
              <a:rPr sz="1200" b="0">
                <a:solidFill>
                  <a:srgbClr val="172A3A"/>
                </a:solidFill>
                <a:latin typeface="Aptos"/>
                <a:ea typeface="Aptos"/>
                <a:cs typeface="Aptos"/>
              </a:rPr>
              <a:t>• Run one bounded transfer test on cell identification, grasping and loading</a:t>
            </a:r>
          </a:p>
          <a:p xmlns:a="http://schemas.openxmlformats.org/drawingml/2006/main">
            <a:r>
              <a:t/>
            </a:r>
          </a:p>
          <a:p xmlns:a="http://schemas.openxmlformats.org/drawingml/2006/main">
            <a:pPr algn="l">
              <a:buNone/>
              <a:defRPr sz="1200" b="0">
                <a:solidFill>
                  <a:srgbClr val="172A3A"/>
                </a:solidFill>
                <a:latin typeface="Aptos"/>
                <a:ea typeface="Aptos"/>
                <a:cs typeface="Aptos"/>
              </a:defRPr>
            </a:pPr>
            <a:r>
              <a:rPr sz="1200" b="0">
                <a:solidFill>
                  <a:srgbClr val="172A3A"/>
                </a:solidFill>
                <a:latin typeface="Aptos"/>
                <a:ea typeface="Aptos"/>
                <a:cs typeface="Aptos"/>
              </a:rPr>
              <a:t>• Confirm title, RQs and production-level scope with Thomas</a:t>
            </a:r>
          </a:p>
        </p:txBody>
      </p:sp>
      <p:sp>
        <p:nvSpPr>
          <p:cNvPr id="22" name="method-ribbon">
            <a:extLst xmlns:a="http://schemas.openxmlformats.org/drawingml/2006/main">
              <a:ext uri="{FF2B5EF4-FFF2-40B4-BE49-F238E27FC236}">
                <a16:creationId xmlns:a16="http://schemas.microsoft.com/office/drawing/2014/main" id="{F0D4679B-230D-409C-837C-C51A8B9654D8}"/>
              </a:ext>
            </a:extLst>
          </p:cNvPr>
          <p:cNvSpPr>
            <a:spLocks xmlns:a="http://schemas.openxmlformats.org/drawingml/2006/main" noGrp="1"/>
          </p:cNvSpPr>
          <p:nvPr/>
        </p:nvSpPr>
        <p:spPr>
          <a:xfrm xmlns:a="http://schemas.openxmlformats.org/drawingml/2006/main">
            <a:off x="381000" y="4810125"/>
            <a:ext cx="11430000" cy="1000125"/>
          </a:xfrm>
          <a:prstGeom xmlns:a="http://schemas.openxmlformats.org/drawingml/2006/main" prst="rect">
            <a:avLst/>
          </a:prstGeom>
          <a:solidFill xmlns:a="http://schemas.openxmlformats.org/drawingml/2006/main">
            <a:srgbClr val="172A3A"/>
          </a:solidFill>
          <a:ln xmlns:a="http://schemas.openxmlformats.org/drawingml/2006/main" w="0">
            <a:solidFill>
              <a:srgbClr val="000000">
                <a:alpha val="0"/>
              </a:srgbClr>
            </a:solidFill>
            <a:prstDash val="solid"/>
          </a:ln>
        </p:spPr>
      </p:sp>
      <p:sp>
        <p:nvSpPr>
          <p:cNvPr id="23" name="">
            <a:extLst xmlns:a="http://schemas.openxmlformats.org/drawingml/2006/main">
              <a:ext uri="{FF2B5EF4-FFF2-40B4-BE49-F238E27FC236}">
                <a16:creationId xmlns:a16="http://schemas.microsoft.com/office/drawing/2014/main" id="{9B7DCABA-AEE6-42E4-AA15-F0537C80CEB8}"/>
              </a:ext>
            </a:extLst>
          </p:cNvPr>
          <p:cNvSpPr>
            <a:spLocks xmlns:a="http://schemas.openxmlformats.org/drawingml/2006/main" noGrp="1"/>
          </p:cNvSpPr>
          <p:nvPr/>
        </p:nvSpPr>
        <p:spPr>
          <a:xfrm xmlns:a="http://schemas.openxmlformats.org/drawingml/2006/main">
            <a:off x="590550" y="4924425"/>
            <a:ext cx="23812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buNone/>
              <a:defRPr sz="900" b="1">
                <a:solidFill>
                  <a:srgbClr val="BFD5C9"/>
                </a:solidFill>
                <a:latin typeface="Aptos"/>
                <a:ea typeface="Aptos"/>
                <a:cs typeface="Aptos"/>
              </a:defRPr>
            </a:pPr>
            <a:r>
              <a:rPr sz="900" b="1">
                <a:solidFill>
                  <a:srgbClr val="BFD5C9"/>
                </a:solidFill>
                <a:latin typeface="Aptos"/>
                <a:ea typeface="Aptos"/>
                <a:cs typeface="Aptos"/>
              </a:rPr>
              <a:t>FRAMEWORK v0.1</a:t>
            </a:r>
          </a:p>
        </p:txBody>
      </p:sp>
      <p:sp>
        <p:nvSpPr>
          <p:cNvPr id="24" name="">
            <a:extLst xmlns:a="http://schemas.openxmlformats.org/drawingml/2006/main">
              <a:ext uri="{FF2B5EF4-FFF2-40B4-BE49-F238E27FC236}">
                <a16:creationId xmlns:a16="http://schemas.microsoft.com/office/drawing/2014/main" id="{A0610D41-F3CB-4F2C-9C11-3EC23A38C0D2}"/>
              </a:ext>
            </a:extLst>
          </p:cNvPr>
          <p:cNvSpPr>
            <a:spLocks xmlns:a="http://schemas.openxmlformats.org/drawingml/2006/main" noGrp="1"/>
          </p:cNvSpPr>
          <p:nvPr/>
        </p:nvSpPr>
        <p:spPr>
          <a:xfrm xmlns:a="http://schemas.openxmlformats.org/drawingml/2006/main">
            <a:off x="590550" y="5191125"/>
            <a:ext cx="110109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buNone/>
              <a:defRPr sz="1800" b="1">
                <a:solidFill>
                  <a:srgbClr val="FFFDF8"/>
                </a:solidFill>
                <a:latin typeface="Aptos Display"/>
                <a:ea typeface="Aptos Display"/>
                <a:cs typeface="Aptos Display"/>
              </a:defRPr>
            </a:pPr>
            <a:r>
              <a:rPr sz="1800" b="1">
                <a:solidFill>
                  <a:srgbClr val="FFFDF8"/>
                </a:solidFill>
                <a:latin typeface="Aptos Display"/>
                <a:ea typeface="Aptos Display"/>
                <a:cs typeface="Aptos Display"/>
              </a:rPr>
              <a:t>Task  →  Requirements  →  Capabilities  →  Conditional suitability  →  Evidence-bounded decision</a:t>
            </a:r>
          </a:p>
        </p:txBody>
      </p:sp>
      <p:sp>
        <p:nvSpPr>
          <p:cNvPr id="25" name="">
            <a:extLst xmlns:a="http://schemas.openxmlformats.org/drawingml/2006/main">
              <a:ext uri="{FF2B5EF4-FFF2-40B4-BE49-F238E27FC236}">
                <a16:creationId xmlns:a16="http://schemas.microsoft.com/office/drawing/2014/main" id="{EB52D2B6-7F04-434C-AF3A-B9EC3E5B1053}"/>
              </a:ext>
            </a:extLst>
          </p:cNvPr>
          <p:cNvSpPr>
            <a:spLocks xmlns:a="http://schemas.openxmlformats.org/drawingml/2006/main" noGrp="1"/>
          </p:cNvSpPr>
          <p:nvPr/>
        </p:nvSpPr>
        <p:spPr>
          <a:xfrm xmlns:a="http://schemas.openxmlformats.org/drawingml/2006/main">
            <a:off x="590550" y="5638800"/>
            <a:ext cx="110109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buNone/>
              <a:defRPr sz="975" b="0">
                <a:solidFill>
                  <a:srgbClr val="CBD5DB"/>
                </a:solidFill>
                <a:latin typeface="Aptos"/>
                <a:ea typeface="Aptos"/>
                <a:cs typeface="Aptos"/>
              </a:defRPr>
            </a:pPr>
            <a:r>
              <a:rPr sz="975" b="0">
                <a:solidFill>
                  <a:srgbClr val="CBD5DB"/>
                </a:solidFill>
                <a:latin typeface="Aptos"/>
                <a:ea typeface="Aptos"/>
                <a:cs typeface="Aptos"/>
              </a:rPr>
              <a:t>The method is reusable; the Pack-specific answers are not.</a:t>
            </a:r>
          </a:p>
        </p:txBody>
      </p:sp>
    </p:spTree>
    <p:extLst>
      <p:ext uri="{BB962C8B-B14F-4D97-AF65-F5344CB8AC3E}">
        <p14:creationId xmlns:p14="http://schemas.microsoft.com/office/powerpoint/2010/main" val="637025983"/>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 name="background">
            <a:extLst xmlns:a="http://schemas.openxmlformats.org/drawingml/2006/main">
              <a:ext uri="{FF2B5EF4-FFF2-40B4-BE49-F238E27FC236}">
                <a16:creationId xmlns:a16="http://schemas.microsoft.com/office/drawing/2014/main" id="{DBD43468-8552-41FE-9932-234D0701F0E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A"/>
          </a:solidFill>
          <a:ln xmlns:a="http://schemas.openxmlformats.org/drawingml/2006/main" w="0">
            <a:solidFill>
              <a:srgbClr val="000000">
                <a:alpha val="0"/>
              </a:srgbClr>
            </a:solidFill>
            <a:prstDash val="solid"/>
          </a:ln>
        </p:spPr>
      </p:sp>
      <p:sp>
        <p:nvSpPr>
          <p:cNvPr id="2" name="kicker-02-marker">
            <a:extLst xmlns:a="http://schemas.openxmlformats.org/drawingml/2006/main">
              <a:ext uri="{FF2B5EF4-FFF2-40B4-BE49-F238E27FC236}">
                <a16:creationId xmlns:a16="http://schemas.microsoft.com/office/drawing/2014/main" id="{5F60E173-AD0A-428B-B870-B2F5E2653E66}"/>
              </a:ext>
            </a:extLst>
          </p:cNvPr>
          <p:cNvSpPr>
            <a:spLocks xmlns:a="http://schemas.openxmlformats.org/drawingml/2006/main" noGrp="1"/>
          </p:cNvSpPr>
          <p:nvPr/>
        </p:nvSpPr>
        <p:spPr>
          <a:xfrm xmlns:a="http://schemas.openxmlformats.org/drawingml/2006/main">
            <a:off x="381000" y="323850"/>
            <a:ext cx="76200" cy="76200"/>
          </a:xfrm>
          <a:prstGeom xmlns:a="http://schemas.openxmlformats.org/drawingml/2006/main" prst="ellipse">
            <a:avLst/>
          </a:prstGeom>
          <a:solidFill xmlns:a="http://schemas.openxmlformats.org/drawingml/2006/main">
            <a:srgbClr val="2F6B57"/>
          </a:solidFill>
          <a:ln xmlns:a="http://schemas.openxmlformats.org/drawingml/2006/main" w="0">
            <a:solidFill>
              <a:srgbClr val="000000">
                <a:alpha val="0"/>
              </a:srgbClr>
            </a:solidFill>
            <a:prstDash val="solid"/>
          </a:ln>
        </p:spPr>
      </p:sp>
      <p:sp>
        <p:nvSpPr>
          <p:cNvPr id="3" name="kicker-02-label">
            <a:extLst xmlns:a="http://schemas.openxmlformats.org/drawingml/2006/main">
              <a:ext uri="{FF2B5EF4-FFF2-40B4-BE49-F238E27FC236}">
                <a16:creationId xmlns:a16="http://schemas.microsoft.com/office/drawing/2014/main" id="{353AB451-79A8-4CF2-846E-3917EE7333DC}"/>
              </a:ext>
            </a:extLst>
          </p:cNvPr>
          <p:cNvSpPr>
            <a:spLocks xmlns:a="http://schemas.openxmlformats.org/drawingml/2006/main" noGrp="1"/>
          </p:cNvSpPr>
          <p:nvPr/>
        </p:nvSpPr>
        <p:spPr>
          <a:xfrm xmlns:a="http://schemas.openxmlformats.org/drawingml/2006/main">
            <a:off x="533400" y="266700"/>
            <a:ext cx="4000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buNone/>
              <a:defRPr sz="975" b="1">
                <a:solidFill>
                  <a:srgbClr val="2F6B57"/>
                </a:solidFill>
                <a:latin typeface="Aptos"/>
                <a:ea typeface="Aptos"/>
                <a:cs typeface="Aptos"/>
              </a:defRPr>
            </a:pPr>
            <a:r>
              <a:rPr sz="975" b="1">
                <a:solidFill>
                  <a:srgbClr val="2F6B57"/>
                </a:solidFill>
                <a:latin typeface="Aptos"/>
                <a:ea typeface="Aptos"/>
                <a:cs typeface="Aptos"/>
              </a:rPr>
              <a:t>WHAT I DID</a:t>
            </a:r>
          </a:p>
        </p:txBody>
      </p:sp>
      <p:sp>
        <p:nvSpPr>
          <p:cNvPr id="4" name="claim-title">
            <a:extLst xmlns:a="http://schemas.openxmlformats.org/drawingml/2006/main">
              <a:ext uri="{FF2B5EF4-FFF2-40B4-BE49-F238E27FC236}">
                <a16:creationId xmlns:a16="http://schemas.microsoft.com/office/drawing/2014/main" id="{464EDBE4-2BC2-4E2C-BE70-4AB7CB44D053}"/>
              </a:ext>
            </a:extLst>
          </p:cNvPr>
          <p:cNvSpPr>
            <a:spLocks xmlns:a="http://schemas.openxmlformats.org/drawingml/2006/main" noGrp="1"/>
          </p:cNvSpPr>
          <p:nvPr/>
        </p:nvSpPr>
        <p:spPr>
          <a:xfrm xmlns:a="http://schemas.openxmlformats.org/drawingml/2006/main">
            <a:off x="381000" y="542925"/>
            <a:ext cx="11334750" cy="742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buNone/>
              <a:defRPr sz="2700" b="1">
                <a:solidFill>
                  <a:srgbClr val="172A3A"/>
                </a:solidFill>
                <a:latin typeface="Aptos Display"/>
                <a:ea typeface="Aptos Display"/>
                <a:cs typeface="Aptos Display"/>
              </a:defRPr>
            </a:pPr>
            <a:r>
              <a:rPr sz="2700" b="1">
                <a:solidFill>
                  <a:srgbClr val="172A3A"/>
                </a:solidFill>
                <a:latin typeface="Aptos Display"/>
                <a:ea typeface="Aptos Display"/>
                <a:cs typeface="Aptos Display"/>
              </a:rPr>
              <a:t>The robot connects the tester; it does not perform the electrical test.</a:t>
            </a:r>
          </a:p>
        </p:txBody>
      </p:sp>
      <p:sp>
        <p:nvSpPr>
          <p:cNvPr id="5" name="title-rule">
            <a:extLst xmlns:a="http://schemas.openxmlformats.org/drawingml/2006/main">
              <a:ext uri="{FF2B5EF4-FFF2-40B4-BE49-F238E27FC236}">
                <a16:creationId xmlns:a16="http://schemas.microsoft.com/office/drawing/2014/main" id="{6F60EB5B-9362-4D4F-B623-F83DD333D985}"/>
              </a:ext>
            </a:extLst>
          </p:cNvPr>
          <p:cNvSpPr>
            <a:spLocks xmlns:a="http://schemas.openxmlformats.org/drawingml/2006/main" noGrp="1"/>
          </p:cNvSpPr>
          <p:nvPr/>
        </p:nvSpPr>
        <p:spPr>
          <a:xfrm xmlns:a="http://schemas.openxmlformats.org/drawingml/2006/main">
            <a:off x="381000" y="1381125"/>
            <a:ext cx="11430000" cy="9525"/>
          </a:xfrm>
          <a:prstGeom xmlns:a="http://schemas.openxmlformats.org/drawingml/2006/main" prst="rect">
            <a:avLst/>
          </a:prstGeom>
          <a:solidFill xmlns:a="http://schemas.openxmlformats.org/drawingml/2006/main">
            <a:srgbClr val="D6D3CB"/>
          </a:solidFill>
          <a:ln xmlns:a="http://schemas.openxmlformats.org/drawingml/2006/main" w="0">
            <a:solidFill>
              <a:srgbClr val="000000">
                <a:alpha val="0"/>
              </a:srgbClr>
            </a:solidFill>
            <a:prstDash val="solid"/>
          </a:ln>
        </p:spPr>
      </p:sp>
      <p:sp>
        <p:nvSpPr>
          <p:cNvPr id="6" name="footer-rule">
            <a:extLst xmlns:a="http://schemas.openxmlformats.org/drawingml/2006/main">
              <a:ext uri="{FF2B5EF4-FFF2-40B4-BE49-F238E27FC236}">
                <a16:creationId xmlns:a16="http://schemas.microsoft.com/office/drawing/2014/main" id="{E17A62B0-33F8-4A3E-A783-90E3C95464F3}"/>
              </a:ext>
            </a:extLst>
          </p:cNvPr>
          <p:cNvSpPr>
            <a:spLocks xmlns:a="http://schemas.openxmlformats.org/drawingml/2006/main" noGrp="1"/>
          </p:cNvSpPr>
          <p:nvPr/>
        </p:nvSpPr>
        <p:spPr>
          <a:xfrm xmlns:a="http://schemas.openxmlformats.org/drawingml/2006/main">
            <a:off x="381000" y="6477000"/>
            <a:ext cx="11430000" cy="9525"/>
          </a:xfrm>
          <a:prstGeom xmlns:a="http://schemas.openxmlformats.org/drawingml/2006/main" prst="rect">
            <a:avLst/>
          </a:prstGeom>
          <a:solidFill xmlns:a="http://schemas.openxmlformats.org/drawingml/2006/main">
            <a:srgbClr val="D6D3CB"/>
          </a:solidFill>
          <a:ln xmlns:a="http://schemas.openxmlformats.org/drawingml/2006/main" w="0">
            <a:solidFill>
              <a:srgbClr val="000000">
                <a:alpha val="0"/>
              </a:srgbClr>
            </a:solidFill>
            <a:prstDash val="solid"/>
          </a:ln>
        </p:spPr>
      </p:sp>
      <p:sp>
        <p:nvSpPr>
          <p:cNvPr id="7" name="source-footer">
            <a:extLst xmlns:a="http://schemas.openxmlformats.org/drawingml/2006/main">
              <a:ext uri="{FF2B5EF4-FFF2-40B4-BE49-F238E27FC236}">
                <a16:creationId xmlns:a16="http://schemas.microsoft.com/office/drawing/2014/main" id="{5D747014-67EA-4DB7-9B7D-637114D92FF0}"/>
              </a:ext>
            </a:extLst>
          </p:cNvPr>
          <p:cNvSpPr>
            <a:spLocks xmlns:a="http://schemas.openxmlformats.org/drawingml/2006/main" noGrp="1"/>
          </p:cNvSpPr>
          <p:nvPr/>
        </p:nvSpPr>
        <p:spPr>
          <a:xfrm xmlns:a="http://schemas.openxmlformats.org/drawingml/2006/main">
            <a:off x="381000" y="6543675"/>
            <a:ext cx="1019175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buNone/>
              <a:defRPr sz="675" b="0">
                <a:solidFill>
                  <a:srgbClr val="63717B"/>
                </a:solidFill>
                <a:latin typeface="Aptos"/>
                <a:ea typeface="Aptos"/>
                <a:cs typeface="Aptos"/>
              </a:defRPr>
            </a:pPr>
            <a:r>
              <a:rPr sz="675" b="0">
                <a:solidFill>
                  <a:srgbClr val="63717B"/>
                </a:solidFill>
                <a:latin typeface="Aptos"/>
                <a:ea typeface="Aptos"/>
                <a:cs typeface="Aptos"/>
              </a:rPr>
              <a:t>Reference abstraction from Pack EoL equipment baselines, company disclosure and engineering reasoning; not a CATL site reconstruction.</a:t>
            </a:r>
          </a:p>
        </p:txBody>
      </p:sp>
      <p:sp>
        <p:nvSpPr>
          <p:cNvPr id="8" name="page-marker">
            <a:extLst xmlns:a="http://schemas.openxmlformats.org/drawingml/2006/main">
              <a:ext uri="{FF2B5EF4-FFF2-40B4-BE49-F238E27FC236}">
                <a16:creationId xmlns:a16="http://schemas.microsoft.com/office/drawing/2014/main" id="{E631B1FC-C5CB-4FCD-A284-B55BE14A7C31}"/>
              </a:ext>
            </a:extLst>
          </p:cNvPr>
          <p:cNvSpPr>
            <a:spLocks xmlns:a="http://schemas.openxmlformats.org/drawingml/2006/main" noGrp="1"/>
          </p:cNvSpPr>
          <p:nvPr/>
        </p:nvSpPr>
        <p:spPr>
          <a:xfrm xmlns:a="http://schemas.openxmlformats.org/drawingml/2006/main">
            <a:off x="11191875" y="6524625"/>
            <a:ext cx="619125"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r">
              <a:buNone/>
              <a:defRPr sz="750" b="1">
                <a:solidFill>
                  <a:srgbClr val="2F6B57"/>
                </a:solidFill>
                <a:latin typeface="Aptos"/>
                <a:ea typeface="Aptos"/>
                <a:cs typeface="Aptos"/>
              </a:defRPr>
            </a:pPr>
            <a:r>
              <a:rPr sz="750" b="1">
                <a:solidFill>
                  <a:srgbClr val="2F6B57"/>
                </a:solidFill>
                <a:latin typeface="Aptos"/>
                <a:ea typeface="Aptos"/>
                <a:cs typeface="Aptos"/>
              </a:rPr>
              <a:t>02</a:t>
            </a:r>
          </a:p>
        </p:txBody>
      </p:sp>
      <p:sp>
        <p:nvSpPr>
          <p:cNvPr id="9" name="stage-STATION / MES">
            <a:extLst xmlns:a="http://schemas.openxmlformats.org/drawingml/2006/main">
              <a:ext uri="{FF2B5EF4-FFF2-40B4-BE49-F238E27FC236}">
                <a16:creationId xmlns:a16="http://schemas.microsoft.com/office/drawing/2014/main" id="{7E1EB2DA-3CC2-49E8-899C-EBAD6EA485BE}"/>
              </a:ext>
            </a:extLst>
          </p:cNvPr>
          <p:cNvSpPr>
            <a:spLocks xmlns:a="http://schemas.openxmlformats.org/drawingml/2006/main" noGrp="1"/>
          </p:cNvSpPr>
          <p:nvPr/>
        </p:nvSpPr>
        <p:spPr>
          <a:xfrm xmlns:a="http://schemas.openxmlformats.org/drawingml/2006/main">
            <a:off x="381000" y="2238375"/>
            <a:ext cx="1809750" cy="1476375"/>
          </a:xfrm>
          <a:prstGeom xmlns:a="http://schemas.openxmlformats.org/drawingml/2006/main" prst="rect">
            <a:avLst/>
          </a:prstGeom>
          <a:solidFill xmlns:a="http://schemas.openxmlformats.org/drawingml/2006/main">
            <a:srgbClr val="E4EBF0"/>
          </a:solidFill>
          <a:ln xmlns:a="http://schemas.openxmlformats.org/drawingml/2006/main" w="9525">
            <a:solidFill>
              <a:srgbClr val="D4D4CE"/>
            </a:solidFill>
            <a:prstDash val="solid"/>
          </a:ln>
        </p:spPr>
      </p:sp>
      <p:sp>
        <p:nvSpPr>
          <p:cNvPr id="10" name="">
            <a:extLst xmlns:a="http://schemas.openxmlformats.org/drawingml/2006/main">
              <a:ext uri="{FF2B5EF4-FFF2-40B4-BE49-F238E27FC236}">
                <a16:creationId xmlns:a16="http://schemas.microsoft.com/office/drawing/2014/main" id="{B8359793-4D5A-4878-A5A1-A0EE0A0C92EA}"/>
              </a:ext>
            </a:extLst>
          </p:cNvPr>
          <p:cNvSpPr>
            <a:spLocks xmlns:a="http://schemas.openxmlformats.org/drawingml/2006/main" noGrp="1"/>
          </p:cNvSpPr>
          <p:nvPr/>
        </p:nvSpPr>
        <p:spPr>
          <a:xfrm xmlns:a="http://schemas.openxmlformats.org/drawingml/2006/main">
            <a:off x="381000" y="2238375"/>
            <a:ext cx="1809750" cy="47625"/>
          </a:xfrm>
          <a:prstGeom xmlns:a="http://schemas.openxmlformats.org/drawingml/2006/main" prst="rect">
            <a:avLst/>
          </a:prstGeom>
          <a:solidFill xmlns:a="http://schemas.openxmlformats.org/drawingml/2006/main">
            <a:srgbClr val="4E7897"/>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212608FC-0622-4FBB-B9F3-EC7F48095EF9}"/>
              </a:ext>
            </a:extLst>
          </p:cNvPr>
          <p:cNvSpPr>
            <a:spLocks xmlns:a="http://schemas.openxmlformats.org/drawingml/2006/main" noGrp="1"/>
          </p:cNvSpPr>
          <p:nvPr/>
        </p:nvSpPr>
        <p:spPr>
          <a:xfrm xmlns:a="http://schemas.openxmlformats.org/drawingml/2006/main">
            <a:off x="514350" y="2409825"/>
            <a:ext cx="15430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buNone/>
              <a:defRPr sz="825" b="1">
                <a:solidFill>
                  <a:srgbClr val="4E7897"/>
                </a:solidFill>
                <a:latin typeface="Aptos"/>
                <a:ea typeface="Aptos"/>
                <a:cs typeface="Aptos"/>
              </a:defRPr>
            </a:pPr>
            <a:r>
              <a:rPr sz="825" b="1">
                <a:solidFill>
                  <a:srgbClr val="4E7897"/>
                </a:solidFill>
                <a:latin typeface="Aptos"/>
                <a:ea typeface="Aptos"/>
                <a:cs typeface="Aptos"/>
              </a:rPr>
              <a:t>STATION / MES</a:t>
            </a:r>
          </a:p>
        </p:txBody>
      </p:sp>
      <p:sp>
        <p:nvSpPr>
          <p:cNvPr id="12" name="">
            <a:extLst xmlns:a="http://schemas.openxmlformats.org/drawingml/2006/main">
              <a:ext uri="{FF2B5EF4-FFF2-40B4-BE49-F238E27FC236}">
                <a16:creationId xmlns:a16="http://schemas.microsoft.com/office/drawing/2014/main" id="{4E2BF4A5-4F4E-437E-8808-6985A44B6CA8}"/>
              </a:ext>
            </a:extLst>
          </p:cNvPr>
          <p:cNvSpPr>
            <a:spLocks xmlns:a="http://schemas.openxmlformats.org/drawingml/2006/main" noGrp="1"/>
          </p:cNvSpPr>
          <p:nvPr/>
        </p:nvSpPr>
        <p:spPr>
          <a:xfrm xmlns:a="http://schemas.openxmlformats.org/drawingml/2006/main">
            <a:off x="514350" y="2724150"/>
            <a:ext cx="1543050" cy="762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buNone/>
              <a:defRPr sz="1350" b="1">
                <a:solidFill>
                  <a:srgbClr val="172A3A"/>
                </a:solidFill>
                <a:latin typeface="Aptos"/>
                <a:ea typeface="Aptos"/>
                <a:cs typeface="Aptos"/>
              </a:defRPr>
            </a:pPr>
            <a:r>
              <a:rPr sz="1350" b="1">
                <a:solidFill>
                  <a:srgbClr val="172A3A"/>
                </a:solidFill>
                <a:latin typeface="Aptos"/>
                <a:ea typeface="Aptos"/>
                <a:cs typeface="Aptos"/>
              </a:rPr>
              <a:t>Pack positioned</a:t>
            </a:r>
          </a:p>
          <a:p xmlns:a="http://schemas.openxmlformats.org/drawingml/2006/main">
            <a:pPr algn="ctr">
              <a:buNone/>
              <a:defRPr sz="1350" b="1">
                <a:solidFill>
                  <a:srgbClr val="172A3A"/>
                </a:solidFill>
                <a:latin typeface="Aptos"/>
                <a:ea typeface="Aptos"/>
                <a:cs typeface="Aptos"/>
              </a:defRPr>
            </a:pPr>
            <a:r>
              <a:rPr sz="1350" b="1">
                <a:solidFill>
                  <a:srgbClr val="172A3A"/>
                </a:solidFill>
                <a:latin typeface="Aptos"/>
                <a:ea typeface="Aptos"/>
                <a:cs typeface="Aptos"/>
              </a:rPr>
              <a:t>and identified</a:t>
            </a:r>
          </a:p>
        </p:txBody>
      </p:sp>
      <p:sp>
        <p:nvSpPr>
          <p:cNvPr id="13" name="stage-PLC / SAFETY">
            <a:extLst xmlns:a="http://schemas.openxmlformats.org/drawingml/2006/main">
              <a:ext uri="{FF2B5EF4-FFF2-40B4-BE49-F238E27FC236}">
                <a16:creationId xmlns:a16="http://schemas.microsoft.com/office/drawing/2014/main" id="{2EF7AF51-2881-489B-84EC-22405DF5F257}"/>
              </a:ext>
            </a:extLst>
          </p:cNvPr>
          <p:cNvSpPr>
            <a:spLocks xmlns:a="http://schemas.openxmlformats.org/drawingml/2006/main" noGrp="1"/>
          </p:cNvSpPr>
          <p:nvPr/>
        </p:nvSpPr>
        <p:spPr>
          <a:xfrm xmlns:a="http://schemas.openxmlformats.org/drawingml/2006/main">
            <a:off x="2476500" y="2238375"/>
            <a:ext cx="1809750" cy="1476375"/>
          </a:xfrm>
          <a:prstGeom xmlns:a="http://schemas.openxmlformats.org/drawingml/2006/main" prst="rect">
            <a:avLst/>
          </a:prstGeom>
          <a:solidFill xmlns:a="http://schemas.openxmlformats.org/drawingml/2006/main">
            <a:srgbClr val="F5E5D8"/>
          </a:solidFill>
          <a:ln xmlns:a="http://schemas.openxmlformats.org/drawingml/2006/main" w="9525">
            <a:solidFill>
              <a:srgbClr val="D4D4CE"/>
            </a:solidFill>
            <a:prstDash val="solid"/>
          </a:ln>
        </p:spPr>
      </p:sp>
      <p:sp>
        <p:nvSpPr>
          <p:cNvPr id="14" name="">
            <a:extLst xmlns:a="http://schemas.openxmlformats.org/drawingml/2006/main">
              <a:ext uri="{FF2B5EF4-FFF2-40B4-BE49-F238E27FC236}">
                <a16:creationId xmlns:a16="http://schemas.microsoft.com/office/drawing/2014/main" id="{1A4A2ED2-B487-4A4F-9CDA-76A6E79F5BBF}"/>
              </a:ext>
            </a:extLst>
          </p:cNvPr>
          <p:cNvSpPr>
            <a:spLocks xmlns:a="http://schemas.openxmlformats.org/drawingml/2006/main" noGrp="1"/>
          </p:cNvSpPr>
          <p:nvPr/>
        </p:nvSpPr>
        <p:spPr>
          <a:xfrm xmlns:a="http://schemas.openxmlformats.org/drawingml/2006/main">
            <a:off x="2476500" y="2238375"/>
            <a:ext cx="1809750" cy="47625"/>
          </a:xfrm>
          <a:prstGeom xmlns:a="http://schemas.openxmlformats.org/drawingml/2006/main" prst="rect">
            <a:avLst/>
          </a:prstGeom>
          <a:solidFill xmlns:a="http://schemas.openxmlformats.org/drawingml/2006/main">
            <a:srgbClr val="D97941"/>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5F4B81EE-B507-41CE-A70C-E2F9284E9390}"/>
              </a:ext>
            </a:extLst>
          </p:cNvPr>
          <p:cNvSpPr>
            <a:spLocks xmlns:a="http://schemas.openxmlformats.org/drawingml/2006/main" noGrp="1"/>
          </p:cNvSpPr>
          <p:nvPr/>
        </p:nvSpPr>
        <p:spPr>
          <a:xfrm xmlns:a="http://schemas.openxmlformats.org/drawingml/2006/main">
            <a:off x="2609850" y="2409825"/>
            <a:ext cx="15430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buNone/>
              <a:defRPr sz="825" b="1">
                <a:solidFill>
                  <a:srgbClr val="D97941"/>
                </a:solidFill>
                <a:latin typeface="Aptos"/>
                <a:ea typeface="Aptos"/>
                <a:cs typeface="Aptos"/>
              </a:defRPr>
            </a:pPr>
            <a:r>
              <a:rPr sz="825" b="1">
                <a:solidFill>
                  <a:srgbClr val="D97941"/>
                </a:solidFill>
                <a:latin typeface="Aptos"/>
                <a:ea typeface="Aptos"/>
                <a:cs typeface="Aptos"/>
              </a:rPr>
              <a:t>PLC / SAFETY</a:t>
            </a:r>
          </a:p>
        </p:txBody>
      </p:sp>
      <p:sp>
        <p:nvSpPr>
          <p:cNvPr id="16" name="">
            <a:extLst xmlns:a="http://schemas.openxmlformats.org/drawingml/2006/main">
              <a:ext uri="{FF2B5EF4-FFF2-40B4-BE49-F238E27FC236}">
                <a16:creationId xmlns:a16="http://schemas.microsoft.com/office/drawing/2014/main" id="{5418A560-6075-4BD2-83B5-B88D19C01A97}"/>
              </a:ext>
            </a:extLst>
          </p:cNvPr>
          <p:cNvSpPr>
            <a:spLocks xmlns:a="http://schemas.openxmlformats.org/drawingml/2006/main" noGrp="1"/>
          </p:cNvSpPr>
          <p:nvPr/>
        </p:nvSpPr>
        <p:spPr>
          <a:xfrm xmlns:a="http://schemas.openxmlformats.org/drawingml/2006/main">
            <a:off x="2609850" y="2724150"/>
            <a:ext cx="1543050" cy="762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buNone/>
              <a:defRPr sz="1350" b="1">
                <a:solidFill>
                  <a:srgbClr val="172A3A"/>
                </a:solidFill>
                <a:latin typeface="Aptos"/>
                <a:ea typeface="Aptos"/>
                <a:cs typeface="Aptos"/>
              </a:defRPr>
            </a:pPr>
            <a:r>
              <a:rPr sz="1350" b="1">
                <a:solidFill>
                  <a:srgbClr val="172A3A"/>
                </a:solidFill>
                <a:latin typeface="Aptos"/>
                <a:ea typeface="Aptos"/>
                <a:cs typeface="Aptos"/>
              </a:rPr>
              <a:t>Safe-to-connect</a:t>
            </a:r>
          </a:p>
          <a:p xmlns:a="http://schemas.openxmlformats.org/drawingml/2006/main">
            <a:pPr algn="ctr">
              <a:buNone/>
              <a:defRPr sz="1350" b="1">
                <a:solidFill>
                  <a:srgbClr val="172A3A"/>
                </a:solidFill>
                <a:latin typeface="Aptos"/>
                <a:ea typeface="Aptos"/>
                <a:cs typeface="Aptos"/>
              </a:defRPr>
            </a:pPr>
            <a:r>
              <a:rPr sz="1350" b="1">
                <a:solidFill>
                  <a:srgbClr val="172A3A"/>
                </a:solidFill>
                <a:latin typeface="Aptos"/>
                <a:ea typeface="Aptos"/>
                <a:cs typeface="Aptos"/>
              </a:rPr>
              <a:t>permission</a:t>
            </a:r>
          </a:p>
        </p:txBody>
      </p:sp>
      <p:sp>
        <p:nvSpPr>
          <p:cNvPr id="17" name="stage-ROBOT">
            <a:extLst xmlns:a="http://schemas.openxmlformats.org/drawingml/2006/main">
              <a:ext uri="{FF2B5EF4-FFF2-40B4-BE49-F238E27FC236}">
                <a16:creationId xmlns:a16="http://schemas.microsoft.com/office/drawing/2014/main" id="{9BCF5EDF-6B12-4641-8DB0-090B3C5002F8}"/>
              </a:ext>
            </a:extLst>
          </p:cNvPr>
          <p:cNvSpPr>
            <a:spLocks xmlns:a="http://schemas.openxmlformats.org/drawingml/2006/main" noGrp="1"/>
          </p:cNvSpPr>
          <p:nvPr/>
        </p:nvSpPr>
        <p:spPr>
          <a:xfrm xmlns:a="http://schemas.openxmlformats.org/drawingml/2006/main">
            <a:off x="4572000" y="2238375"/>
            <a:ext cx="2857500" cy="1476375"/>
          </a:xfrm>
          <a:prstGeom xmlns:a="http://schemas.openxmlformats.org/drawingml/2006/main" prst="rect">
            <a:avLst/>
          </a:prstGeom>
          <a:solidFill xmlns:a="http://schemas.openxmlformats.org/drawingml/2006/main">
            <a:srgbClr val="E4EEE8"/>
          </a:solidFill>
          <a:ln xmlns:a="http://schemas.openxmlformats.org/drawingml/2006/main" w="9525">
            <a:solidFill>
              <a:srgbClr val="D4D4CE"/>
            </a:solidFill>
            <a:prstDash val="solid"/>
          </a:ln>
        </p:spPr>
      </p:sp>
      <p:sp>
        <p:nvSpPr>
          <p:cNvPr id="18" name="">
            <a:extLst xmlns:a="http://schemas.openxmlformats.org/drawingml/2006/main">
              <a:ext uri="{FF2B5EF4-FFF2-40B4-BE49-F238E27FC236}">
                <a16:creationId xmlns:a16="http://schemas.microsoft.com/office/drawing/2014/main" id="{A32255AB-970F-4DC5-91E5-9976AC7F5F7C}"/>
              </a:ext>
            </a:extLst>
          </p:cNvPr>
          <p:cNvSpPr>
            <a:spLocks xmlns:a="http://schemas.openxmlformats.org/drawingml/2006/main" noGrp="1"/>
          </p:cNvSpPr>
          <p:nvPr/>
        </p:nvSpPr>
        <p:spPr>
          <a:xfrm xmlns:a="http://schemas.openxmlformats.org/drawingml/2006/main">
            <a:off x="4572000" y="2238375"/>
            <a:ext cx="2857500" cy="47625"/>
          </a:xfrm>
          <a:prstGeom xmlns:a="http://schemas.openxmlformats.org/drawingml/2006/main" prst="rect">
            <a:avLst/>
          </a:prstGeom>
          <a:solidFill xmlns:a="http://schemas.openxmlformats.org/drawingml/2006/main">
            <a:srgbClr val="2F6B57"/>
          </a:solidFill>
          <a:ln xmlns:a="http://schemas.openxmlformats.org/drawingml/2006/main" w="0">
            <a:solidFill>
              <a:srgbClr val="000000">
                <a:alpha val="0"/>
              </a:srgbClr>
            </a:solidFill>
            <a:prstDash val="solid"/>
          </a:ln>
        </p:spPr>
      </p:sp>
      <p:sp>
        <p:nvSpPr>
          <p:cNvPr id="19" name="">
            <a:extLst xmlns:a="http://schemas.openxmlformats.org/drawingml/2006/main">
              <a:ext uri="{FF2B5EF4-FFF2-40B4-BE49-F238E27FC236}">
                <a16:creationId xmlns:a16="http://schemas.microsoft.com/office/drawing/2014/main" id="{D6789B75-BCC2-45B0-93FD-865A36797A21}"/>
              </a:ext>
            </a:extLst>
          </p:cNvPr>
          <p:cNvSpPr>
            <a:spLocks xmlns:a="http://schemas.openxmlformats.org/drawingml/2006/main" noGrp="1"/>
          </p:cNvSpPr>
          <p:nvPr/>
        </p:nvSpPr>
        <p:spPr>
          <a:xfrm xmlns:a="http://schemas.openxmlformats.org/drawingml/2006/main">
            <a:off x="4705350" y="2409825"/>
            <a:ext cx="25908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buNone/>
              <a:defRPr sz="825" b="1">
                <a:solidFill>
                  <a:srgbClr val="2F6B57"/>
                </a:solidFill>
                <a:latin typeface="Aptos"/>
                <a:ea typeface="Aptos"/>
                <a:cs typeface="Aptos"/>
              </a:defRPr>
            </a:pPr>
            <a:r>
              <a:rPr sz="825" b="1">
                <a:solidFill>
                  <a:srgbClr val="2F6B57"/>
                </a:solidFill>
                <a:latin typeface="Aptos"/>
                <a:ea typeface="Aptos"/>
                <a:cs typeface="Aptos"/>
              </a:rPr>
              <a:t>ROBOT</a:t>
            </a:r>
          </a:p>
        </p:txBody>
      </p:sp>
      <p:sp>
        <p:nvSpPr>
          <p:cNvPr id="20" name="">
            <a:extLst xmlns:a="http://schemas.openxmlformats.org/drawingml/2006/main">
              <a:ext uri="{FF2B5EF4-FFF2-40B4-BE49-F238E27FC236}">
                <a16:creationId xmlns:a16="http://schemas.microsoft.com/office/drawing/2014/main" id="{A150072B-142D-428E-8873-3AE104DF5F00}"/>
              </a:ext>
            </a:extLst>
          </p:cNvPr>
          <p:cNvSpPr>
            <a:spLocks xmlns:a="http://schemas.openxmlformats.org/drawingml/2006/main" noGrp="1"/>
          </p:cNvSpPr>
          <p:nvPr/>
        </p:nvSpPr>
        <p:spPr>
          <a:xfrm xmlns:a="http://schemas.openxmlformats.org/drawingml/2006/main">
            <a:off x="4705350" y="2724150"/>
            <a:ext cx="2590800" cy="762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buNone/>
              <a:defRPr sz="1350" b="1">
                <a:solidFill>
                  <a:srgbClr val="172A3A"/>
                </a:solidFill>
                <a:latin typeface="Aptos"/>
                <a:ea typeface="Aptos"/>
                <a:cs typeface="Aptos"/>
              </a:defRPr>
            </a:pPr>
            <a:r>
              <a:rPr sz="1350" b="1">
                <a:solidFill>
                  <a:srgbClr val="172A3A"/>
                </a:solidFill>
                <a:latin typeface="Aptos"/>
                <a:ea typeface="Aptos"/>
                <a:cs typeface="Aptos"/>
              </a:rPr>
              <a:t>Locate &amp; support → align →</a:t>
            </a:r>
          </a:p>
          <a:p xmlns:a="http://schemas.openxmlformats.org/drawingml/2006/main">
            <a:pPr algn="ctr">
              <a:buNone/>
              <a:defRPr sz="1350" b="1">
                <a:solidFill>
                  <a:srgbClr val="172A3A"/>
                </a:solidFill>
                <a:latin typeface="Aptos"/>
                <a:ea typeface="Aptos"/>
                <a:cs typeface="Aptos"/>
              </a:defRPr>
            </a:pPr>
            <a:r>
              <a:rPr sz="1350" b="1">
                <a:solidFill>
                  <a:srgbClr val="172A3A"/>
                </a:solidFill>
                <a:latin typeface="Aptos"/>
                <a:ea typeface="Aptos"/>
                <a:cs typeface="Aptos"/>
              </a:rPr>
              <a:t>insert → confirm</a:t>
            </a:r>
          </a:p>
        </p:txBody>
      </p:sp>
      <p:sp>
        <p:nvSpPr>
          <p:cNvPr id="21" name="stage-TESTER">
            <a:extLst xmlns:a="http://schemas.openxmlformats.org/drawingml/2006/main">
              <a:ext uri="{FF2B5EF4-FFF2-40B4-BE49-F238E27FC236}">
                <a16:creationId xmlns:a16="http://schemas.microsoft.com/office/drawing/2014/main" id="{41B29F1C-4A9F-4578-BC43-58F689D959A5}"/>
              </a:ext>
            </a:extLst>
          </p:cNvPr>
          <p:cNvSpPr>
            <a:spLocks xmlns:a="http://schemas.openxmlformats.org/drawingml/2006/main" noGrp="1"/>
          </p:cNvSpPr>
          <p:nvPr/>
        </p:nvSpPr>
        <p:spPr>
          <a:xfrm xmlns:a="http://schemas.openxmlformats.org/drawingml/2006/main">
            <a:off x="7715250" y="2238375"/>
            <a:ext cx="1809750" cy="1476375"/>
          </a:xfrm>
          <a:prstGeom xmlns:a="http://schemas.openxmlformats.org/drawingml/2006/main" prst="rect">
            <a:avLst/>
          </a:prstGeom>
          <a:solidFill xmlns:a="http://schemas.openxmlformats.org/drawingml/2006/main">
            <a:srgbClr val="E4EBF0"/>
          </a:solidFill>
          <a:ln xmlns:a="http://schemas.openxmlformats.org/drawingml/2006/main" w="9525">
            <a:solidFill>
              <a:srgbClr val="D4D4CE"/>
            </a:solidFill>
            <a:prstDash val="solid"/>
          </a:ln>
        </p:spPr>
      </p:sp>
      <p:sp>
        <p:nvSpPr>
          <p:cNvPr id="22" name="">
            <a:extLst xmlns:a="http://schemas.openxmlformats.org/drawingml/2006/main">
              <a:ext uri="{FF2B5EF4-FFF2-40B4-BE49-F238E27FC236}">
                <a16:creationId xmlns:a16="http://schemas.microsoft.com/office/drawing/2014/main" id="{5128E4D5-3C96-42F7-9D75-CC1B6D02A62B}"/>
              </a:ext>
            </a:extLst>
          </p:cNvPr>
          <p:cNvSpPr>
            <a:spLocks xmlns:a="http://schemas.openxmlformats.org/drawingml/2006/main" noGrp="1"/>
          </p:cNvSpPr>
          <p:nvPr/>
        </p:nvSpPr>
        <p:spPr>
          <a:xfrm xmlns:a="http://schemas.openxmlformats.org/drawingml/2006/main">
            <a:off x="7715250" y="2238375"/>
            <a:ext cx="1809750" cy="47625"/>
          </a:xfrm>
          <a:prstGeom xmlns:a="http://schemas.openxmlformats.org/drawingml/2006/main" prst="rect">
            <a:avLst/>
          </a:prstGeom>
          <a:solidFill xmlns:a="http://schemas.openxmlformats.org/drawingml/2006/main">
            <a:srgbClr val="4E7897"/>
          </a:solidFill>
          <a:ln xmlns:a="http://schemas.openxmlformats.org/drawingml/2006/main" w="0">
            <a:solidFill>
              <a:srgbClr val="000000">
                <a:alpha val="0"/>
              </a:srgbClr>
            </a:solidFill>
            <a:prstDash val="solid"/>
          </a:ln>
        </p:spPr>
      </p:sp>
      <p:sp>
        <p:nvSpPr>
          <p:cNvPr id="23" name="">
            <a:extLst xmlns:a="http://schemas.openxmlformats.org/drawingml/2006/main">
              <a:ext uri="{FF2B5EF4-FFF2-40B4-BE49-F238E27FC236}">
                <a16:creationId xmlns:a16="http://schemas.microsoft.com/office/drawing/2014/main" id="{4097CA7E-4760-433C-80BD-14AEC8923A8F}"/>
              </a:ext>
            </a:extLst>
          </p:cNvPr>
          <p:cNvSpPr>
            <a:spLocks xmlns:a="http://schemas.openxmlformats.org/drawingml/2006/main" noGrp="1"/>
          </p:cNvSpPr>
          <p:nvPr/>
        </p:nvSpPr>
        <p:spPr>
          <a:xfrm xmlns:a="http://schemas.openxmlformats.org/drawingml/2006/main">
            <a:off x="7848600" y="2409825"/>
            <a:ext cx="15430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buNone/>
              <a:defRPr sz="825" b="1">
                <a:solidFill>
                  <a:srgbClr val="4E7897"/>
                </a:solidFill>
                <a:latin typeface="Aptos"/>
                <a:ea typeface="Aptos"/>
                <a:cs typeface="Aptos"/>
              </a:defRPr>
            </a:pPr>
            <a:r>
              <a:rPr sz="825" b="1">
                <a:solidFill>
                  <a:srgbClr val="4E7897"/>
                </a:solidFill>
                <a:latin typeface="Aptos"/>
                <a:ea typeface="Aptos"/>
                <a:cs typeface="Aptos"/>
              </a:rPr>
              <a:t>TESTER</a:t>
            </a:r>
          </a:p>
        </p:txBody>
      </p:sp>
      <p:sp>
        <p:nvSpPr>
          <p:cNvPr id="24" name="">
            <a:extLst xmlns:a="http://schemas.openxmlformats.org/drawingml/2006/main">
              <a:ext uri="{FF2B5EF4-FFF2-40B4-BE49-F238E27FC236}">
                <a16:creationId xmlns:a16="http://schemas.microsoft.com/office/drawing/2014/main" id="{7DAF7EDD-CBAD-4741-8E02-88D3D79B1E36}"/>
              </a:ext>
            </a:extLst>
          </p:cNvPr>
          <p:cNvSpPr>
            <a:spLocks xmlns:a="http://schemas.openxmlformats.org/drawingml/2006/main" noGrp="1"/>
          </p:cNvSpPr>
          <p:nvPr/>
        </p:nvSpPr>
        <p:spPr>
          <a:xfrm xmlns:a="http://schemas.openxmlformats.org/drawingml/2006/main">
            <a:off x="7848600" y="2724150"/>
            <a:ext cx="1543050" cy="762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buNone/>
              <a:defRPr sz="1350" b="1">
                <a:solidFill>
                  <a:srgbClr val="172A3A"/>
                </a:solidFill>
                <a:latin typeface="Aptos"/>
                <a:ea typeface="Aptos"/>
                <a:cs typeface="Aptos"/>
              </a:defRPr>
            </a:pPr>
            <a:r>
              <a:rPr sz="1350" b="1">
                <a:solidFill>
                  <a:srgbClr val="172A3A"/>
                </a:solidFill>
                <a:latin typeface="Aptos"/>
                <a:ea typeface="Aptos"/>
                <a:cs typeface="Aptos"/>
              </a:rPr>
              <a:t>Electrical and</a:t>
            </a:r>
          </a:p>
          <a:p xmlns:a="http://schemas.openxmlformats.org/drawingml/2006/main">
            <a:pPr algn="ctr">
              <a:buNone/>
              <a:defRPr sz="1350" b="1">
                <a:solidFill>
                  <a:srgbClr val="172A3A"/>
                </a:solidFill>
                <a:latin typeface="Aptos"/>
                <a:ea typeface="Aptos"/>
                <a:cs typeface="Aptos"/>
              </a:defRPr>
            </a:pPr>
            <a:r>
              <a:rPr sz="1350" b="1">
                <a:solidFill>
                  <a:srgbClr val="172A3A"/>
                </a:solidFill>
                <a:latin typeface="Aptos"/>
                <a:ea typeface="Aptos"/>
                <a:cs typeface="Aptos"/>
              </a:rPr>
              <a:t>functional EoL test</a:t>
            </a:r>
          </a:p>
        </p:txBody>
      </p:sp>
      <p:sp>
        <p:nvSpPr>
          <p:cNvPr id="25" name="stage-PLC + ROBOT">
            <a:extLst xmlns:a="http://schemas.openxmlformats.org/drawingml/2006/main">
              <a:ext uri="{FF2B5EF4-FFF2-40B4-BE49-F238E27FC236}">
                <a16:creationId xmlns:a16="http://schemas.microsoft.com/office/drawing/2014/main" id="{CF4B09EF-3CD7-4E52-A1D8-5D916EDDA1B0}"/>
              </a:ext>
            </a:extLst>
          </p:cNvPr>
          <p:cNvSpPr>
            <a:spLocks xmlns:a="http://schemas.openxmlformats.org/drawingml/2006/main" noGrp="1"/>
          </p:cNvSpPr>
          <p:nvPr/>
        </p:nvSpPr>
        <p:spPr>
          <a:xfrm xmlns:a="http://schemas.openxmlformats.org/drawingml/2006/main">
            <a:off x="9810750" y="2238375"/>
            <a:ext cx="2000250" cy="1476375"/>
          </a:xfrm>
          <a:prstGeom xmlns:a="http://schemas.openxmlformats.org/drawingml/2006/main" prst="rect">
            <a:avLst/>
          </a:prstGeom>
          <a:solidFill xmlns:a="http://schemas.openxmlformats.org/drawingml/2006/main">
            <a:srgbClr val="F5E5D8"/>
          </a:solidFill>
          <a:ln xmlns:a="http://schemas.openxmlformats.org/drawingml/2006/main" w="9525">
            <a:solidFill>
              <a:srgbClr val="D4D4CE"/>
            </a:solidFill>
            <a:prstDash val="solid"/>
          </a:ln>
        </p:spPr>
      </p:sp>
      <p:sp>
        <p:nvSpPr>
          <p:cNvPr id="26" name="">
            <a:extLst xmlns:a="http://schemas.openxmlformats.org/drawingml/2006/main">
              <a:ext uri="{FF2B5EF4-FFF2-40B4-BE49-F238E27FC236}">
                <a16:creationId xmlns:a16="http://schemas.microsoft.com/office/drawing/2014/main" id="{08DA627D-B194-487A-8809-13C4D8375E7B}"/>
              </a:ext>
            </a:extLst>
          </p:cNvPr>
          <p:cNvSpPr>
            <a:spLocks xmlns:a="http://schemas.openxmlformats.org/drawingml/2006/main" noGrp="1"/>
          </p:cNvSpPr>
          <p:nvPr/>
        </p:nvSpPr>
        <p:spPr>
          <a:xfrm xmlns:a="http://schemas.openxmlformats.org/drawingml/2006/main">
            <a:off x="9810750" y="2238375"/>
            <a:ext cx="2000250" cy="47625"/>
          </a:xfrm>
          <a:prstGeom xmlns:a="http://schemas.openxmlformats.org/drawingml/2006/main" prst="rect">
            <a:avLst/>
          </a:prstGeom>
          <a:solidFill xmlns:a="http://schemas.openxmlformats.org/drawingml/2006/main">
            <a:srgbClr val="D97941"/>
          </a:solidFill>
          <a:ln xmlns:a="http://schemas.openxmlformats.org/drawingml/2006/main" w="0">
            <a:solidFill>
              <a:srgbClr val="000000">
                <a:alpha val="0"/>
              </a:srgbClr>
            </a:solidFill>
            <a:prstDash val="solid"/>
          </a:ln>
        </p:spPr>
      </p:sp>
      <p:sp>
        <p:nvSpPr>
          <p:cNvPr id="27" name="">
            <a:extLst xmlns:a="http://schemas.openxmlformats.org/drawingml/2006/main">
              <a:ext uri="{FF2B5EF4-FFF2-40B4-BE49-F238E27FC236}">
                <a16:creationId xmlns:a16="http://schemas.microsoft.com/office/drawing/2014/main" id="{C2118380-479C-461C-87AD-53A961A24F49}"/>
              </a:ext>
            </a:extLst>
          </p:cNvPr>
          <p:cNvSpPr>
            <a:spLocks xmlns:a="http://schemas.openxmlformats.org/drawingml/2006/main" noGrp="1"/>
          </p:cNvSpPr>
          <p:nvPr/>
        </p:nvSpPr>
        <p:spPr>
          <a:xfrm xmlns:a="http://schemas.openxmlformats.org/drawingml/2006/main">
            <a:off x="9944100" y="2409825"/>
            <a:ext cx="17335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buNone/>
              <a:defRPr sz="825" b="1">
                <a:solidFill>
                  <a:srgbClr val="D97941"/>
                </a:solidFill>
                <a:latin typeface="Aptos"/>
                <a:ea typeface="Aptos"/>
                <a:cs typeface="Aptos"/>
              </a:defRPr>
            </a:pPr>
            <a:r>
              <a:rPr sz="825" b="1">
                <a:solidFill>
                  <a:srgbClr val="D97941"/>
                </a:solidFill>
                <a:latin typeface="Aptos"/>
                <a:ea typeface="Aptos"/>
                <a:cs typeface="Aptos"/>
              </a:rPr>
              <a:t>PLC + ROBOT</a:t>
            </a:r>
          </a:p>
        </p:txBody>
      </p:sp>
      <p:sp>
        <p:nvSpPr>
          <p:cNvPr id="28" name="">
            <a:extLst xmlns:a="http://schemas.openxmlformats.org/drawingml/2006/main">
              <a:ext uri="{FF2B5EF4-FFF2-40B4-BE49-F238E27FC236}">
                <a16:creationId xmlns:a16="http://schemas.microsoft.com/office/drawing/2014/main" id="{FEC98D0E-BC9A-4F06-A695-CCCA72462B32}"/>
              </a:ext>
            </a:extLst>
          </p:cNvPr>
          <p:cNvSpPr>
            <a:spLocks xmlns:a="http://schemas.openxmlformats.org/drawingml/2006/main" noGrp="1"/>
          </p:cNvSpPr>
          <p:nvPr/>
        </p:nvSpPr>
        <p:spPr>
          <a:xfrm xmlns:a="http://schemas.openxmlformats.org/drawingml/2006/main">
            <a:off x="9944100" y="2724150"/>
            <a:ext cx="1733550" cy="762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buNone/>
              <a:defRPr sz="1350" b="1">
                <a:solidFill>
                  <a:srgbClr val="172A3A"/>
                </a:solidFill>
                <a:latin typeface="Aptos"/>
                <a:ea typeface="Aptos"/>
                <a:cs typeface="Aptos"/>
              </a:defRPr>
            </a:pPr>
            <a:r>
              <a:rPr sz="1350" b="1">
                <a:solidFill>
                  <a:srgbClr val="172A3A"/>
                </a:solidFill>
                <a:latin typeface="Aptos"/>
                <a:ea typeface="Aptos"/>
                <a:cs typeface="Aptos"/>
              </a:rPr>
              <a:t>De-energize → remove</a:t>
            </a:r>
          </a:p>
          <a:p xmlns:a="http://schemas.openxmlformats.org/drawingml/2006/main">
            <a:pPr algn="ctr">
              <a:buNone/>
              <a:defRPr sz="1350" b="1">
                <a:solidFill>
                  <a:srgbClr val="172A3A"/>
                </a:solidFill>
                <a:latin typeface="Aptos"/>
                <a:ea typeface="Aptos"/>
                <a:cs typeface="Aptos"/>
              </a:defRPr>
            </a:pPr>
            <a:r>
              <a:rPr sz="1350" b="1">
                <a:solidFill>
                  <a:srgbClr val="172A3A"/>
                </a:solidFill>
                <a:latin typeface="Aptos"/>
                <a:ea typeface="Aptos"/>
                <a:cs typeface="Aptos"/>
              </a:rPr>
              <a:t>→ return harness</a:t>
            </a:r>
          </a:p>
        </p:txBody>
      </p:sp>
      <p:sp>
        <p:nvSpPr>
          <p:cNvPr id="29" name="">
            <a:extLst xmlns:a="http://schemas.openxmlformats.org/drawingml/2006/main">
              <a:ext uri="{FF2B5EF4-FFF2-40B4-BE49-F238E27FC236}">
                <a16:creationId xmlns:a16="http://schemas.microsoft.com/office/drawing/2014/main" id="{FDF8DFF4-7ADA-4D17-8BE9-F818AD5FBEC4}"/>
              </a:ext>
            </a:extLst>
          </p:cNvPr>
          <p:cNvSpPr>
            <a:spLocks xmlns:a="http://schemas.openxmlformats.org/drawingml/2006/main" noGrp="1"/>
          </p:cNvSpPr>
          <p:nvPr/>
        </p:nvSpPr>
        <p:spPr>
          <a:xfrm xmlns:a="http://schemas.openxmlformats.org/drawingml/2006/main">
            <a:off x="2209800" y="2714625"/>
            <a:ext cx="24765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buNone/>
              <a:defRPr sz="1800" b="1">
                <a:solidFill>
                  <a:srgbClr val="63717B"/>
                </a:solidFill>
                <a:latin typeface="Aptos"/>
                <a:ea typeface="Aptos"/>
                <a:cs typeface="Aptos"/>
              </a:defRPr>
            </a:pPr>
            <a:r>
              <a:rPr sz="1800" b="1">
                <a:solidFill>
                  <a:srgbClr val="63717B"/>
                </a:solidFill>
                <a:latin typeface="Aptos"/>
                <a:ea typeface="Aptos"/>
                <a:cs typeface="Aptos"/>
              </a:rPr>
              <a:t>→</a:t>
            </a:r>
          </a:p>
        </p:txBody>
      </p:sp>
      <p:sp>
        <p:nvSpPr>
          <p:cNvPr id="30" name="">
            <a:extLst xmlns:a="http://schemas.openxmlformats.org/drawingml/2006/main">
              <a:ext uri="{FF2B5EF4-FFF2-40B4-BE49-F238E27FC236}">
                <a16:creationId xmlns:a16="http://schemas.microsoft.com/office/drawing/2014/main" id="{627943EE-1740-46F5-94E6-DF9D51DAFAF5}"/>
              </a:ext>
            </a:extLst>
          </p:cNvPr>
          <p:cNvSpPr>
            <a:spLocks xmlns:a="http://schemas.openxmlformats.org/drawingml/2006/main" noGrp="1"/>
          </p:cNvSpPr>
          <p:nvPr/>
        </p:nvSpPr>
        <p:spPr>
          <a:xfrm xmlns:a="http://schemas.openxmlformats.org/drawingml/2006/main">
            <a:off x="4305300" y="2714625"/>
            <a:ext cx="24765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buNone/>
              <a:defRPr sz="1800" b="1">
                <a:solidFill>
                  <a:srgbClr val="63717B"/>
                </a:solidFill>
                <a:latin typeface="Aptos"/>
                <a:ea typeface="Aptos"/>
                <a:cs typeface="Aptos"/>
              </a:defRPr>
            </a:pPr>
            <a:r>
              <a:rPr sz="1800" b="1">
                <a:solidFill>
                  <a:srgbClr val="63717B"/>
                </a:solidFill>
                <a:latin typeface="Aptos"/>
                <a:ea typeface="Aptos"/>
                <a:cs typeface="Aptos"/>
              </a:rPr>
              <a:t>→</a:t>
            </a:r>
          </a:p>
        </p:txBody>
      </p:sp>
      <p:sp>
        <p:nvSpPr>
          <p:cNvPr id="31" name="">
            <a:extLst xmlns:a="http://schemas.openxmlformats.org/drawingml/2006/main">
              <a:ext uri="{FF2B5EF4-FFF2-40B4-BE49-F238E27FC236}">
                <a16:creationId xmlns:a16="http://schemas.microsoft.com/office/drawing/2014/main" id="{2120FCFE-90D5-4A45-9B1E-3B06A2540044}"/>
              </a:ext>
            </a:extLst>
          </p:cNvPr>
          <p:cNvSpPr>
            <a:spLocks xmlns:a="http://schemas.openxmlformats.org/drawingml/2006/main" noGrp="1"/>
          </p:cNvSpPr>
          <p:nvPr/>
        </p:nvSpPr>
        <p:spPr>
          <a:xfrm xmlns:a="http://schemas.openxmlformats.org/drawingml/2006/main">
            <a:off x="7448550" y="2714625"/>
            <a:ext cx="24765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buNone/>
              <a:defRPr sz="1800" b="1">
                <a:solidFill>
                  <a:srgbClr val="63717B"/>
                </a:solidFill>
                <a:latin typeface="Aptos"/>
                <a:ea typeface="Aptos"/>
                <a:cs typeface="Aptos"/>
              </a:defRPr>
            </a:pPr>
            <a:r>
              <a:rPr sz="1800" b="1">
                <a:solidFill>
                  <a:srgbClr val="63717B"/>
                </a:solidFill>
                <a:latin typeface="Aptos"/>
                <a:ea typeface="Aptos"/>
                <a:cs typeface="Aptos"/>
              </a:rPr>
              <a:t>→</a:t>
            </a:r>
          </a:p>
        </p:txBody>
      </p:sp>
      <p:sp>
        <p:nvSpPr>
          <p:cNvPr id="32" name="">
            <a:extLst xmlns:a="http://schemas.openxmlformats.org/drawingml/2006/main">
              <a:ext uri="{FF2B5EF4-FFF2-40B4-BE49-F238E27FC236}">
                <a16:creationId xmlns:a16="http://schemas.microsoft.com/office/drawing/2014/main" id="{D92B546D-C565-465E-BBA1-53F73163D878}"/>
              </a:ext>
            </a:extLst>
          </p:cNvPr>
          <p:cNvSpPr>
            <a:spLocks xmlns:a="http://schemas.openxmlformats.org/drawingml/2006/main" noGrp="1"/>
          </p:cNvSpPr>
          <p:nvPr/>
        </p:nvSpPr>
        <p:spPr>
          <a:xfrm xmlns:a="http://schemas.openxmlformats.org/drawingml/2006/main">
            <a:off x="9544050" y="2714625"/>
            <a:ext cx="24765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buNone/>
              <a:defRPr sz="1800" b="1">
                <a:solidFill>
                  <a:srgbClr val="63717B"/>
                </a:solidFill>
                <a:latin typeface="Aptos"/>
                <a:ea typeface="Aptos"/>
                <a:cs typeface="Aptos"/>
              </a:defRPr>
            </a:pPr>
            <a:r>
              <a:rPr sz="1800" b="1">
                <a:solidFill>
                  <a:srgbClr val="63717B"/>
                </a:solidFill>
                <a:latin typeface="Aptos"/>
                <a:ea typeface="Aptos"/>
                <a:cs typeface="Aptos"/>
              </a:rPr>
              <a:t>→</a:t>
            </a:r>
          </a:p>
        </p:txBody>
      </p:sp>
      <p:sp>
        <p:nvSpPr>
          <p:cNvPr id="33" name="responsibility-note">
            <a:extLst xmlns:a="http://schemas.openxmlformats.org/drawingml/2006/main">
              <a:ext uri="{FF2B5EF4-FFF2-40B4-BE49-F238E27FC236}">
                <a16:creationId xmlns:a16="http://schemas.microsoft.com/office/drawing/2014/main" id="{AACCA152-B9D6-47CA-8221-837F43135846}"/>
              </a:ext>
            </a:extLst>
          </p:cNvPr>
          <p:cNvSpPr>
            <a:spLocks xmlns:a="http://schemas.openxmlformats.org/drawingml/2006/main" noGrp="1"/>
          </p:cNvSpPr>
          <p:nvPr/>
        </p:nvSpPr>
        <p:spPr>
          <a:xfrm xmlns:a="http://schemas.openxmlformats.org/drawingml/2006/main">
            <a:off x="381000" y="4048125"/>
            <a:ext cx="7239000" cy="1666875"/>
          </a:xfrm>
          <a:prstGeom xmlns:a="http://schemas.openxmlformats.org/drawingml/2006/main" prst="rect">
            <a:avLst/>
          </a:prstGeom>
          <a:solidFill xmlns:a="http://schemas.openxmlformats.org/drawingml/2006/main">
            <a:srgbClr val="FFFDF8"/>
          </a:solidFill>
          <a:ln xmlns:a="http://schemas.openxmlformats.org/drawingml/2006/main" w="9525">
            <a:solidFill>
              <a:srgbClr val="D6D3CB"/>
            </a:solidFill>
            <a:prstDash val="solid"/>
          </a:ln>
        </p:spPr>
      </p:sp>
      <p:sp>
        <p:nvSpPr>
          <p:cNvPr id="34" name="">
            <a:extLst xmlns:a="http://schemas.openxmlformats.org/drawingml/2006/main">
              <a:ext uri="{FF2B5EF4-FFF2-40B4-BE49-F238E27FC236}">
                <a16:creationId xmlns:a16="http://schemas.microsoft.com/office/drawing/2014/main" id="{49D41388-56DA-4A7E-976C-F2F02E784600}"/>
              </a:ext>
            </a:extLst>
          </p:cNvPr>
          <p:cNvSpPr>
            <a:spLocks xmlns:a="http://schemas.openxmlformats.org/drawingml/2006/main" noGrp="1"/>
          </p:cNvSpPr>
          <p:nvPr/>
        </p:nvSpPr>
        <p:spPr>
          <a:xfrm xmlns:a="http://schemas.openxmlformats.org/drawingml/2006/main">
            <a:off x="552450" y="4210050"/>
            <a:ext cx="6953250" cy="238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buNone/>
              <a:defRPr sz="975" b="1">
                <a:solidFill>
                  <a:srgbClr val="2F6B57"/>
                </a:solidFill>
                <a:latin typeface="Aptos"/>
                <a:ea typeface="Aptos"/>
                <a:cs typeface="Aptos"/>
              </a:defRPr>
            </a:pPr>
            <a:r>
              <a:rPr sz="975" b="1">
                <a:solidFill>
                  <a:srgbClr val="2F6B57"/>
                </a:solidFill>
                <a:latin typeface="Aptos"/>
                <a:ea typeface="Aptos"/>
                <a:cs typeface="Aptos"/>
              </a:rPr>
              <a:t>REFERENCE RESPONSIBILITY BOUNDARY</a:t>
            </a:r>
          </a:p>
        </p:txBody>
      </p:sp>
      <p:sp>
        <p:nvSpPr>
          <p:cNvPr id="35" name="">
            <a:extLst xmlns:a="http://schemas.openxmlformats.org/drawingml/2006/main">
              <a:ext uri="{FF2B5EF4-FFF2-40B4-BE49-F238E27FC236}">
                <a16:creationId xmlns:a16="http://schemas.microsoft.com/office/drawing/2014/main" id="{DAA5E062-2A5C-4D23-B23C-82097B11C22F}"/>
              </a:ext>
            </a:extLst>
          </p:cNvPr>
          <p:cNvSpPr>
            <a:spLocks xmlns:a="http://schemas.openxmlformats.org/drawingml/2006/main" noGrp="1"/>
          </p:cNvSpPr>
          <p:nvPr/>
        </p:nvSpPr>
        <p:spPr>
          <a:xfrm xmlns:a="http://schemas.openxmlformats.org/drawingml/2006/main">
            <a:off x="552450" y="4552950"/>
            <a:ext cx="2333625"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buNone/>
              <a:defRPr sz="1050" b="1">
                <a:solidFill>
                  <a:srgbClr val="172A3A"/>
                </a:solidFill>
                <a:latin typeface="Aptos"/>
                <a:ea typeface="Aptos"/>
                <a:cs typeface="Aptos"/>
              </a:defRPr>
            </a:pPr>
            <a:r>
              <a:rPr sz="1050" b="1">
                <a:solidFill>
                  <a:srgbClr val="172A3A"/>
                </a:solidFill>
                <a:latin typeface="Aptos"/>
                <a:ea typeface="Aptos"/>
                <a:cs typeface="Aptos"/>
              </a:rPr>
              <a:t>Robot / connector automation</a:t>
            </a:r>
          </a:p>
        </p:txBody>
      </p:sp>
      <p:sp>
        <p:nvSpPr>
          <p:cNvPr id="36" name="">
            <a:extLst xmlns:a="http://schemas.openxmlformats.org/drawingml/2006/main">
              <a:ext uri="{FF2B5EF4-FFF2-40B4-BE49-F238E27FC236}">
                <a16:creationId xmlns:a16="http://schemas.microsoft.com/office/drawing/2014/main" id="{96B505BD-076A-4B8B-8D80-2BA88D5DE02D}"/>
              </a:ext>
            </a:extLst>
          </p:cNvPr>
          <p:cNvSpPr>
            <a:spLocks xmlns:a="http://schemas.openxmlformats.org/drawingml/2006/main" noGrp="1"/>
          </p:cNvSpPr>
          <p:nvPr/>
        </p:nvSpPr>
        <p:spPr>
          <a:xfrm xmlns:a="http://schemas.openxmlformats.org/drawingml/2006/main">
            <a:off x="2952750" y="4552950"/>
            <a:ext cx="4429125"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buNone/>
              <a:defRPr sz="1050" b="0">
                <a:solidFill>
                  <a:srgbClr val="63717B"/>
                </a:solidFill>
                <a:latin typeface="Aptos"/>
                <a:ea typeface="Aptos"/>
                <a:cs typeface="Aptos"/>
              </a:defRPr>
            </a:pPr>
            <a:r>
              <a:rPr sz="1050" b="0">
                <a:solidFill>
                  <a:srgbClr val="63717B"/>
                </a:solidFill>
                <a:latin typeface="Aptos"/>
                <a:ea typeface="Aptos"/>
                <a:cs typeface="Aptos"/>
              </a:rPr>
              <a:t>physical connector and harness manipulation</a:t>
            </a:r>
          </a:p>
        </p:txBody>
      </p:sp>
      <p:sp>
        <p:nvSpPr>
          <p:cNvPr id="37" name="">
            <a:extLst xmlns:a="http://schemas.openxmlformats.org/drawingml/2006/main">
              <a:ext uri="{FF2B5EF4-FFF2-40B4-BE49-F238E27FC236}">
                <a16:creationId xmlns:a16="http://schemas.microsoft.com/office/drawing/2014/main" id="{8F23C5A4-7F18-41B0-B5B8-8F6F2B6E1ECE}"/>
              </a:ext>
            </a:extLst>
          </p:cNvPr>
          <p:cNvSpPr>
            <a:spLocks xmlns:a="http://schemas.openxmlformats.org/drawingml/2006/main" noGrp="1"/>
          </p:cNvSpPr>
          <p:nvPr/>
        </p:nvSpPr>
        <p:spPr>
          <a:xfrm xmlns:a="http://schemas.openxmlformats.org/drawingml/2006/main">
            <a:off x="552450" y="4810125"/>
            <a:ext cx="2333625"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buNone/>
              <a:defRPr sz="1050" b="1">
                <a:solidFill>
                  <a:srgbClr val="172A3A"/>
                </a:solidFill>
                <a:latin typeface="Aptos"/>
                <a:ea typeface="Aptos"/>
                <a:cs typeface="Aptos"/>
              </a:defRPr>
            </a:pPr>
            <a:r>
              <a:rPr sz="1050" b="1">
                <a:solidFill>
                  <a:srgbClr val="172A3A"/>
                </a:solidFill>
                <a:latin typeface="Aptos"/>
                <a:ea typeface="Aptos"/>
                <a:cs typeface="Aptos"/>
              </a:rPr>
              <a:t>Test equipment</a:t>
            </a:r>
          </a:p>
        </p:txBody>
      </p:sp>
      <p:sp>
        <p:nvSpPr>
          <p:cNvPr id="38" name="">
            <a:extLst xmlns:a="http://schemas.openxmlformats.org/drawingml/2006/main">
              <a:ext uri="{FF2B5EF4-FFF2-40B4-BE49-F238E27FC236}">
                <a16:creationId xmlns:a16="http://schemas.microsoft.com/office/drawing/2014/main" id="{E6B83C7A-C227-4157-992B-73E9EFC6B3C7}"/>
              </a:ext>
            </a:extLst>
          </p:cNvPr>
          <p:cNvSpPr>
            <a:spLocks xmlns:a="http://schemas.openxmlformats.org/drawingml/2006/main" noGrp="1"/>
          </p:cNvSpPr>
          <p:nvPr/>
        </p:nvSpPr>
        <p:spPr>
          <a:xfrm xmlns:a="http://schemas.openxmlformats.org/drawingml/2006/main">
            <a:off x="2952750" y="4810125"/>
            <a:ext cx="4429125"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buNone/>
              <a:defRPr sz="1050" b="0">
                <a:solidFill>
                  <a:srgbClr val="63717B"/>
                </a:solidFill>
                <a:latin typeface="Aptos"/>
                <a:ea typeface="Aptos"/>
                <a:cs typeface="Aptos"/>
              </a:defRPr>
            </a:pPr>
            <a:r>
              <a:rPr sz="1050" b="0">
                <a:solidFill>
                  <a:srgbClr val="63717B"/>
                </a:solidFill>
                <a:latin typeface="Aptos"/>
                <a:ea typeface="Aptos"/>
                <a:cs typeface="Aptos"/>
              </a:rPr>
              <a:t>electrical measurement and test execution</a:t>
            </a:r>
          </a:p>
        </p:txBody>
      </p:sp>
      <p:sp>
        <p:nvSpPr>
          <p:cNvPr id="39" name="">
            <a:extLst xmlns:a="http://schemas.openxmlformats.org/drawingml/2006/main">
              <a:ext uri="{FF2B5EF4-FFF2-40B4-BE49-F238E27FC236}">
                <a16:creationId xmlns:a16="http://schemas.microsoft.com/office/drawing/2014/main" id="{82A230F6-8A22-41DF-B6B6-3FBBA5BBE1ED}"/>
              </a:ext>
            </a:extLst>
          </p:cNvPr>
          <p:cNvSpPr>
            <a:spLocks xmlns:a="http://schemas.openxmlformats.org/drawingml/2006/main" noGrp="1"/>
          </p:cNvSpPr>
          <p:nvPr/>
        </p:nvSpPr>
        <p:spPr>
          <a:xfrm xmlns:a="http://schemas.openxmlformats.org/drawingml/2006/main">
            <a:off x="552450" y="5067300"/>
            <a:ext cx="2333625"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buNone/>
              <a:defRPr sz="1050" b="1">
                <a:solidFill>
                  <a:srgbClr val="172A3A"/>
                </a:solidFill>
                <a:latin typeface="Aptos"/>
                <a:ea typeface="Aptos"/>
                <a:cs typeface="Aptos"/>
              </a:defRPr>
            </a:pPr>
            <a:r>
              <a:rPr sz="1050" b="1">
                <a:solidFill>
                  <a:srgbClr val="172A3A"/>
                </a:solidFill>
                <a:latin typeface="Aptos"/>
                <a:ea typeface="Aptos"/>
                <a:cs typeface="Aptos"/>
              </a:rPr>
              <a:t>PLC / safety</a:t>
            </a:r>
          </a:p>
        </p:txBody>
      </p:sp>
      <p:sp>
        <p:nvSpPr>
          <p:cNvPr id="40" name="">
            <a:extLst xmlns:a="http://schemas.openxmlformats.org/drawingml/2006/main">
              <a:ext uri="{FF2B5EF4-FFF2-40B4-BE49-F238E27FC236}">
                <a16:creationId xmlns:a16="http://schemas.microsoft.com/office/drawing/2014/main" id="{48A012DF-4D34-41A2-8803-781AB8F4ED22}"/>
              </a:ext>
            </a:extLst>
          </p:cNvPr>
          <p:cNvSpPr>
            <a:spLocks xmlns:a="http://schemas.openxmlformats.org/drawingml/2006/main" noGrp="1"/>
          </p:cNvSpPr>
          <p:nvPr/>
        </p:nvSpPr>
        <p:spPr>
          <a:xfrm xmlns:a="http://schemas.openxmlformats.org/drawingml/2006/main">
            <a:off x="2952750" y="5067300"/>
            <a:ext cx="4429125"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buNone/>
              <a:defRPr sz="1050" b="0">
                <a:solidFill>
                  <a:srgbClr val="63717B"/>
                </a:solidFill>
                <a:latin typeface="Aptos"/>
                <a:ea typeface="Aptos"/>
                <a:cs typeface="Aptos"/>
              </a:defRPr>
            </a:pPr>
            <a:r>
              <a:rPr sz="1050" b="0">
                <a:solidFill>
                  <a:srgbClr val="63717B"/>
                </a:solidFill>
                <a:latin typeface="Aptos"/>
                <a:ea typeface="Aptos"/>
                <a:cs typeface="Aptos"/>
              </a:rPr>
              <a:t>permissions, interlocks, safe state and safe stop</a:t>
            </a:r>
          </a:p>
        </p:txBody>
      </p:sp>
      <p:sp>
        <p:nvSpPr>
          <p:cNvPr id="41" name="">
            <a:extLst xmlns:a="http://schemas.openxmlformats.org/drawingml/2006/main">
              <a:ext uri="{FF2B5EF4-FFF2-40B4-BE49-F238E27FC236}">
                <a16:creationId xmlns:a16="http://schemas.microsoft.com/office/drawing/2014/main" id="{A9D592EE-B651-407F-AB6C-7D73F212D52B}"/>
              </a:ext>
            </a:extLst>
          </p:cNvPr>
          <p:cNvSpPr>
            <a:spLocks xmlns:a="http://schemas.openxmlformats.org/drawingml/2006/main" noGrp="1"/>
          </p:cNvSpPr>
          <p:nvPr/>
        </p:nvSpPr>
        <p:spPr>
          <a:xfrm xmlns:a="http://schemas.openxmlformats.org/drawingml/2006/main">
            <a:off x="552450" y="5324475"/>
            <a:ext cx="2333625"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buNone/>
              <a:defRPr sz="1050" b="1">
                <a:solidFill>
                  <a:srgbClr val="172A3A"/>
                </a:solidFill>
                <a:latin typeface="Aptos"/>
                <a:ea typeface="Aptos"/>
                <a:cs typeface="Aptos"/>
              </a:defRPr>
            </a:pPr>
            <a:r>
              <a:rPr sz="1050" b="1">
                <a:solidFill>
                  <a:srgbClr val="172A3A"/>
                </a:solidFill>
                <a:latin typeface="Aptos"/>
                <a:ea typeface="Aptos"/>
                <a:cs typeface="Aptos"/>
              </a:rPr>
              <a:t>MES / traceability</a:t>
            </a:r>
          </a:p>
        </p:txBody>
      </p:sp>
      <p:sp>
        <p:nvSpPr>
          <p:cNvPr id="42" name="">
            <a:extLst xmlns:a="http://schemas.openxmlformats.org/drawingml/2006/main">
              <a:ext uri="{FF2B5EF4-FFF2-40B4-BE49-F238E27FC236}">
                <a16:creationId xmlns:a16="http://schemas.microsoft.com/office/drawing/2014/main" id="{1A36B856-BDFA-4C27-97E8-CACD92D0C079}"/>
              </a:ext>
            </a:extLst>
          </p:cNvPr>
          <p:cNvSpPr>
            <a:spLocks xmlns:a="http://schemas.openxmlformats.org/drawingml/2006/main" noGrp="1"/>
          </p:cNvSpPr>
          <p:nvPr/>
        </p:nvSpPr>
        <p:spPr>
          <a:xfrm xmlns:a="http://schemas.openxmlformats.org/drawingml/2006/main">
            <a:off x="2952750" y="5324475"/>
            <a:ext cx="4429125"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buNone/>
              <a:defRPr sz="1050" b="0">
                <a:solidFill>
                  <a:srgbClr val="63717B"/>
                </a:solidFill>
                <a:latin typeface="Aptos"/>
                <a:ea typeface="Aptos"/>
                <a:cs typeface="Aptos"/>
              </a:defRPr>
            </a:pPr>
            <a:r>
              <a:rPr sz="1050" b="0">
                <a:solidFill>
                  <a:srgbClr val="63717B"/>
                </a:solidFill>
                <a:latin typeface="Aptos"/>
                <a:ea typeface="Aptos"/>
                <a:cs typeface="Aptos"/>
              </a:rPr>
              <a:t>pack identity, recipe and result association</a:t>
            </a:r>
          </a:p>
        </p:txBody>
      </p:sp>
      <p:sp>
        <p:nvSpPr>
          <p:cNvPr id="43" name="boundary-callout">
            <a:extLst xmlns:a="http://schemas.openxmlformats.org/drawingml/2006/main">
              <a:ext uri="{FF2B5EF4-FFF2-40B4-BE49-F238E27FC236}">
                <a16:creationId xmlns:a16="http://schemas.microsoft.com/office/drawing/2014/main" id="{5EFF903F-997B-4438-9D0C-B6E5F9AA4532}"/>
              </a:ext>
            </a:extLst>
          </p:cNvPr>
          <p:cNvSpPr>
            <a:spLocks xmlns:a="http://schemas.openxmlformats.org/drawingml/2006/main" noGrp="1"/>
          </p:cNvSpPr>
          <p:nvPr/>
        </p:nvSpPr>
        <p:spPr>
          <a:xfrm xmlns:a="http://schemas.openxmlformats.org/drawingml/2006/main">
            <a:off x="7953375" y="4048125"/>
            <a:ext cx="3857625" cy="1666875"/>
          </a:xfrm>
          <a:prstGeom xmlns:a="http://schemas.openxmlformats.org/drawingml/2006/main" prst="rect">
            <a:avLst/>
          </a:prstGeom>
          <a:solidFill xmlns:a="http://schemas.openxmlformats.org/drawingml/2006/main">
            <a:srgbClr val="172A3A"/>
          </a:solidFill>
          <a:ln xmlns:a="http://schemas.openxmlformats.org/drawingml/2006/main" w="0">
            <a:solidFill>
              <a:srgbClr val="000000">
                <a:alpha val="0"/>
              </a:srgbClr>
            </a:solidFill>
            <a:prstDash val="solid"/>
          </a:ln>
        </p:spPr>
      </p:sp>
      <p:sp>
        <p:nvSpPr>
          <p:cNvPr id="44" name="pill-EVIDENCE BOUNDARY">
            <a:extLst xmlns:a="http://schemas.openxmlformats.org/drawingml/2006/main">
              <a:ext uri="{FF2B5EF4-FFF2-40B4-BE49-F238E27FC236}">
                <a16:creationId xmlns:a16="http://schemas.microsoft.com/office/drawing/2014/main" id="{995B7AF6-B49F-479F-AF01-8C4BB28E7740}"/>
              </a:ext>
            </a:extLst>
          </p:cNvPr>
          <p:cNvSpPr>
            <a:spLocks xmlns:a="http://schemas.openxmlformats.org/drawingml/2006/main" noGrp="1"/>
          </p:cNvSpPr>
          <p:nvPr/>
        </p:nvSpPr>
        <p:spPr>
          <a:xfrm xmlns:a="http://schemas.openxmlformats.org/drawingml/2006/main">
            <a:off x="8143875" y="4238625"/>
            <a:ext cx="1257300" cy="238125"/>
          </a:xfrm>
          <a:prstGeom xmlns:a="http://schemas.openxmlformats.org/drawingml/2006/main" prst="rect">
            <a:avLst/>
          </a:prstGeom>
          <a:solidFill xmlns:a="http://schemas.openxmlformats.org/drawingml/2006/main">
            <a:srgbClr val="355064"/>
          </a:solidFill>
          <a:ln xmlns:a="http://schemas.openxmlformats.org/drawingml/2006/main" w="0">
            <a:solidFill>
              <a:srgbClr val="355064"/>
            </a:solidFill>
            <a:prstDash val="solid"/>
          </a:ln>
        </p:spPr>
      </p:sp>
      <p:sp>
        <p:nvSpPr>
          <p:cNvPr id="45" name="">
            <a:extLst xmlns:a="http://schemas.openxmlformats.org/drawingml/2006/main">
              <a:ext uri="{FF2B5EF4-FFF2-40B4-BE49-F238E27FC236}">
                <a16:creationId xmlns:a16="http://schemas.microsoft.com/office/drawing/2014/main" id="{FB78BFDB-D5C1-4FBA-BC16-622CA54CBF61}"/>
              </a:ext>
            </a:extLst>
          </p:cNvPr>
          <p:cNvSpPr>
            <a:spLocks xmlns:a="http://schemas.openxmlformats.org/drawingml/2006/main" noGrp="1"/>
          </p:cNvSpPr>
          <p:nvPr/>
        </p:nvSpPr>
        <p:spPr>
          <a:xfrm xmlns:a="http://schemas.openxmlformats.org/drawingml/2006/main">
            <a:off x="8210550" y="4257675"/>
            <a:ext cx="1123950" cy="2000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buNone/>
              <a:defRPr sz="825" b="1">
                <a:solidFill>
                  <a:srgbClr val="FFFDF8"/>
                </a:solidFill>
                <a:latin typeface="Aptos"/>
                <a:ea typeface="Aptos"/>
                <a:cs typeface="Aptos"/>
              </a:defRPr>
            </a:pPr>
            <a:r>
              <a:rPr sz="825" b="1">
                <a:solidFill>
                  <a:srgbClr val="FFFDF8"/>
                </a:solidFill>
                <a:latin typeface="Aptos"/>
                <a:ea typeface="Aptos"/>
                <a:cs typeface="Aptos"/>
              </a:rPr>
              <a:t>EVIDENCE BOUNDARY</a:t>
            </a:r>
          </a:p>
        </p:txBody>
      </p:sp>
      <p:sp>
        <p:nvSpPr>
          <p:cNvPr id="46" name="">
            <a:extLst xmlns:a="http://schemas.openxmlformats.org/drawingml/2006/main">
              <a:ext uri="{FF2B5EF4-FFF2-40B4-BE49-F238E27FC236}">
                <a16:creationId xmlns:a16="http://schemas.microsoft.com/office/drawing/2014/main" id="{805A53F5-8E95-40B8-ADC8-9CC687C74CBC}"/>
              </a:ext>
            </a:extLst>
          </p:cNvPr>
          <p:cNvSpPr>
            <a:spLocks xmlns:a="http://schemas.openxmlformats.org/drawingml/2006/main" noGrp="1"/>
          </p:cNvSpPr>
          <p:nvPr/>
        </p:nvSpPr>
        <p:spPr>
          <a:xfrm xmlns:a="http://schemas.openxmlformats.org/drawingml/2006/main">
            <a:off x="8143875" y="4591050"/>
            <a:ext cx="3476625" cy="9048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200" b="0">
                <a:solidFill>
                  <a:srgbClr val="FFFDF8"/>
                </a:solidFill>
                <a:latin typeface="Aptos"/>
                <a:ea typeface="Aptos"/>
                <a:cs typeface="Aptos"/>
              </a:defRPr>
            </a:pPr>
            <a:r>
              <a:rPr sz="1200" b="0">
                <a:solidFill>
                  <a:srgbClr val="FFFDF8"/>
                </a:solidFill>
                <a:latin typeface="Aptos"/>
                <a:ea typeface="Aptos"/>
                <a:cs typeface="Aptos"/>
              </a:rPr>
              <a:t>This is a reference abstraction.</a:t>
            </a:r>
          </a:p>
          <a:p xmlns:a="http://schemas.openxmlformats.org/drawingml/2006/main">
            <a:r>
              <a:t/>
            </a:r>
          </a:p>
          <a:p xmlns:a="http://schemas.openxmlformats.org/drawingml/2006/main">
            <a:pPr algn="l">
              <a:buNone/>
              <a:defRPr sz="1200" b="0">
                <a:solidFill>
                  <a:srgbClr val="FFFDF8"/>
                </a:solidFill>
                <a:latin typeface="Aptos"/>
                <a:ea typeface="Aptos"/>
                <a:cs typeface="Aptos"/>
              </a:defRPr>
            </a:pPr>
            <a:r>
              <a:rPr sz="1200" b="0">
                <a:solidFill>
                  <a:srgbClr val="FFFDF8"/>
                </a:solidFill>
                <a:latin typeface="Aptos"/>
                <a:ea typeface="Aptos"/>
                <a:cs typeface="Aptos"/>
              </a:rPr>
              <a:t>The actual CATL task allocation, safety sequence and connector geometry remain UNKNOWN.</a:t>
            </a:r>
          </a:p>
        </p:txBody>
      </p:sp>
    </p:spTree>
    <p:extLst>
      <p:ext uri="{BB962C8B-B14F-4D97-AF65-F5344CB8AC3E}">
        <p14:creationId xmlns:p14="http://schemas.microsoft.com/office/powerpoint/2010/main" val="141406238"/>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 name="background">
            <a:extLst xmlns:a="http://schemas.openxmlformats.org/drawingml/2006/main">
              <a:ext uri="{FF2B5EF4-FFF2-40B4-BE49-F238E27FC236}">
                <a16:creationId xmlns:a16="http://schemas.microsoft.com/office/drawing/2014/main" id="{A6FDEDF0-6AAE-4537-9125-BEB1A4BE454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A"/>
          </a:solidFill>
          <a:ln xmlns:a="http://schemas.openxmlformats.org/drawingml/2006/main" w="0">
            <a:solidFill>
              <a:srgbClr val="000000">
                <a:alpha val="0"/>
              </a:srgbClr>
            </a:solidFill>
            <a:prstDash val="solid"/>
          </a:ln>
        </p:spPr>
      </p:sp>
      <p:sp>
        <p:nvSpPr>
          <p:cNvPr id="2" name="kicker-03-marker">
            <a:extLst xmlns:a="http://schemas.openxmlformats.org/drawingml/2006/main">
              <a:ext uri="{FF2B5EF4-FFF2-40B4-BE49-F238E27FC236}">
                <a16:creationId xmlns:a16="http://schemas.microsoft.com/office/drawing/2014/main" id="{E003E8FB-AD07-4CF5-B30D-C9FF59EF687E}"/>
              </a:ext>
            </a:extLst>
          </p:cNvPr>
          <p:cNvSpPr>
            <a:spLocks xmlns:a="http://schemas.openxmlformats.org/drawingml/2006/main" noGrp="1"/>
          </p:cNvSpPr>
          <p:nvPr/>
        </p:nvSpPr>
        <p:spPr>
          <a:xfrm xmlns:a="http://schemas.openxmlformats.org/drawingml/2006/main">
            <a:off x="381000" y="323850"/>
            <a:ext cx="76200" cy="76200"/>
          </a:xfrm>
          <a:prstGeom xmlns:a="http://schemas.openxmlformats.org/drawingml/2006/main" prst="ellipse">
            <a:avLst/>
          </a:prstGeom>
          <a:solidFill xmlns:a="http://schemas.openxmlformats.org/drawingml/2006/main">
            <a:srgbClr val="2F6B57"/>
          </a:solidFill>
          <a:ln xmlns:a="http://schemas.openxmlformats.org/drawingml/2006/main" w="0">
            <a:solidFill>
              <a:srgbClr val="000000">
                <a:alpha val="0"/>
              </a:srgbClr>
            </a:solidFill>
            <a:prstDash val="solid"/>
          </a:ln>
        </p:spPr>
      </p:sp>
      <p:sp>
        <p:nvSpPr>
          <p:cNvPr id="3" name="kicker-03-label">
            <a:extLst xmlns:a="http://schemas.openxmlformats.org/drawingml/2006/main">
              <a:ext uri="{FF2B5EF4-FFF2-40B4-BE49-F238E27FC236}">
                <a16:creationId xmlns:a16="http://schemas.microsoft.com/office/drawing/2014/main" id="{76206FB4-E6A8-4699-96EB-BAF34553D15F}"/>
              </a:ext>
            </a:extLst>
          </p:cNvPr>
          <p:cNvSpPr>
            <a:spLocks xmlns:a="http://schemas.openxmlformats.org/drawingml/2006/main" noGrp="1"/>
          </p:cNvSpPr>
          <p:nvPr/>
        </p:nvSpPr>
        <p:spPr>
          <a:xfrm xmlns:a="http://schemas.openxmlformats.org/drawingml/2006/main">
            <a:off x="533400" y="266700"/>
            <a:ext cx="4000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buNone/>
              <a:defRPr sz="975" b="1">
                <a:solidFill>
                  <a:srgbClr val="2F6B57"/>
                </a:solidFill>
                <a:latin typeface="Aptos"/>
                <a:ea typeface="Aptos"/>
                <a:cs typeface="Aptos"/>
              </a:defRPr>
            </a:pPr>
            <a:r>
              <a:rPr sz="975" b="1">
                <a:solidFill>
                  <a:srgbClr val="2F6B57"/>
                </a:solidFill>
                <a:latin typeface="Aptos"/>
                <a:ea typeface="Aptos"/>
                <a:cs typeface="Aptos"/>
              </a:rPr>
              <a:t>WHAT IS THE PROBLEM</a:t>
            </a:r>
          </a:p>
        </p:txBody>
      </p:sp>
      <p:sp>
        <p:nvSpPr>
          <p:cNvPr id="4" name="claim-title">
            <a:extLst xmlns:a="http://schemas.openxmlformats.org/drawingml/2006/main">
              <a:ext uri="{FF2B5EF4-FFF2-40B4-BE49-F238E27FC236}">
                <a16:creationId xmlns:a16="http://schemas.microsoft.com/office/drawing/2014/main" id="{2D928F03-EB22-4E92-BB03-50F8A74F9B88}"/>
              </a:ext>
            </a:extLst>
          </p:cNvPr>
          <p:cNvSpPr>
            <a:spLocks xmlns:a="http://schemas.openxmlformats.org/drawingml/2006/main" noGrp="1"/>
          </p:cNvSpPr>
          <p:nvPr/>
        </p:nvSpPr>
        <p:spPr>
          <a:xfrm xmlns:a="http://schemas.openxmlformats.org/drawingml/2006/main">
            <a:off x="381000" y="542925"/>
            <a:ext cx="11334750" cy="742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buNone/>
              <a:defRPr sz="2700" b="1">
                <a:solidFill>
                  <a:srgbClr val="172A3A"/>
                </a:solidFill>
                <a:latin typeface="Aptos Display"/>
                <a:ea typeface="Aptos Display"/>
                <a:cs typeface="Aptos Display"/>
              </a:defRPr>
            </a:pPr>
            <a:r>
              <a:rPr sz="2700" b="1">
                <a:solidFill>
                  <a:srgbClr val="172A3A"/>
                </a:solidFill>
                <a:latin typeface="Aptos Display"/>
                <a:ea typeface="Aptos Display"/>
                <a:cs typeface="Aptos Display"/>
              </a:rPr>
              <a:t>Six requirements turn a simple plug-in action into a robotics-system problem.</a:t>
            </a:r>
          </a:p>
        </p:txBody>
      </p:sp>
      <p:sp>
        <p:nvSpPr>
          <p:cNvPr id="5" name="title-rule">
            <a:extLst xmlns:a="http://schemas.openxmlformats.org/drawingml/2006/main">
              <a:ext uri="{FF2B5EF4-FFF2-40B4-BE49-F238E27FC236}">
                <a16:creationId xmlns:a16="http://schemas.microsoft.com/office/drawing/2014/main" id="{FA9D9B21-392A-4E92-87E5-46ACF6814DB6}"/>
              </a:ext>
            </a:extLst>
          </p:cNvPr>
          <p:cNvSpPr>
            <a:spLocks xmlns:a="http://schemas.openxmlformats.org/drawingml/2006/main" noGrp="1"/>
          </p:cNvSpPr>
          <p:nvPr/>
        </p:nvSpPr>
        <p:spPr>
          <a:xfrm xmlns:a="http://schemas.openxmlformats.org/drawingml/2006/main">
            <a:off x="381000" y="1381125"/>
            <a:ext cx="11430000" cy="9525"/>
          </a:xfrm>
          <a:prstGeom xmlns:a="http://schemas.openxmlformats.org/drawingml/2006/main" prst="rect">
            <a:avLst/>
          </a:prstGeom>
          <a:solidFill xmlns:a="http://schemas.openxmlformats.org/drawingml/2006/main">
            <a:srgbClr val="D6D3CB"/>
          </a:solidFill>
          <a:ln xmlns:a="http://schemas.openxmlformats.org/drawingml/2006/main" w="0">
            <a:solidFill>
              <a:srgbClr val="000000">
                <a:alpha val="0"/>
              </a:srgbClr>
            </a:solidFill>
            <a:prstDash val="solid"/>
          </a:ln>
        </p:spPr>
      </p:sp>
      <p:sp>
        <p:nvSpPr>
          <p:cNvPr id="6" name="footer-rule">
            <a:extLst xmlns:a="http://schemas.openxmlformats.org/drawingml/2006/main">
              <a:ext uri="{FF2B5EF4-FFF2-40B4-BE49-F238E27FC236}">
                <a16:creationId xmlns:a16="http://schemas.microsoft.com/office/drawing/2014/main" id="{851A930C-9D1E-4FFE-998E-58748325D1C4}"/>
              </a:ext>
            </a:extLst>
          </p:cNvPr>
          <p:cNvSpPr>
            <a:spLocks xmlns:a="http://schemas.openxmlformats.org/drawingml/2006/main" noGrp="1"/>
          </p:cNvSpPr>
          <p:nvPr/>
        </p:nvSpPr>
        <p:spPr>
          <a:xfrm xmlns:a="http://schemas.openxmlformats.org/drawingml/2006/main">
            <a:off x="381000" y="6477000"/>
            <a:ext cx="11430000" cy="9525"/>
          </a:xfrm>
          <a:prstGeom xmlns:a="http://schemas.openxmlformats.org/drawingml/2006/main" prst="rect">
            <a:avLst/>
          </a:prstGeom>
          <a:solidFill xmlns:a="http://schemas.openxmlformats.org/drawingml/2006/main">
            <a:srgbClr val="D6D3CB"/>
          </a:solidFill>
          <a:ln xmlns:a="http://schemas.openxmlformats.org/drawingml/2006/main" w="0">
            <a:solidFill>
              <a:srgbClr val="000000">
                <a:alpha val="0"/>
              </a:srgbClr>
            </a:solidFill>
            <a:prstDash val="solid"/>
          </a:ln>
        </p:spPr>
      </p:sp>
      <p:sp>
        <p:nvSpPr>
          <p:cNvPr id="7" name="source-footer">
            <a:extLst xmlns:a="http://schemas.openxmlformats.org/drawingml/2006/main">
              <a:ext uri="{FF2B5EF4-FFF2-40B4-BE49-F238E27FC236}">
                <a16:creationId xmlns:a16="http://schemas.microsoft.com/office/drawing/2014/main" id="{A5049544-FEB1-4302-B72D-8D7ADD4DEFE9}"/>
              </a:ext>
            </a:extLst>
          </p:cNvPr>
          <p:cNvSpPr>
            <a:spLocks xmlns:a="http://schemas.openxmlformats.org/drawingml/2006/main" noGrp="1"/>
          </p:cNvSpPr>
          <p:nvPr/>
        </p:nvSpPr>
        <p:spPr>
          <a:xfrm xmlns:a="http://schemas.openxmlformats.org/drawingml/2006/main">
            <a:off x="381000" y="6543675"/>
            <a:ext cx="1019175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buNone/>
              <a:defRPr sz="675" b="0">
                <a:solidFill>
                  <a:srgbClr val="63717B"/>
                </a:solidFill>
                <a:latin typeface="Aptos"/>
                <a:ea typeface="Aptos"/>
                <a:cs typeface="Aptos"/>
              </a:defRPr>
            </a:pPr>
            <a:r>
              <a:rPr sz="675" b="0">
                <a:solidFill>
                  <a:srgbClr val="63717B"/>
                </a:solidFill>
                <a:latin typeface="Aptos"/>
                <a:ea typeface="Aptos"/>
                <a:cs typeface="Aptos"/>
              </a:rPr>
              <a:t>Source: Week 06 Day 3 requirement audit. R3 is the only fully battery-specific requirement; R1/R2/R5/R6 are hybrid constraints.</a:t>
            </a:r>
          </a:p>
        </p:txBody>
      </p:sp>
      <p:sp>
        <p:nvSpPr>
          <p:cNvPr id="8" name="page-marker">
            <a:extLst xmlns:a="http://schemas.openxmlformats.org/drawingml/2006/main">
              <a:ext uri="{FF2B5EF4-FFF2-40B4-BE49-F238E27FC236}">
                <a16:creationId xmlns:a16="http://schemas.microsoft.com/office/drawing/2014/main" id="{A52391FE-C05A-47AC-AE72-2AE3C65B3AB1}"/>
              </a:ext>
            </a:extLst>
          </p:cNvPr>
          <p:cNvSpPr>
            <a:spLocks xmlns:a="http://schemas.openxmlformats.org/drawingml/2006/main" noGrp="1"/>
          </p:cNvSpPr>
          <p:nvPr/>
        </p:nvSpPr>
        <p:spPr>
          <a:xfrm xmlns:a="http://schemas.openxmlformats.org/drawingml/2006/main">
            <a:off x="11191875" y="6524625"/>
            <a:ext cx="619125"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r">
              <a:buNone/>
              <a:defRPr sz="750" b="1">
                <a:solidFill>
                  <a:srgbClr val="2F6B57"/>
                </a:solidFill>
                <a:latin typeface="Aptos"/>
                <a:ea typeface="Aptos"/>
                <a:cs typeface="Aptos"/>
              </a:defRPr>
            </a:pPr>
            <a:r>
              <a:rPr sz="750" b="1">
                <a:solidFill>
                  <a:srgbClr val="2F6B57"/>
                </a:solidFill>
                <a:latin typeface="Aptos"/>
                <a:ea typeface="Aptos"/>
                <a:cs typeface="Aptos"/>
              </a:rPr>
              <a:t>03</a:t>
            </a:r>
          </a:p>
        </p:txBody>
      </p:sp>
      <p:sp>
        <p:nvSpPr>
          <p:cNvPr id="9" name="requirement-band-1">
            <a:extLst xmlns:a="http://schemas.openxmlformats.org/drawingml/2006/main">
              <a:ext uri="{FF2B5EF4-FFF2-40B4-BE49-F238E27FC236}">
                <a16:creationId xmlns:a16="http://schemas.microsoft.com/office/drawing/2014/main" id="{BBB9BEF2-15B3-49E1-A35B-5EB45C37260A}"/>
              </a:ext>
            </a:extLst>
          </p:cNvPr>
          <p:cNvSpPr>
            <a:spLocks xmlns:a="http://schemas.openxmlformats.org/drawingml/2006/main" noGrp="1"/>
          </p:cNvSpPr>
          <p:nvPr/>
        </p:nvSpPr>
        <p:spPr>
          <a:xfrm xmlns:a="http://schemas.openxmlformats.org/drawingml/2006/main">
            <a:off x="381000" y="1762125"/>
            <a:ext cx="11430000" cy="971550"/>
          </a:xfrm>
          <a:prstGeom xmlns:a="http://schemas.openxmlformats.org/drawingml/2006/main" prst="rect">
            <a:avLst/>
          </a:prstGeom>
          <a:solidFill xmlns:a="http://schemas.openxmlformats.org/drawingml/2006/main">
            <a:srgbClr val="E4EEE8"/>
          </a:solidFill>
          <a:ln xmlns:a="http://schemas.openxmlformats.org/drawingml/2006/main" w="9525">
            <a:solidFill>
              <a:srgbClr val="D6D5CE"/>
            </a:solidFill>
            <a:prstDash val="solid"/>
          </a:ln>
        </p:spPr>
      </p:sp>
      <p:sp>
        <p:nvSpPr>
          <p:cNvPr id="10" name="">
            <a:extLst xmlns:a="http://schemas.openxmlformats.org/drawingml/2006/main">
              <a:ext uri="{FF2B5EF4-FFF2-40B4-BE49-F238E27FC236}">
                <a16:creationId xmlns:a16="http://schemas.microsoft.com/office/drawing/2014/main" id="{D7FFA77B-E00B-48E7-989B-F0281B709A59}"/>
              </a:ext>
            </a:extLst>
          </p:cNvPr>
          <p:cNvSpPr>
            <a:spLocks xmlns:a="http://schemas.openxmlformats.org/drawingml/2006/main" noGrp="1"/>
          </p:cNvSpPr>
          <p:nvPr/>
        </p:nvSpPr>
        <p:spPr>
          <a:xfrm xmlns:a="http://schemas.openxmlformats.org/drawingml/2006/main">
            <a:off x="381000" y="1762125"/>
            <a:ext cx="66675" cy="971550"/>
          </a:xfrm>
          <a:prstGeom xmlns:a="http://schemas.openxmlformats.org/drawingml/2006/main" prst="rect">
            <a:avLst/>
          </a:prstGeom>
          <a:solidFill xmlns:a="http://schemas.openxmlformats.org/drawingml/2006/main">
            <a:srgbClr val="2F6B57"/>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002AF132-CAFE-4F8C-B539-04189F3DFE66}"/>
              </a:ext>
            </a:extLst>
          </p:cNvPr>
          <p:cNvSpPr>
            <a:spLocks xmlns:a="http://schemas.openxmlformats.org/drawingml/2006/main" noGrp="1"/>
          </p:cNvSpPr>
          <p:nvPr/>
        </p:nvSpPr>
        <p:spPr>
          <a:xfrm xmlns:a="http://schemas.openxmlformats.org/drawingml/2006/main">
            <a:off x="590550" y="1885950"/>
            <a:ext cx="18097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buNone/>
              <a:defRPr sz="900" b="1">
                <a:solidFill>
                  <a:srgbClr val="2F6B57"/>
                </a:solidFill>
                <a:latin typeface="Aptos"/>
                <a:ea typeface="Aptos"/>
                <a:cs typeface="Aptos"/>
              </a:defRPr>
            </a:pPr>
            <a:r>
              <a:rPr sz="900" b="1">
                <a:solidFill>
                  <a:srgbClr val="2F6B57"/>
                </a:solidFill>
                <a:latin typeface="Aptos"/>
                <a:ea typeface="Aptos"/>
                <a:cs typeface="Aptos"/>
              </a:rPr>
              <a:t>PHYSICAL MANIPULATION</a:t>
            </a:r>
          </a:p>
        </p:txBody>
      </p:sp>
      <p:sp>
        <p:nvSpPr>
          <p:cNvPr id="12" name="">
            <a:extLst xmlns:a="http://schemas.openxmlformats.org/drawingml/2006/main">
              <a:ext uri="{FF2B5EF4-FFF2-40B4-BE49-F238E27FC236}">
                <a16:creationId xmlns:a16="http://schemas.microsoft.com/office/drawing/2014/main" id="{B28CED3D-7BC7-4397-84C4-3797DF8EB462}"/>
              </a:ext>
            </a:extLst>
          </p:cNvPr>
          <p:cNvSpPr>
            <a:spLocks xmlns:a="http://schemas.openxmlformats.org/drawingml/2006/main" noGrp="1"/>
          </p:cNvSpPr>
          <p:nvPr/>
        </p:nvSpPr>
        <p:spPr>
          <a:xfrm xmlns:a="http://schemas.openxmlformats.org/drawingml/2006/main">
            <a:off x="590550" y="2143125"/>
            <a:ext cx="3286125" cy="4286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buNone/>
              <a:defRPr sz="1275" b="1">
                <a:solidFill>
                  <a:srgbClr val="172A3A"/>
                </a:solidFill>
                <a:latin typeface="Aptos"/>
                <a:ea typeface="Aptos"/>
                <a:cs typeface="Aptos"/>
              </a:defRPr>
            </a:pPr>
            <a:r>
              <a:rPr sz="1275" b="1">
                <a:solidFill>
                  <a:srgbClr val="172A3A"/>
                </a:solidFill>
                <a:latin typeface="Aptos"/>
                <a:ea typeface="Aptos"/>
                <a:cs typeface="Aptos"/>
              </a:rPr>
              <a:t>R1  Flexible-harness handling</a:t>
            </a:r>
          </a:p>
          <a:p xmlns:a="http://schemas.openxmlformats.org/drawingml/2006/main">
            <a:pPr algn="l">
              <a:buNone/>
              <a:defRPr sz="1275" b="1">
                <a:solidFill>
                  <a:srgbClr val="172A3A"/>
                </a:solidFill>
                <a:latin typeface="Aptos"/>
                <a:ea typeface="Aptos"/>
                <a:cs typeface="Aptos"/>
              </a:defRPr>
            </a:pPr>
            <a:r>
              <a:rPr sz="1275" b="1">
                <a:solidFill>
                  <a:srgbClr val="172A3A"/>
                </a:solidFill>
                <a:latin typeface="Aptos"/>
                <a:ea typeface="Aptos"/>
                <a:cs typeface="Aptos"/>
              </a:rPr>
              <a:t>R2  Contact-rich insertion</a:t>
            </a:r>
          </a:p>
        </p:txBody>
      </p:sp>
      <p:sp>
        <p:nvSpPr>
          <p:cNvPr id="13" name="">
            <a:extLst xmlns:a="http://schemas.openxmlformats.org/drawingml/2006/main">
              <a:ext uri="{FF2B5EF4-FFF2-40B4-BE49-F238E27FC236}">
                <a16:creationId xmlns:a16="http://schemas.microsoft.com/office/drawing/2014/main" id="{965A3D73-163B-4F4B-9D66-FB0FE208F54F}"/>
              </a:ext>
            </a:extLst>
          </p:cNvPr>
          <p:cNvSpPr>
            <a:spLocks xmlns:a="http://schemas.openxmlformats.org/drawingml/2006/main" noGrp="1"/>
          </p:cNvSpPr>
          <p:nvPr/>
        </p:nvSpPr>
        <p:spPr>
          <a:xfrm xmlns:a="http://schemas.openxmlformats.org/drawingml/2006/main">
            <a:off x="4095750" y="1933575"/>
            <a:ext cx="9525" cy="628650"/>
          </a:xfrm>
          <a:prstGeom xmlns:a="http://schemas.openxmlformats.org/drawingml/2006/main" prst="rect">
            <a:avLst/>
          </a:prstGeom>
          <a:solidFill xmlns:a="http://schemas.openxmlformats.org/drawingml/2006/main">
            <a:srgbClr val="C8C9C4"/>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94AB8EFC-78BF-4B03-83B2-F355844A1B5A}"/>
              </a:ext>
            </a:extLst>
          </p:cNvPr>
          <p:cNvSpPr>
            <a:spLocks xmlns:a="http://schemas.openxmlformats.org/drawingml/2006/main" noGrp="1"/>
          </p:cNvSpPr>
          <p:nvPr/>
        </p:nvSpPr>
        <p:spPr>
          <a:xfrm xmlns:a="http://schemas.openxmlformats.org/drawingml/2006/main">
            <a:off x="4333875" y="1981200"/>
            <a:ext cx="7191375" cy="533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buNone/>
              <a:defRPr sz="1275" b="0">
                <a:solidFill>
                  <a:srgbClr val="172A3A"/>
                </a:solidFill>
                <a:latin typeface="Aptos"/>
                <a:ea typeface="Aptos"/>
                <a:cs typeface="Aptos"/>
              </a:defRPr>
            </a:pPr>
            <a:r>
              <a:rPr sz="1275" b="0">
                <a:solidFill>
                  <a:srgbClr val="172A3A"/>
                </a:solidFill>
                <a:latin typeface="Aptos"/>
                <a:ea typeface="Aptos"/>
                <a:cs typeface="Aptos"/>
              </a:rPr>
              <a:t>Changing pose, tension and contact forces demand perception, support, compliance and recovery.</a:t>
            </a:r>
          </a:p>
        </p:txBody>
      </p:sp>
      <p:sp>
        <p:nvSpPr>
          <p:cNvPr id="15" name="requirement-band-2">
            <a:extLst xmlns:a="http://schemas.openxmlformats.org/drawingml/2006/main">
              <a:ext uri="{FF2B5EF4-FFF2-40B4-BE49-F238E27FC236}">
                <a16:creationId xmlns:a16="http://schemas.microsoft.com/office/drawing/2014/main" id="{50D7EE6F-5252-4BD6-A5F0-6E01F3862E1C}"/>
              </a:ext>
            </a:extLst>
          </p:cNvPr>
          <p:cNvSpPr>
            <a:spLocks xmlns:a="http://schemas.openxmlformats.org/drawingml/2006/main" noGrp="1"/>
          </p:cNvSpPr>
          <p:nvPr/>
        </p:nvSpPr>
        <p:spPr>
          <a:xfrm xmlns:a="http://schemas.openxmlformats.org/drawingml/2006/main">
            <a:off x="381000" y="2952750"/>
            <a:ext cx="11430000" cy="971550"/>
          </a:xfrm>
          <a:prstGeom xmlns:a="http://schemas.openxmlformats.org/drawingml/2006/main" prst="rect">
            <a:avLst/>
          </a:prstGeom>
          <a:solidFill xmlns:a="http://schemas.openxmlformats.org/drawingml/2006/main">
            <a:srgbClr val="F1E1DE"/>
          </a:solidFill>
          <a:ln xmlns:a="http://schemas.openxmlformats.org/drawingml/2006/main" w="9525">
            <a:solidFill>
              <a:srgbClr val="D6D5CE"/>
            </a:solidFill>
            <a:prstDash val="solid"/>
          </a:ln>
        </p:spPr>
      </p:sp>
      <p:sp>
        <p:nvSpPr>
          <p:cNvPr id="16" name="">
            <a:extLst xmlns:a="http://schemas.openxmlformats.org/drawingml/2006/main">
              <a:ext uri="{FF2B5EF4-FFF2-40B4-BE49-F238E27FC236}">
                <a16:creationId xmlns:a16="http://schemas.microsoft.com/office/drawing/2014/main" id="{0570D243-008E-41FD-AAEA-3DD3A1B5EDC6}"/>
              </a:ext>
            </a:extLst>
          </p:cNvPr>
          <p:cNvSpPr>
            <a:spLocks xmlns:a="http://schemas.openxmlformats.org/drawingml/2006/main" noGrp="1"/>
          </p:cNvSpPr>
          <p:nvPr/>
        </p:nvSpPr>
        <p:spPr>
          <a:xfrm xmlns:a="http://schemas.openxmlformats.org/drawingml/2006/main">
            <a:off x="381000" y="2952750"/>
            <a:ext cx="66675" cy="971550"/>
          </a:xfrm>
          <a:prstGeom xmlns:a="http://schemas.openxmlformats.org/drawingml/2006/main" prst="rect">
            <a:avLst/>
          </a:prstGeom>
          <a:solidFill xmlns:a="http://schemas.openxmlformats.org/drawingml/2006/main">
            <a:srgbClr val="9B4D45"/>
          </a:solidFill>
          <a:ln xmlns:a="http://schemas.openxmlformats.org/drawingml/2006/main" w="0">
            <a:solidFill>
              <a:srgbClr val="000000">
                <a:alpha val="0"/>
              </a:srgbClr>
            </a:solidFill>
            <a:prstDash val="solid"/>
          </a:ln>
        </p:spPr>
      </p:sp>
      <p:sp>
        <p:nvSpPr>
          <p:cNvPr id="17" name="">
            <a:extLst xmlns:a="http://schemas.openxmlformats.org/drawingml/2006/main">
              <a:ext uri="{FF2B5EF4-FFF2-40B4-BE49-F238E27FC236}">
                <a16:creationId xmlns:a16="http://schemas.microsoft.com/office/drawing/2014/main" id="{0956BF80-0CF0-47BF-80A2-2F5AD38B0C49}"/>
              </a:ext>
            </a:extLst>
          </p:cNvPr>
          <p:cNvSpPr>
            <a:spLocks xmlns:a="http://schemas.openxmlformats.org/drawingml/2006/main" noGrp="1"/>
          </p:cNvSpPr>
          <p:nvPr/>
        </p:nvSpPr>
        <p:spPr>
          <a:xfrm xmlns:a="http://schemas.openxmlformats.org/drawingml/2006/main">
            <a:off x="590550" y="3076575"/>
            <a:ext cx="18097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buNone/>
              <a:defRPr sz="900" b="1">
                <a:solidFill>
                  <a:srgbClr val="9B4D45"/>
                </a:solidFill>
                <a:latin typeface="Aptos"/>
                <a:ea typeface="Aptos"/>
                <a:cs typeface="Aptos"/>
              </a:defRPr>
            </a:pPr>
            <a:r>
              <a:rPr sz="900" b="1">
                <a:solidFill>
                  <a:srgbClr val="9B4D45"/>
                </a:solidFill>
                <a:latin typeface="Aptos"/>
                <a:ea typeface="Aptos"/>
                <a:cs typeface="Aptos"/>
              </a:rPr>
              <a:t>PROCESS &amp; SAFETY</a:t>
            </a:r>
          </a:p>
        </p:txBody>
      </p:sp>
      <p:sp>
        <p:nvSpPr>
          <p:cNvPr id="18" name="">
            <a:extLst xmlns:a="http://schemas.openxmlformats.org/drawingml/2006/main">
              <a:ext uri="{FF2B5EF4-FFF2-40B4-BE49-F238E27FC236}">
                <a16:creationId xmlns:a16="http://schemas.microsoft.com/office/drawing/2014/main" id="{36B2B1F8-00A4-4D55-A40E-065103E5E44B}"/>
              </a:ext>
            </a:extLst>
          </p:cNvPr>
          <p:cNvSpPr>
            <a:spLocks xmlns:a="http://schemas.openxmlformats.org/drawingml/2006/main" noGrp="1"/>
          </p:cNvSpPr>
          <p:nvPr/>
        </p:nvSpPr>
        <p:spPr>
          <a:xfrm xmlns:a="http://schemas.openxmlformats.org/drawingml/2006/main">
            <a:off x="590550" y="3333750"/>
            <a:ext cx="3286125" cy="4286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buNone/>
              <a:defRPr sz="1275" b="1">
                <a:solidFill>
                  <a:srgbClr val="172A3A"/>
                </a:solidFill>
                <a:latin typeface="Aptos"/>
                <a:ea typeface="Aptos"/>
                <a:cs typeface="Aptos"/>
              </a:defRPr>
            </a:pPr>
            <a:r>
              <a:rPr sz="1275" b="1">
                <a:solidFill>
                  <a:srgbClr val="172A3A"/>
                </a:solidFill>
                <a:latin typeface="Aptos"/>
                <a:ea typeface="Aptos"/>
                <a:cs typeface="Aptos"/>
              </a:rPr>
              <a:t>R3  Electrical / HV safety interface</a:t>
            </a:r>
          </a:p>
          <a:p xmlns:a="http://schemas.openxmlformats.org/drawingml/2006/main">
            <a:pPr algn="l">
              <a:buNone/>
              <a:defRPr sz="1275" b="1">
                <a:solidFill>
                  <a:srgbClr val="172A3A"/>
                </a:solidFill>
                <a:latin typeface="Aptos"/>
                <a:ea typeface="Aptos"/>
                <a:cs typeface="Aptos"/>
              </a:defRPr>
            </a:pPr>
            <a:r>
              <a:rPr sz="1275" b="1">
                <a:solidFill>
                  <a:srgbClr val="172A3A"/>
                </a:solidFill>
                <a:latin typeface="Aptos"/>
                <a:ea typeface="Aptos"/>
                <a:cs typeface="Aptos"/>
              </a:rPr>
              <a:t>R5  Connection-quality confirmation</a:t>
            </a:r>
          </a:p>
        </p:txBody>
      </p:sp>
      <p:sp>
        <p:nvSpPr>
          <p:cNvPr id="19" name="">
            <a:extLst xmlns:a="http://schemas.openxmlformats.org/drawingml/2006/main">
              <a:ext uri="{FF2B5EF4-FFF2-40B4-BE49-F238E27FC236}">
                <a16:creationId xmlns:a16="http://schemas.microsoft.com/office/drawing/2014/main" id="{13BE3841-47E1-4D04-9BC4-9438CE394A36}"/>
              </a:ext>
            </a:extLst>
          </p:cNvPr>
          <p:cNvSpPr>
            <a:spLocks xmlns:a="http://schemas.openxmlformats.org/drawingml/2006/main" noGrp="1"/>
          </p:cNvSpPr>
          <p:nvPr/>
        </p:nvSpPr>
        <p:spPr>
          <a:xfrm xmlns:a="http://schemas.openxmlformats.org/drawingml/2006/main">
            <a:off x="4095750" y="3124200"/>
            <a:ext cx="9525" cy="628650"/>
          </a:xfrm>
          <a:prstGeom xmlns:a="http://schemas.openxmlformats.org/drawingml/2006/main" prst="rect">
            <a:avLst/>
          </a:prstGeom>
          <a:solidFill xmlns:a="http://schemas.openxmlformats.org/drawingml/2006/main">
            <a:srgbClr val="C8C9C4"/>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4DCEA535-7CD4-4A0D-8AC6-A20335E27164}"/>
              </a:ext>
            </a:extLst>
          </p:cNvPr>
          <p:cNvSpPr>
            <a:spLocks xmlns:a="http://schemas.openxmlformats.org/drawingml/2006/main" noGrp="1"/>
          </p:cNvSpPr>
          <p:nvPr/>
        </p:nvSpPr>
        <p:spPr>
          <a:xfrm xmlns:a="http://schemas.openxmlformats.org/drawingml/2006/main">
            <a:off x="4333875" y="3171825"/>
            <a:ext cx="7191375" cy="533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buNone/>
              <a:defRPr sz="1275" b="0">
                <a:solidFill>
                  <a:srgbClr val="172A3A"/>
                </a:solidFill>
                <a:latin typeface="Aptos"/>
                <a:ea typeface="Aptos"/>
                <a:cs typeface="Aptos"/>
              </a:defRPr>
            </a:pPr>
            <a:r>
              <a:rPr sz="1275" b="0">
                <a:solidFill>
                  <a:srgbClr val="172A3A"/>
                </a:solidFill>
                <a:latin typeface="Aptos"/>
                <a:ea typeface="Aptos"/>
                <a:cs typeface="Aptos"/>
              </a:rPr>
              <a:t>The robot acts only under safe-state permission; insertion must be confirmed, not merely completed geometrically.</a:t>
            </a:r>
          </a:p>
        </p:txBody>
      </p:sp>
      <p:sp>
        <p:nvSpPr>
          <p:cNvPr id="21" name="pill-BATTERY-SPECIFIC">
            <a:extLst xmlns:a="http://schemas.openxmlformats.org/drawingml/2006/main">
              <a:ext uri="{FF2B5EF4-FFF2-40B4-BE49-F238E27FC236}">
                <a16:creationId xmlns:a16="http://schemas.microsoft.com/office/drawing/2014/main" id="{AB94377A-AB06-42FD-A56F-503ED4AB6959}"/>
              </a:ext>
            </a:extLst>
          </p:cNvPr>
          <p:cNvSpPr>
            <a:spLocks xmlns:a="http://schemas.openxmlformats.org/drawingml/2006/main" noGrp="1"/>
          </p:cNvSpPr>
          <p:nvPr/>
        </p:nvSpPr>
        <p:spPr>
          <a:xfrm xmlns:a="http://schemas.openxmlformats.org/drawingml/2006/main">
            <a:off x="2571750" y="3038475"/>
            <a:ext cx="1285875" cy="238125"/>
          </a:xfrm>
          <a:prstGeom xmlns:a="http://schemas.openxmlformats.org/drawingml/2006/main" prst="rect">
            <a:avLst/>
          </a:prstGeom>
          <a:solidFill xmlns:a="http://schemas.openxmlformats.org/drawingml/2006/main">
            <a:srgbClr val="9B4D45"/>
          </a:solidFill>
          <a:ln xmlns:a="http://schemas.openxmlformats.org/drawingml/2006/main" w="0">
            <a:solidFill>
              <a:srgbClr val="9B4D45"/>
            </a:solidFill>
            <a:prstDash val="solid"/>
          </a:ln>
        </p:spPr>
      </p:sp>
      <p:sp>
        <p:nvSpPr>
          <p:cNvPr id="22" name="">
            <a:extLst xmlns:a="http://schemas.openxmlformats.org/drawingml/2006/main">
              <a:ext uri="{FF2B5EF4-FFF2-40B4-BE49-F238E27FC236}">
                <a16:creationId xmlns:a16="http://schemas.microsoft.com/office/drawing/2014/main" id="{E23CBE5E-E1EE-4463-9CA1-7536AC706E64}"/>
              </a:ext>
            </a:extLst>
          </p:cNvPr>
          <p:cNvSpPr>
            <a:spLocks xmlns:a="http://schemas.openxmlformats.org/drawingml/2006/main" noGrp="1"/>
          </p:cNvSpPr>
          <p:nvPr/>
        </p:nvSpPr>
        <p:spPr>
          <a:xfrm xmlns:a="http://schemas.openxmlformats.org/drawingml/2006/main">
            <a:off x="2638425" y="3057525"/>
            <a:ext cx="1152525" cy="2000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buNone/>
              <a:defRPr sz="825" b="1">
                <a:solidFill>
                  <a:srgbClr val="FFFDF8"/>
                </a:solidFill>
                <a:latin typeface="Aptos"/>
                <a:ea typeface="Aptos"/>
                <a:cs typeface="Aptos"/>
              </a:defRPr>
            </a:pPr>
            <a:r>
              <a:rPr sz="825" b="1">
                <a:solidFill>
                  <a:srgbClr val="FFFDF8"/>
                </a:solidFill>
                <a:latin typeface="Aptos"/>
                <a:ea typeface="Aptos"/>
                <a:cs typeface="Aptos"/>
              </a:rPr>
              <a:t>BATTERY-SPECIFIC</a:t>
            </a:r>
          </a:p>
        </p:txBody>
      </p:sp>
      <p:sp>
        <p:nvSpPr>
          <p:cNvPr id="23" name="requirement-band-3">
            <a:extLst xmlns:a="http://schemas.openxmlformats.org/drawingml/2006/main">
              <a:ext uri="{FF2B5EF4-FFF2-40B4-BE49-F238E27FC236}">
                <a16:creationId xmlns:a16="http://schemas.microsoft.com/office/drawing/2014/main" id="{D05C0963-2FC2-4E6A-ADA6-D481FFB611A1}"/>
              </a:ext>
            </a:extLst>
          </p:cNvPr>
          <p:cNvSpPr>
            <a:spLocks xmlns:a="http://schemas.openxmlformats.org/drawingml/2006/main" noGrp="1"/>
          </p:cNvSpPr>
          <p:nvPr/>
        </p:nvSpPr>
        <p:spPr>
          <a:xfrm xmlns:a="http://schemas.openxmlformats.org/drawingml/2006/main">
            <a:off x="381000" y="4143375"/>
            <a:ext cx="11430000" cy="971550"/>
          </a:xfrm>
          <a:prstGeom xmlns:a="http://schemas.openxmlformats.org/drawingml/2006/main" prst="rect">
            <a:avLst/>
          </a:prstGeom>
          <a:solidFill xmlns:a="http://schemas.openxmlformats.org/drawingml/2006/main">
            <a:srgbClr val="E4EBF0"/>
          </a:solidFill>
          <a:ln xmlns:a="http://schemas.openxmlformats.org/drawingml/2006/main" w="9525">
            <a:solidFill>
              <a:srgbClr val="D6D5CE"/>
            </a:solidFill>
            <a:prstDash val="solid"/>
          </a:ln>
        </p:spPr>
      </p:sp>
      <p:sp>
        <p:nvSpPr>
          <p:cNvPr id="24" name="">
            <a:extLst xmlns:a="http://schemas.openxmlformats.org/drawingml/2006/main">
              <a:ext uri="{FF2B5EF4-FFF2-40B4-BE49-F238E27FC236}">
                <a16:creationId xmlns:a16="http://schemas.microsoft.com/office/drawing/2014/main" id="{812AEC1E-050D-4037-BF21-657E814B0DDE}"/>
              </a:ext>
            </a:extLst>
          </p:cNvPr>
          <p:cNvSpPr>
            <a:spLocks xmlns:a="http://schemas.openxmlformats.org/drawingml/2006/main" noGrp="1"/>
          </p:cNvSpPr>
          <p:nvPr/>
        </p:nvSpPr>
        <p:spPr>
          <a:xfrm xmlns:a="http://schemas.openxmlformats.org/drawingml/2006/main">
            <a:off x="381000" y="4143375"/>
            <a:ext cx="66675" cy="971550"/>
          </a:xfrm>
          <a:prstGeom xmlns:a="http://schemas.openxmlformats.org/drawingml/2006/main" prst="rect">
            <a:avLst/>
          </a:prstGeom>
          <a:solidFill xmlns:a="http://schemas.openxmlformats.org/drawingml/2006/main">
            <a:srgbClr val="4E7897"/>
          </a:solidFill>
          <a:ln xmlns:a="http://schemas.openxmlformats.org/drawingml/2006/main" w="0">
            <a:solidFill>
              <a:srgbClr val="000000">
                <a:alpha val="0"/>
              </a:srgbClr>
            </a:solidFill>
            <a:prstDash val="solid"/>
          </a:ln>
        </p:spPr>
      </p:sp>
      <p:sp>
        <p:nvSpPr>
          <p:cNvPr id="25" name="">
            <a:extLst xmlns:a="http://schemas.openxmlformats.org/drawingml/2006/main">
              <a:ext uri="{FF2B5EF4-FFF2-40B4-BE49-F238E27FC236}">
                <a16:creationId xmlns:a16="http://schemas.microsoft.com/office/drawing/2014/main" id="{7ACFC444-9663-4935-AC70-1DD662A059ED}"/>
              </a:ext>
            </a:extLst>
          </p:cNvPr>
          <p:cNvSpPr>
            <a:spLocks xmlns:a="http://schemas.openxmlformats.org/drawingml/2006/main" noGrp="1"/>
          </p:cNvSpPr>
          <p:nvPr/>
        </p:nvSpPr>
        <p:spPr>
          <a:xfrm xmlns:a="http://schemas.openxmlformats.org/drawingml/2006/main">
            <a:off x="590550" y="4267200"/>
            <a:ext cx="18097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buNone/>
              <a:defRPr sz="900" b="1">
                <a:solidFill>
                  <a:srgbClr val="4E7897"/>
                </a:solidFill>
                <a:latin typeface="Aptos"/>
                <a:ea typeface="Aptos"/>
                <a:cs typeface="Aptos"/>
              </a:defRPr>
            </a:pPr>
            <a:r>
              <a:rPr sz="900" b="1">
                <a:solidFill>
                  <a:srgbClr val="4E7897"/>
                </a:solidFill>
                <a:latin typeface="Aptos"/>
                <a:ea typeface="Aptos"/>
                <a:cs typeface="Aptos"/>
              </a:rPr>
              <a:t>PRODUCTION &amp; INTEGRATION</a:t>
            </a:r>
          </a:p>
        </p:txBody>
      </p:sp>
      <p:sp>
        <p:nvSpPr>
          <p:cNvPr id="26" name="">
            <a:extLst xmlns:a="http://schemas.openxmlformats.org/drawingml/2006/main">
              <a:ext uri="{FF2B5EF4-FFF2-40B4-BE49-F238E27FC236}">
                <a16:creationId xmlns:a16="http://schemas.microsoft.com/office/drawing/2014/main" id="{27BF9F4B-6C96-40FC-A879-BDBEAA7BA317}"/>
              </a:ext>
            </a:extLst>
          </p:cNvPr>
          <p:cNvSpPr>
            <a:spLocks xmlns:a="http://schemas.openxmlformats.org/drawingml/2006/main" noGrp="1"/>
          </p:cNvSpPr>
          <p:nvPr/>
        </p:nvSpPr>
        <p:spPr>
          <a:xfrm xmlns:a="http://schemas.openxmlformats.org/drawingml/2006/main">
            <a:off x="590550" y="4524375"/>
            <a:ext cx="3286125" cy="4286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buNone/>
              <a:defRPr sz="1275" b="1">
                <a:solidFill>
                  <a:srgbClr val="172A3A"/>
                </a:solidFill>
                <a:latin typeface="Aptos"/>
                <a:ea typeface="Aptos"/>
                <a:cs typeface="Aptos"/>
              </a:defRPr>
            </a:pPr>
            <a:r>
              <a:rPr sz="1275" b="1">
                <a:solidFill>
                  <a:srgbClr val="172A3A"/>
                </a:solidFill>
                <a:latin typeface="Aptos"/>
                <a:ea typeface="Aptos"/>
                <a:cs typeface="Aptos"/>
              </a:rPr>
              <a:t>R4  Variation and changeover</a:t>
            </a:r>
          </a:p>
          <a:p xmlns:a="http://schemas.openxmlformats.org/drawingml/2006/main">
            <a:pPr algn="l">
              <a:buNone/>
              <a:defRPr sz="1275" b="1">
                <a:solidFill>
                  <a:srgbClr val="172A3A"/>
                </a:solidFill>
                <a:latin typeface="Aptos"/>
                <a:ea typeface="Aptos"/>
                <a:cs typeface="Aptos"/>
              </a:defRPr>
            </a:pPr>
            <a:r>
              <a:rPr sz="1275" b="1">
                <a:solidFill>
                  <a:srgbClr val="172A3A"/>
                </a:solidFill>
                <a:latin typeface="Aptos"/>
                <a:ea typeface="Aptos"/>
                <a:cs typeface="Aptos"/>
              </a:rPr>
              <a:t>R6  Traceability and integration</a:t>
            </a:r>
          </a:p>
        </p:txBody>
      </p:sp>
      <p:sp>
        <p:nvSpPr>
          <p:cNvPr id="27" name="">
            <a:extLst xmlns:a="http://schemas.openxmlformats.org/drawingml/2006/main">
              <a:ext uri="{FF2B5EF4-FFF2-40B4-BE49-F238E27FC236}">
                <a16:creationId xmlns:a16="http://schemas.microsoft.com/office/drawing/2014/main" id="{97AF5145-D153-4BAC-B399-DDADC4BF065B}"/>
              </a:ext>
            </a:extLst>
          </p:cNvPr>
          <p:cNvSpPr>
            <a:spLocks xmlns:a="http://schemas.openxmlformats.org/drawingml/2006/main" noGrp="1"/>
          </p:cNvSpPr>
          <p:nvPr/>
        </p:nvSpPr>
        <p:spPr>
          <a:xfrm xmlns:a="http://schemas.openxmlformats.org/drawingml/2006/main">
            <a:off x="4095750" y="4314825"/>
            <a:ext cx="9525" cy="628650"/>
          </a:xfrm>
          <a:prstGeom xmlns:a="http://schemas.openxmlformats.org/drawingml/2006/main" prst="rect">
            <a:avLst/>
          </a:prstGeom>
          <a:solidFill xmlns:a="http://schemas.openxmlformats.org/drawingml/2006/main">
            <a:srgbClr val="C8C9C4"/>
          </a:solidFill>
          <a:ln xmlns:a="http://schemas.openxmlformats.org/drawingml/2006/main" w="0">
            <a:solidFill>
              <a:srgbClr val="000000">
                <a:alpha val="0"/>
              </a:srgbClr>
            </a:solidFill>
            <a:prstDash val="solid"/>
          </a:ln>
        </p:spPr>
      </p:sp>
      <p:sp>
        <p:nvSpPr>
          <p:cNvPr id="28" name="">
            <a:extLst xmlns:a="http://schemas.openxmlformats.org/drawingml/2006/main">
              <a:ext uri="{FF2B5EF4-FFF2-40B4-BE49-F238E27FC236}">
                <a16:creationId xmlns:a16="http://schemas.microsoft.com/office/drawing/2014/main" id="{03BDACDB-17BA-45F8-937F-718DBF30A2FF}"/>
              </a:ext>
            </a:extLst>
          </p:cNvPr>
          <p:cNvSpPr>
            <a:spLocks xmlns:a="http://schemas.openxmlformats.org/drawingml/2006/main" noGrp="1"/>
          </p:cNvSpPr>
          <p:nvPr/>
        </p:nvSpPr>
        <p:spPr>
          <a:xfrm xmlns:a="http://schemas.openxmlformats.org/drawingml/2006/main">
            <a:off x="4333875" y="4362450"/>
            <a:ext cx="7191375" cy="533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buNone/>
              <a:defRPr sz="1275" b="0">
                <a:solidFill>
                  <a:srgbClr val="172A3A"/>
                </a:solidFill>
                <a:latin typeface="Aptos"/>
                <a:ea typeface="Aptos"/>
                <a:cs typeface="Aptos"/>
              </a:defRPr>
            </a:pPr>
            <a:r>
              <a:rPr sz="1275" b="0">
                <a:solidFill>
                  <a:srgbClr val="172A3A"/>
                </a:solidFill>
                <a:latin typeface="Aptos"/>
                <a:ea typeface="Aptos"/>
                <a:cs typeface="Aptos"/>
              </a:rPr>
              <a:t>Programs, tooling and records must remain linked to pack identity, recipe and exception handling.</a:t>
            </a:r>
          </a:p>
        </p:txBody>
      </p:sp>
      <p:sp>
        <p:nvSpPr>
          <p:cNvPr id="29" name="unknown-rail">
            <a:extLst xmlns:a="http://schemas.openxmlformats.org/drawingml/2006/main">
              <a:ext uri="{FF2B5EF4-FFF2-40B4-BE49-F238E27FC236}">
                <a16:creationId xmlns:a16="http://schemas.microsoft.com/office/drawing/2014/main" id="{A44469AA-6237-4C07-898F-66A93F4DA856}"/>
              </a:ext>
            </a:extLst>
          </p:cNvPr>
          <p:cNvSpPr>
            <a:spLocks xmlns:a="http://schemas.openxmlformats.org/drawingml/2006/main" noGrp="1"/>
          </p:cNvSpPr>
          <p:nvPr/>
        </p:nvSpPr>
        <p:spPr>
          <a:xfrm xmlns:a="http://schemas.openxmlformats.org/drawingml/2006/main">
            <a:off x="381000" y="5476875"/>
            <a:ext cx="11430000" cy="704850"/>
          </a:xfrm>
          <a:prstGeom xmlns:a="http://schemas.openxmlformats.org/drawingml/2006/main" prst="rect">
            <a:avLst/>
          </a:prstGeom>
          <a:solidFill xmlns:a="http://schemas.openxmlformats.org/drawingml/2006/main">
            <a:srgbClr val="172A3A"/>
          </a:solidFill>
          <a:ln xmlns:a="http://schemas.openxmlformats.org/drawingml/2006/main" w="0">
            <a:solidFill>
              <a:srgbClr val="000000">
                <a:alpha val="0"/>
              </a:srgbClr>
            </a:solidFill>
            <a:prstDash val="solid"/>
          </a:ln>
        </p:spPr>
      </p:sp>
      <p:sp>
        <p:nvSpPr>
          <p:cNvPr id="30" name="">
            <a:extLst xmlns:a="http://schemas.openxmlformats.org/drawingml/2006/main">
              <a:ext uri="{FF2B5EF4-FFF2-40B4-BE49-F238E27FC236}">
                <a16:creationId xmlns:a16="http://schemas.microsoft.com/office/drawing/2014/main" id="{1DFD81B9-465B-4DA7-B373-8163B44680FC}"/>
              </a:ext>
            </a:extLst>
          </p:cNvPr>
          <p:cNvSpPr>
            <a:spLocks xmlns:a="http://schemas.openxmlformats.org/drawingml/2006/main" noGrp="1"/>
          </p:cNvSpPr>
          <p:nvPr/>
        </p:nvSpPr>
        <p:spPr>
          <a:xfrm xmlns:a="http://schemas.openxmlformats.org/drawingml/2006/main">
            <a:off x="552450" y="5600700"/>
            <a:ext cx="16192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buNone/>
              <a:defRPr sz="900" b="1">
                <a:solidFill>
                  <a:srgbClr val="F0C7BD"/>
                </a:solidFill>
                <a:latin typeface="Aptos"/>
                <a:ea typeface="Aptos"/>
                <a:cs typeface="Aptos"/>
              </a:defRPr>
            </a:pPr>
            <a:r>
              <a:rPr sz="900" b="1">
                <a:solidFill>
                  <a:srgbClr val="F0C7BD"/>
                </a:solidFill>
                <a:latin typeface="Aptos"/>
                <a:ea typeface="Aptos"/>
                <a:cs typeface="Aptos"/>
              </a:rPr>
              <a:t>CRITICAL UNKNOWNS</a:t>
            </a:r>
          </a:p>
        </p:txBody>
      </p:sp>
      <p:sp>
        <p:nvSpPr>
          <p:cNvPr id="31" name="">
            <a:extLst xmlns:a="http://schemas.openxmlformats.org/drawingml/2006/main">
              <a:ext uri="{FF2B5EF4-FFF2-40B4-BE49-F238E27FC236}">
                <a16:creationId xmlns:a16="http://schemas.microsoft.com/office/drawing/2014/main" id="{E251403C-2775-44EA-A8D8-1820F1149305}"/>
              </a:ext>
            </a:extLst>
          </p:cNvPr>
          <p:cNvSpPr>
            <a:spLocks xmlns:a="http://schemas.openxmlformats.org/drawingml/2006/main" noGrp="1"/>
          </p:cNvSpPr>
          <p:nvPr/>
        </p:nvSpPr>
        <p:spPr>
          <a:xfrm xmlns:a="http://schemas.openxmlformats.org/drawingml/2006/main">
            <a:off x="2266950" y="5572125"/>
            <a:ext cx="2143125" cy="4286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buNone/>
              <a:defRPr sz="1050" b="1">
                <a:solidFill>
                  <a:srgbClr val="FFFDF8"/>
                </a:solidFill>
                <a:latin typeface="Aptos"/>
                <a:ea typeface="Aptos"/>
                <a:cs typeface="Aptos"/>
              </a:defRPr>
            </a:pPr>
            <a:r>
              <a:rPr sz="1050" b="1">
                <a:solidFill>
                  <a:srgbClr val="FFFDF8"/>
                </a:solidFill>
                <a:latin typeface="Aptos"/>
                <a:ea typeface="Aptos"/>
                <a:cs typeface="Aptos"/>
              </a:rPr>
              <a:t>connector geometry &amp; force</a:t>
            </a:r>
          </a:p>
        </p:txBody>
      </p:sp>
      <p:sp>
        <p:nvSpPr>
          <p:cNvPr id="32" name="">
            <a:extLst xmlns:a="http://schemas.openxmlformats.org/drawingml/2006/main">
              <a:ext uri="{FF2B5EF4-FFF2-40B4-BE49-F238E27FC236}">
                <a16:creationId xmlns:a16="http://schemas.microsoft.com/office/drawing/2014/main" id="{03099C58-7AE0-4235-B546-6D5E39D75D73}"/>
              </a:ext>
            </a:extLst>
          </p:cNvPr>
          <p:cNvSpPr>
            <a:spLocks xmlns:a="http://schemas.openxmlformats.org/drawingml/2006/main" noGrp="1"/>
          </p:cNvSpPr>
          <p:nvPr/>
        </p:nvSpPr>
        <p:spPr>
          <a:xfrm xmlns:a="http://schemas.openxmlformats.org/drawingml/2006/main">
            <a:off x="4552950" y="5572125"/>
            <a:ext cx="2143125" cy="4286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buNone/>
              <a:defRPr sz="1050" b="1">
                <a:solidFill>
                  <a:srgbClr val="FFFDF8"/>
                </a:solidFill>
                <a:latin typeface="Aptos"/>
                <a:ea typeface="Aptos"/>
                <a:cs typeface="Aptos"/>
              </a:defRPr>
            </a:pPr>
            <a:r>
              <a:rPr sz="1050" b="1">
                <a:solidFill>
                  <a:srgbClr val="FFFDF8"/>
                </a:solidFill>
                <a:latin typeface="Aptos"/>
                <a:ea typeface="Aptos"/>
                <a:cs typeface="Aptos"/>
              </a:rPr>
              <a:t>safe-state handshake</a:t>
            </a:r>
          </a:p>
        </p:txBody>
      </p:sp>
      <p:sp>
        <p:nvSpPr>
          <p:cNvPr id="33" name="">
            <a:extLst xmlns:a="http://schemas.openxmlformats.org/drawingml/2006/main">
              <a:ext uri="{FF2B5EF4-FFF2-40B4-BE49-F238E27FC236}">
                <a16:creationId xmlns:a16="http://schemas.microsoft.com/office/drawing/2014/main" id="{9C1E5D23-6513-4B4E-B9F8-7968F20A0B7B}"/>
              </a:ext>
            </a:extLst>
          </p:cNvPr>
          <p:cNvSpPr>
            <a:spLocks xmlns:a="http://schemas.openxmlformats.org/drawingml/2006/main" noGrp="1"/>
          </p:cNvSpPr>
          <p:nvPr/>
        </p:nvSpPr>
        <p:spPr>
          <a:xfrm xmlns:a="http://schemas.openxmlformats.org/drawingml/2006/main">
            <a:off x="6838950" y="5572125"/>
            <a:ext cx="2143125" cy="4286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buNone/>
              <a:defRPr sz="1050" b="1">
                <a:solidFill>
                  <a:srgbClr val="FFFDF8"/>
                </a:solidFill>
                <a:latin typeface="Aptos"/>
                <a:ea typeface="Aptos"/>
                <a:cs typeface="Aptos"/>
              </a:defRPr>
            </a:pPr>
            <a:r>
              <a:rPr sz="1050" b="1">
                <a:solidFill>
                  <a:srgbClr val="FFFDF8"/>
                </a:solidFill>
                <a:latin typeface="Aptos"/>
                <a:ea typeface="Aptos"/>
                <a:cs typeface="Aptos"/>
              </a:rPr>
              <a:t>actual confirmation logic</a:t>
            </a:r>
          </a:p>
        </p:txBody>
      </p:sp>
      <p:sp>
        <p:nvSpPr>
          <p:cNvPr id="34" name="">
            <a:extLst xmlns:a="http://schemas.openxmlformats.org/drawingml/2006/main">
              <a:ext uri="{FF2B5EF4-FFF2-40B4-BE49-F238E27FC236}">
                <a16:creationId xmlns:a16="http://schemas.microsoft.com/office/drawing/2014/main" id="{CFF6F7B7-835E-405F-B829-D6DDE4CB36F5}"/>
              </a:ext>
            </a:extLst>
          </p:cNvPr>
          <p:cNvSpPr>
            <a:spLocks xmlns:a="http://schemas.openxmlformats.org/drawingml/2006/main" noGrp="1"/>
          </p:cNvSpPr>
          <p:nvPr/>
        </p:nvSpPr>
        <p:spPr>
          <a:xfrm xmlns:a="http://schemas.openxmlformats.org/drawingml/2006/main">
            <a:off x="9124950" y="5572125"/>
            <a:ext cx="2143125" cy="4286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buNone/>
              <a:defRPr sz="1050" b="1">
                <a:solidFill>
                  <a:srgbClr val="FFFDF8"/>
                </a:solidFill>
                <a:latin typeface="Aptos"/>
                <a:ea typeface="Aptos"/>
                <a:cs typeface="Aptos"/>
              </a:defRPr>
            </a:pPr>
            <a:r>
              <a:rPr sz="1050" b="1">
                <a:solidFill>
                  <a:srgbClr val="FFFDF8"/>
                </a:solidFill>
                <a:latin typeface="Aptos"/>
                <a:ea typeface="Aptos"/>
                <a:cs typeface="Aptos"/>
              </a:rPr>
              <a:t>cycle, reliability &amp; cost</a:t>
            </a:r>
          </a:p>
        </p:txBody>
      </p:sp>
    </p:spTree>
    <p:extLst>
      <p:ext uri="{BB962C8B-B14F-4D97-AF65-F5344CB8AC3E}">
        <p14:creationId xmlns:p14="http://schemas.microsoft.com/office/powerpoint/2010/main" val="1208976586"/>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 name="background">
            <a:extLst xmlns:a="http://schemas.openxmlformats.org/drawingml/2006/main">
              <a:ext uri="{FF2B5EF4-FFF2-40B4-BE49-F238E27FC236}">
                <a16:creationId xmlns:a16="http://schemas.microsoft.com/office/drawing/2014/main" id="{71B390DB-793E-499B-B2C2-49626D6CABB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A"/>
          </a:solidFill>
          <a:ln xmlns:a="http://schemas.openxmlformats.org/drawingml/2006/main" w="0">
            <a:solidFill>
              <a:srgbClr val="000000">
                <a:alpha val="0"/>
              </a:srgbClr>
            </a:solidFill>
            <a:prstDash val="solid"/>
          </a:ln>
        </p:spPr>
      </p:sp>
      <p:sp>
        <p:nvSpPr>
          <p:cNvPr id="2" name="kicker-04-marker">
            <a:extLst xmlns:a="http://schemas.openxmlformats.org/drawingml/2006/main">
              <a:ext uri="{FF2B5EF4-FFF2-40B4-BE49-F238E27FC236}">
                <a16:creationId xmlns:a16="http://schemas.microsoft.com/office/drawing/2014/main" id="{C9D1E899-95F6-4F0E-A3E5-FB93FFADBC2D}"/>
              </a:ext>
            </a:extLst>
          </p:cNvPr>
          <p:cNvSpPr>
            <a:spLocks xmlns:a="http://schemas.openxmlformats.org/drawingml/2006/main" noGrp="1"/>
          </p:cNvSpPr>
          <p:nvPr/>
        </p:nvSpPr>
        <p:spPr>
          <a:xfrm xmlns:a="http://schemas.openxmlformats.org/drawingml/2006/main">
            <a:off x="381000" y="323850"/>
            <a:ext cx="76200" cy="76200"/>
          </a:xfrm>
          <a:prstGeom xmlns:a="http://schemas.openxmlformats.org/drawingml/2006/main" prst="ellipse">
            <a:avLst/>
          </a:prstGeom>
          <a:solidFill xmlns:a="http://schemas.openxmlformats.org/drawingml/2006/main">
            <a:srgbClr val="2F6B57"/>
          </a:solidFill>
          <a:ln xmlns:a="http://schemas.openxmlformats.org/drawingml/2006/main" w="0">
            <a:solidFill>
              <a:srgbClr val="000000">
                <a:alpha val="0"/>
              </a:srgbClr>
            </a:solidFill>
            <a:prstDash val="solid"/>
          </a:ln>
        </p:spPr>
      </p:sp>
      <p:sp>
        <p:nvSpPr>
          <p:cNvPr id="3" name="kicker-04-label">
            <a:extLst xmlns:a="http://schemas.openxmlformats.org/drawingml/2006/main">
              <a:ext uri="{FF2B5EF4-FFF2-40B4-BE49-F238E27FC236}">
                <a16:creationId xmlns:a16="http://schemas.microsoft.com/office/drawing/2014/main" id="{72B6E58E-5642-4D12-9182-80021FB432B8}"/>
              </a:ext>
            </a:extLst>
          </p:cNvPr>
          <p:cNvSpPr>
            <a:spLocks xmlns:a="http://schemas.openxmlformats.org/drawingml/2006/main" noGrp="1"/>
          </p:cNvSpPr>
          <p:nvPr/>
        </p:nvSpPr>
        <p:spPr>
          <a:xfrm xmlns:a="http://schemas.openxmlformats.org/drawingml/2006/main">
            <a:off x="533400" y="266700"/>
            <a:ext cx="4000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buNone/>
              <a:defRPr sz="975" b="1">
                <a:solidFill>
                  <a:srgbClr val="2F6B57"/>
                </a:solidFill>
                <a:latin typeface="Aptos"/>
                <a:ea typeface="Aptos"/>
                <a:cs typeface="Aptos"/>
              </a:defRPr>
            </a:pPr>
            <a:r>
              <a:rPr sz="975" b="1">
                <a:solidFill>
                  <a:srgbClr val="2F6B57"/>
                </a:solidFill>
                <a:latin typeface="Aptos"/>
                <a:ea typeface="Aptos"/>
                <a:cs typeface="Aptos"/>
              </a:rPr>
              <a:t>WEEK 06 FINDING</a:t>
            </a:r>
          </a:p>
        </p:txBody>
      </p:sp>
      <p:sp>
        <p:nvSpPr>
          <p:cNvPr id="4" name="claim-title">
            <a:extLst xmlns:a="http://schemas.openxmlformats.org/drawingml/2006/main">
              <a:ext uri="{FF2B5EF4-FFF2-40B4-BE49-F238E27FC236}">
                <a16:creationId xmlns:a16="http://schemas.microsoft.com/office/drawing/2014/main" id="{D70FB080-2C53-4345-99B3-3A41B144935B}"/>
              </a:ext>
            </a:extLst>
          </p:cNvPr>
          <p:cNvSpPr>
            <a:spLocks xmlns:a="http://schemas.openxmlformats.org/drawingml/2006/main" noGrp="1"/>
          </p:cNvSpPr>
          <p:nvPr/>
        </p:nvSpPr>
        <p:spPr>
          <a:xfrm xmlns:a="http://schemas.openxmlformats.org/drawingml/2006/main">
            <a:off x="381000" y="542925"/>
            <a:ext cx="11334750" cy="742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buNone/>
              <a:defRPr sz="2700" b="1">
                <a:solidFill>
                  <a:srgbClr val="172A3A"/>
                </a:solidFill>
                <a:latin typeface="Aptos Display"/>
                <a:ea typeface="Aptos Display"/>
                <a:cs typeface="Aptos Display"/>
              </a:defRPr>
            </a:pPr>
            <a:r>
              <a:rPr sz="2700" b="1">
                <a:solidFill>
                  <a:srgbClr val="172A3A"/>
                </a:solidFill>
                <a:latin typeface="Aptos Display"/>
                <a:ea typeface="Aptos Display"/>
                <a:cs typeface="Aptos Display"/>
              </a:rPr>
              <a:t>Production conditions and evidence strength change architecture suitability.</a:t>
            </a:r>
          </a:p>
        </p:txBody>
      </p:sp>
      <p:sp>
        <p:nvSpPr>
          <p:cNvPr id="5" name="title-rule">
            <a:extLst xmlns:a="http://schemas.openxmlformats.org/drawingml/2006/main">
              <a:ext uri="{FF2B5EF4-FFF2-40B4-BE49-F238E27FC236}">
                <a16:creationId xmlns:a16="http://schemas.microsoft.com/office/drawing/2014/main" id="{EA1300BC-5A90-4B22-B5E6-E77F0C30AB33}"/>
              </a:ext>
            </a:extLst>
          </p:cNvPr>
          <p:cNvSpPr>
            <a:spLocks xmlns:a="http://schemas.openxmlformats.org/drawingml/2006/main" noGrp="1"/>
          </p:cNvSpPr>
          <p:nvPr/>
        </p:nvSpPr>
        <p:spPr>
          <a:xfrm xmlns:a="http://schemas.openxmlformats.org/drawingml/2006/main">
            <a:off x="381000" y="1381125"/>
            <a:ext cx="11430000" cy="9525"/>
          </a:xfrm>
          <a:prstGeom xmlns:a="http://schemas.openxmlformats.org/drawingml/2006/main" prst="rect">
            <a:avLst/>
          </a:prstGeom>
          <a:solidFill xmlns:a="http://schemas.openxmlformats.org/drawingml/2006/main">
            <a:srgbClr val="D6D3CB"/>
          </a:solidFill>
          <a:ln xmlns:a="http://schemas.openxmlformats.org/drawingml/2006/main" w="0">
            <a:solidFill>
              <a:srgbClr val="000000">
                <a:alpha val="0"/>
              </a:srgbClr>
            </a:solidFill>
            <a:prstDash val="solid"/>
          </a:ln>
        </p:spPr>
      </p:sp>
      <p:sp>
        <p:nvSpPr>
          <p:cNvPr id="6" name="footer-rule">
            <a:extLst xmlns:a="http://schemas.openxmlformats.org/drawingml/2006/main">
              <a:ext uri="{FF2B5EF4-FFF2-40B4-BE49-F238E27FC236}">
                <a16:creationId xmlns:a16="http://schemas.microsoft.com/office/drawing/2014/main" id="{B847E7C4-3DDC-4CA6-8703-519343EAA99A}"/>
              </a:ext>
            </a:extLst>
          </p:cNvPr>
          <p:cNvSpPr>
            <a:spLocks xmlns:a="http://schemas.openxmlformats.org/drawingml/2006/main" noGrp="1"/>
          </p:cNvSpPr>
          <p:nvPr/>
        </p:nvSpPr>
        <p:spPr>
          <a:xfrm xmlns:a="http://schemas.openxmlformats.org/drawingml/2006/main">
            <a:off x="381000" y="6477000"/>
            <a:ext cx="11430000" cy="9525"/>
          </a:xfrm>
          <a:prstGeom xmlns:a="http://schemas.openxmlformats.org/drawingml/2006/main" prst="rect">
            <a:avLst/>
          </a:prstGeom>
          <a:solidFill xmlns:a="http://schemas.openxmlformats.org/drawingml/2006/main">
            <a:srgbClr val="D6D3CB"/>
          </a:solidFill>
          <a:ln xmlns:a="http://schemas.openxmlformats.org/drawingml/2006/main" w="0">
            <a:solidFill>
              <a:srgbClr val="000000">
                <a:alpha val="0"/>
              </a:srgbClr>
            </a:solidFill>
            <a:prstDash val="solid"/>
          </a:ln>
        </p:spPr>
      </p:sp>
      <p:sp>
        <p:nvSpPr>
          <p:cNvPr id="7" name="source-footer">
            <a:extLst xmlns:a="http://schemas.openxmlformats.org/drawingml/2006/main">
              <a:ext uri="{FF2B5EF4-FFF2-40B4-BE49-F238E27FC236}">
                <a16:creationId xmlns:a16="http://schemas.microsoft.com/office/drawing/2014/main" id="{B5967650-8E43-4546-A4FD-40AFF379EAC7}"/>
              </a:ext>
            </a:extLst>
          </p:cNvPr>
          <p:cNvSpPr>
            <a:spLocks xmlns:a="http://schemas.openxmlformats.org/drawingml/2006/main" noGrp="1"/>
          </p:cNvSpPr>
          <p:nvPr/>
        </p:nvSpPr>
        <p:spPr>
          <a:xfrm xmlns:a="http://schemas.openxmlformats.org/drawingml/2006/main">
            <a:off x="381000" y="6543675"/>
            <a:ext cx="1019175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buNone/>
              <a:defRPr sz="675" b="0">
                <a:solidFill>
                  <a:srgbClr val="63717B"/>
                </a:solidFill>
                <a:latin typeface="Aptos"/>
                <a:ea typeface="Aptos"/>
                <a:cs typeface="Aptos"/>
              </a:defRPr>
            </a:pPr>
            <a:r>
              <a:rPr sz="675" b="0">
                <a:solidFill>
                  <a:srgbClr val="63717B"/>
                </a:solidFill>
                <a:latin typeface="Aptos"/>
                <a:ea typeface="Aptos"/>
                <a:cs typeface="Aptos"/>
              </a:rPr>
              <a:t>Sources: Week 06 Day 4–5 architecture audit. Scenarios are illustrative, not descriptions of the CATL line.</a:t>
            </a:r>
          </a:p>
        </p:txBody>
      </p:sp>
      <p:sp>
        <p:nvSpPr>
          <p:cNvPr id="8" name="page-marker">
            <a:extLst xmlns:a="http://schemas.openxmlformats.org/drawingml/2006/main">
              <a:ext uri="{FF2B5EF4-FFF2-40B4-BE49-F238E27FC236}">
                <a16:creationId xmlns:a16="http://schemas.microsoft.com/office/drawing/2014/main" id="{03FE2363-B984-4349-A76D-EA1FFA36B6A8}"/>
              </a:ext>
            </a:extLst>
          </p:cNvPr>
          <p:cNvSpPr>
            <a:spLocks xmlns:a="http://schemas.openxmlformats.org/drawingml/2006/main" noGrp="1"/>
          </p:cNvSpPr>
          <p:nvPr/>
        </p:nvSpPr>
        <p:spPr>
          <a:xfrm xmlns:a="http://schemas.openxmlformats.org/drawingml/2006/main">
            <a:off x="11191875" y="6524625"/>
            <a:ext cx="619125"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r">
              <a:buNone/>
              <a:defRPr sz="750" b="1">
                <a:solidFill>
                  <a:srgbClr val="2F6B57"/>
                </a:solidFill>
                <a:latin typeface="Aptos"/>
                <a:ea typeface="Aptos"/>
                <a:cs typeface="Aptos"/>
              </a:defRPr>
            </a:pPr>
            <a:r>
              <a:rPr sz="750" b="1">
                <a:solidFill>
                  <a:srgbClr val="2F6B57"/>
                </a:solidFill>
                <a:latin typeface="Aptos"/>
                <a:ea typeface="Aptos"/>
                <a:cs typeface="Aptos"/>
              </a:rPr>
              <a:t>04</a:t>
            </a:r>
          </a:p>
        </p:txBody>
      </p:sp>
      <p:sp>
        <p:nvSpPr>
          <p:cNvPr id="9" name="scenario-1">
            <a:extLst xmlns:a="http://schemas.openxmlformats.org/drawingml/2006/main">
              <a:ext uri="{FF2B5EF4-FFF2-40B4-BE49-F238E27FC236}">
                <a16:creationId xmlns:a16="http://schemas.microsoft.com/office/drawing/2014/main" id="{6D16A530-9AED-45D8-80B3-94F241AD5381}"/>
              </a:ext>
            </a:extLst>
          </p:cNvPr>
          <p:cNvSpPr>
            <a:spLocks xmlns:a="http://schemas.openxmlformats.org/drawingml/2006/main" noGrp="1"/>
          </p:cNvSpPr>
          <p:nvPr/>
        </p:nvSpPr>
        <p:spPr>
          <a:xfrm xmlns:a="http://schemas.openxmlformats.org/drawingml/2006/main">
            <a:off x="381000" y="1809750"/>
            <a:ext cx="3524250" cy="2952750"/>
          </a:xfrm>
          <a:prstGeom xmlns:a="http://schemas.openxmlformats.org/drawingml/2006/main" prst="rect">
            <a:avLst/>
          </a:prstGeom>
          <a:solidFill xmlns:a="http://schemas.openxmlformats.org/drawingml/2006/main">
            <a:srgbClr val="E4EEE8"/>
          </a:solidFill>
          <a:ln xmlns:a="http://schemas.openxmlformats.org/drawingml/2006/main" w="9525">
            <a:solidFill>
              <a:srgbClr val="D6D5CE"/>
            </a:solidFill>
            <a:prstDash val="solid"/>
          </a:ln>
        </p:spPr>
      </p:sp>
      <p:sp>
        <p:nvSpPr>
          <p:cNvPr id="10" name="">
            <a:extLst xmlns:a="http://schemas.openxmlformats.org/drawingml/2006/main">
              <a:ext uri="{FF2B5EF4-FFF2-40B4-BE49-F238E27FC236}">
                <a16:creationId xmlns:a16="http://schemas.microsoft.com/office/drawing/2014/main" id="{6A5882FE-96EA-4531-AC99-21D978FF39CF}"/>
              </a:ext>
            </a:extLst>
          </p:cNvPr>
          <p:cNvSpPr>
            <a:spLocks xmlns:a="http://schemas.openxmlformats.org/drawingml/2006/main" noGrp="1"/>
          </p:cNvSpPr>
          <p:nvPr/>
        </p:nvSpPr>
        <p:spPr>
          <a:xfrm xmlns:a="http://schemas.openxmlformats.org/drawingml/2006/main">
            <a:off x="381000" y="1809750"/>
            <a:ext cx="3524250" cy="57150"/>
          </a:xfrm>
          <a:prstGeom xmlns:a="http://schemas.openxmlformats.org/drawingml/2006/main" prst="rect">
            <a:avLst/>
          </a:prstGeom>
          <a:solidFill xmlns:a="http://schemas.openxmlformats.org/drawingml/2006/main">
            <a:srgbClr val="2F6B57"/>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A02B9849-AF47-4014-8742-4A87C7AC9205}"/>
              </a:ext>
            </a:extLst>
          </p:cNvPr>
          <p:cNvSpPr>
            <a:spLocks xmlns:a="http://schemas.openxmlformats.org/drawingml/2006/main" noGrp="1"/>
          </p:cNvSpPr>
          <p:nvPr/>
        </p:nvSpPr>
        <p:spPr>
          <a:xfrm xmlns:a="http://schemas.openxmlformats.org/drawingml/2006/main">
            <a:off x="552450" y="2009775"/>
            <a:ext cx="318135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buNone/>
              <a:defRPr sz="900" b="1">
                <a:solidFill>
                  <a:srgbClr val="2F6B57"/>
                </a:solidFill>
                <a:latin typeface="Aptos"/>
                <a:ea typeface="Aptos"/>
                <a:cs typeface="Aptos"/>
              </a:defRPr>
            </a:pPr>
            <a:r>
              <a:rPr sz="900" b="1">
                <a:solidFill>
                  <a:srgbClr val="2F6B57"/>
                </a:solidFill>
                <a:latin typeface="Aptos"/>
                <a:ea typeface="Aptos"/>
                <a:cs typeface="Aptos"/>
              </a:rPr>
              <a:t>LOW VARIETY · HIGH VOLUME</a:t>
            </a:r>
          </a:p>
        </p:txBody>
      </p:sp>
      <p:sp>
        <p:nvSpPr>
          <p:cNvPr id="12" name="">
            <a:extLst xmlns:a="http://schemas.openxmlformats.org/drawingml/2006/main">
              <a:ext uri="{FF2B5EF4-FFF2-40B4-BE49-F238E27FC236}">
                <a16:creationId xmlns:a16="http://schemas.microsoft.com/office/drawing/2014/main" id="{66619924-1F7F-41AD-A1A1-8D66372418D8}"/>
              </a:ext>
            </a:extLst>
          </p:cNvPr>
          <p:cNvSpPr>
            <a:spLocks xmlns:a="http://schemas.openxmlformats.org/drawingml/2006/main" noGrp="1"/>
          </p:cNvSpPr>
          <p:nvPr/>
        </p:nvSpPr>
        <p:spPr>
          <a:xfrm xmlns:a="http://schemas.openxmlformats.org/drawingml/2006/main">
            <a:off x="590550" y="2514600"/>
            <a:ext cx="3105150" cy="609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buNone/>
              <a:defRPr sz="1575" b="1">
                <a:solidFill>
                  <a:srgbClr val="172A3A"/>
                </a:solidFill>
                <a:latin typeface="Aptos Display"/>
                <a:ea typeface="Aptos Display"/>
                <a:cs typeface="Aptos Display"/>
              </a:defRPr>
            </a:pPr>
            <a:r>
              <a:rPr sz="1575" b="1">
                <a:solidFill>
                  <a:srgbClr val="172A3A"/>
                </a:solidFill>
                <a:latin typeface="Aptos Display"/>
                <a:ea typeface="Aptos Display"/>
                <a:cs typeface="Aptos Display"/>
              </a:rPr>
              <a:t>Prioritise dedicated automation</a:t>
            </a:r>
          </a:p>
        </p:txBody>
      </p:sp>
      <p:sp>
        <p:nvSpPr>
          <p:cNvPr id="13" name="">
            <a:extLst xmlns:a="http://schemas.openxmlformats.org/drawingml/2006/main">
              <a:ext uri="{FF2B5EF4-FFF2-40B4-BE49-F238E27FC236}">
                <a16:creationId xmlns:a16="http://schemas.microsoft.com/office/drawing/2014/main" id="{AFFD2181-2E20-4E0A-AB65-4105A5303FE4}"/>
              </a:ext>
            </a:extLst>
          </p:cNvPr>
          <p:cNvSpPr>
            <a:spLocks xmlns:a="http://schemas.openxmlformats.org/drawingml/2006/main" noGrp="1"/>
          </p:cNvSpPr>
          <p:nvPr/>
        </p:nvSpPr>
        <p:spPr>
          <a:xfrm xmlns:a="http://schemas.openxmlformats.org/drawingml/2006/main">
            <a:off x="809625" y="3267075"/>
            <a:ext cx="2667000" cy="9525"/>
          </a:xfrm>
          <a:prstGeom xmlns:a="http://schemas.openxmlformats.org/drawingml/2006/main" prst="rect">
            <a:avLst/>
          </a:prstGeom>
          <a:solidFill xmlns:a="http://schemas.openxmlformats.org/drawingml/2006/main">
            <a:srgbClr val="C9C8C2"/>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77501728-80F8-4B6D-B201-843F9138180B}"/>
              </a:ext>
            </a:extLst>
          </p:cNvPr>
          <p:cNvSpPr>
            <a:spLocks xmlns:a="http://schemas.openxmlformats.org/drawingml/2006/main" noGrp="1"/>
          </p:cNvSpPr>
          <p:nvPr/>
        </p:nvSpPr>
        <p:spPr>
          <a:xfrm xmlns:a="http://schemas.openxmlformats.org/drawingml/2006/main">
            <a:off x="609600" y="3448050"/>
            <a:ext cx="3067050" cy="7905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buNone/>
              <a:defRPr sz="1125" b="0">
                <a:solidFill>
                  <a:srgbClr val="172A3A"/>
                </a:solidFill>
                <a:latin typeface="Aptos"/>
                <a:ea typeface="Aptos"/>
                <a:cs typeface="Aptos"/>
              </a:defRPr>
            </a:pPr>
            <a:r>
              <a:rPr sz="1125" b="0">
                <a:solidFill>
                  <a:srgbClr val="172A3A"/>
                </a:solidFill>
                <a:latin typeface="Aptos"/>
                <a:ea typeface="Aptos"/>
                <a:cs typeface="Aptos"/>
              </a:rPr>
              <a:t>Fixtures and mechanical guidance can absorb part of the handling complexity at one stable interface.</a:t>
            </a:r>
          </a:p>
        </p:txBody>
      </p:sp>
      <p:sp>
        <p:nvSpPr>
          <p:cNvPr id="15" name="pill-SUPPORTED BY EQUIPMENT BASELINES">
            <a:extLst xmlns:a="http://schemas.openxmlformats.org/drawingml/2006/main">
              <a:ext uri="{FF2B5EF4-FFF2-40B4-BE49-F238E27FC236}">
                <a16:creationId xmlns:a16="http://schemas.microsoft.com/office/drawing/2014/main" id="{6CFD715A-BB59-4801-8FDF-9459840B94A4}"/>
              </a:ext>
            </a:extLst>
          </p:cNvPr>
          <p:cNvSpPr>
            <a:spLocks xmlns:a="http://schemas.openxmlformats.org/drawingml/2006/main" noGrp="1"/>
          </p:cNvSpPr>
          <p:nvPr/>
        </p:nvSpPr>
        <p:spPr>
          <a:xfrm xmlns:a="http://schemas.openxmlformats.org/drawingml/2006/main">
            <a:off x="904875" y="4381500"/>
            <a:ext cx="2476500" cy="238125"/>
          </a:xfrm>
          <a:prstGeom xmlns:a="http://schemas.openxmlformats.org/drawingml/2006/main" prst="rect">
            <a:avLst/>
          </a:prstGeom>
          <a:solidFill xmlns:a="http://schemas.openxmlformats.org/drawingml/2006/main">
            <a:srgbClr val="2F6B57"/>
          </a:solidFill>
          <a:ln xmlns:a="http://schemas.openxmlformats.org/drawingml/2006/main" w="0">
            <a:solidFill>
              <a:srgbClr val="2F6B57"/>
            </a:solidFill>
            <a:prstDash val="solid"/>
          </a:ln>
        </p:spPr>
      </p:sp>
      <p:sp>
        <p:nvSpPr>
          <p:cNvPr id="16" name="">
            <a:extLst xmlns:a="http://schemas.openxmlformats.org/drawingml/2006/main">
              <a:ext uri="{FF2B5EF4-FFF2-40B4-BE49-F238E27FC236}">
                <a16:creationId xmlns:a16="http://schemas.microsoft.com/office/drawing/2014/main" id="{BE2ABEB9-E35A-4030-9800-39D47D8DA8B0}"/>
              </a:ext>
            </a:extLst>
          </p:cNvPr>
          <p:cNvSpPr>
            <a:spLocks xmlns:a="http://schemas.openxmlformats.org/drawingml/2006/main" noGrp="1"/>
          </p:cNvSpPr>
          <p:nvPr/>
        </p:nvSpPr>
        <p:spPr>
          <a:xfrm xmlns:a="http://schemas.openxmlformats.org/drawingml/2006/main">
            <a:off x="971550" y="4400550"/>
            <a:ext cx="2343150" cy="2000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buNone/>
              <a:defRPr sz="825" b="1">
                <a:solidFill>
                  <a:srgbClr val="FFFDF8"/>
                </a:solidFill>
                <a:latin typeface="Aptos"/>
                <a:ea typeface="Aptos"/>
                <a:cs typeface="Aptos"/>
              </a:defRPr>
            </a:pPr>
            <a:r>
              <a:rPr sz="825" b="1">
                <a:solidFill>
                  <a:srgbClr val="FFFDF8"/>
                </a:solidFill>
                <a:latin typeface="Aptos"/>
                <a:ea typeface="Aptos"/>
                <a:cs typeface="Aptos"/>
              </a:rPr>
              <a:t>SUPPORTED BY EQUIPMENT BASELINES</a:t>
            </a:r>
          </a:p>
        </p:txBody>
      </p:sp>
      <p:sp>
        <p:nvSpPr>
          <p:cNvPr id="17" name="scenario-2">
            <a:extLst xmlns:a="http://schemas.openxmlformats.org/drawingml/2006/main">
              <a:ext uri="{FF2B5EF4-FFF2-40B4-BE49-F238E27FC236}">
                <a16:creationId xmlns:a16="http://schemas.microsoft.com/office/drawing/2014/main" id="{905C5636-E1BC-4955-8763-611622A8467C}"/>
              </a:ext>
            </a:extLst>
          </p:cNvPr>
          <p:cNvSpPr>
            <a:spLocks xmlns:a="http://schemas.openxmlformats.org/drawingml/2006/main" noGrp="1"/>
          </p:cNvSpPr>
          <p:nvPr/>
        </p:nvSpPr>
        <p:spPr>
          <a:xfrm xmlns:a="http://schemas.openxmlformats.org/drawingml/2006/main">
            <a:off x="4333875" y="1809750"/>
            <a:ext cx="3524250" cy="2952750"/>
          </a:xfrm>
          <a:prstGeom xmlns:a="http://schemas.openxmlformats.org/drawingml/2006/main" prst="rect">
            <a:avLst/>
          </a:prstGeom>
          <a:solidFill xmlns:a="http://schemas.openxmlformats.org/drawingml/2006/main">
            <a:srgbClr val="F5E5D8"/>
          </a:solidFill>
          <a:ln xmlns:a="http://schemas.openxmlformats.org/drawingml/2006/main" w="9525">
            <a:solidFill>
              <a:srgbClr val="D6D5CE"/>
            </a:solidFill>
            <a:prstDash val="solid"/>
          </a:ln>
        </p:spPr>
      </p:sp>
      <p:sp>
        <p:nvSpPr>
          <p:cNvPr id="18" name="">
            <a:extLst xmlns:a="http://schemas.openxmlformats.org/drawingml/2006/main">
              <a:ext uri="{FF2B5EF4-FFF2-40B4-BE49-F238E27FC236}">
                <a16:creationId xmlns:a16="http://schemas.microsoft.com/office/drawing/2014/main" id="{441345A9-937B-4B4A-A74F-C5F3308271C5}"/>
              </a:ext>
            </a:extLst>
          </p:cNvPr>
          <p:cNvSpPr>
            <a:spLocks xmlns:a="http://schemas.openxmlformats.org/drawingml/2006/main" noGrp="1"/>
          </p:cNvSpPr>
          <p:nvPr/>
        </p:nvSpPr>
        <p:spPr>
          <a:xfrm xmlns:a="http://schemas.openxmlformats.org/drawingml/2006/main">
            <a:off x="4333875" y="1809750"/>
            <a:ext cx="3524250" cy="57150"/>
          </a:xfrm>
          <a:prstGeom xmlns:a="http://schemas.openxmlformats.org/drawingml/2006/main" prst="rect">
            <a:avLst/>
          </a:prstGeom>
          <a:solidFill xmlns:a="http://schemas.openxmlformats.org/drawingml/2006/main">
            <a:srgbClr val="D97941"/>
          </a:solidFill>
          <a:ln xmlns:a="http://schemas.openxmlformats.org/drawingml/2006/main" w="0">
            <a:solidFill>
              <a:srgbClr val="000000">
                <a:alpha val="0"/>
              </a:srgbClr>
            </a:solidFill>
            <a:prstDash val="solid"/>
          </a:ln>
        </p:spPr>
      </p:sp>
      <p:sp>
        <p:nvSpPr>
          <p:cNvPr id="19" name="">
            <a:extLst xmlns:a="http://schemas.openxmlformats.org/drawingml/2006/main">
              <a:ext uri="{FF2B5EF4-FFF2-40B4-BE49-F238E27FC236}">
                <a16:creationId xmlns:a16="http://schemas.microsoft.com/office/drawing/2014/main" id="{3ABEE8F7-D516-4E9D-90AA-A322D948164F}"/>
              </a:ext>
            </a:extLst>
          </p:cNvPr>
          <p:cNvSpPr>
            <a:spLocks xmlns:a="http://schemas.openxmlformats.org/drawingml/2006/main" noGrp="1"/>
          </p:cNvSpPr>
          <p:nvPr/>
        </p:nvSpPr>
        <p:spPr>
          <a:xfrm xmlns:a="http://schemas.openxmlformats.org/drawingml/2006/main">
            <a:off x="4505325" y="2009775"/>
            <a:ext cx="318135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buNone/>
              <a:defRPr sz="900" b="1">
                <a:solidFill>
                  <a:srgbClr val="D97941"/>
                </a:solidFill>
                <a:latin typeface="Aptos"/>
                <a:ea typeface="Aptos"/>
                <a:cs typeface="Aptos"/>
              </a:defRPr>
            </a:pPr>
            <a:r>
              <a:rPr sz="900" b="1">
                <a:solidFill>
                  <a:srgbClr val="D97941"/>
                </a:solidFill>
                <a:latin typeface="Aptos"/>
                <a:ea typeface="Aptos"/>
                <a:cs typeface="Aptos"/>
              </a:rPr>
              <a:t>MODERATE VARIATION · FIXED STATION</a:t>
            </a:r>
          </a:p>
        </p:txBody>
      </p:sp>
      <p:sp>
        <p:nvSpPr>
          <p:cNvPr id="20" name="">
            <a:extLst xmlns:a="http://schemas.openxmlformats.org/drawingml/2006/main">
              <a:ext uri="{FF2B5EF4-FFF2-40B4-BE49-F238E27FC236}">
                <a16:creationId xmlns:a16="http://schemas.microsoft.com/office/drawing/2014/main" id="{C4C67411-06F9-4297-BA36-EBE4D0A513D2}"/>
              </a:ext>
            </a:extLst>
          </p:cNvPr>
          <p:cNvSpPr>
            <a:spLocks xmlns:a="http://schemas.openxmlformats.org/drawingml/2006/main" noGrp="1"/>
          </p:cNvSpPr>
          <p:nvPr/>
        </p:nvSpPr>
        <p:spPr>
          <a:xfrm xmlns:a="http://schemas.openxmlformats.org/drawingml/2006/main">
            <a:off x="4543425" y="2514600"/>
            <a:ext cx="3105150" cy="609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buNone/>
              <a:defRPr sz="1575" b="1">
                <a:solidFill>
                  <a:srgbClr val="172A3A"/>
                </a:solidFill>
                <a:latin typeface="Aptos Display"/>
                <a:ea typeface="Aptos Display"/>
                <a:cs typeface="Aptos Display"/>
              </a:defRPr>
            </a:pPr>
            <a:r>
              <a:rPr sz="1575" b="1">
                <a:solidFill>
                  <a:srgbClr val="172A3A"/>
                </a:solidFill>
                <a:latin typeface="Aptos Display"/>
                <a:ea typeface="Aptos Display"/>
                <a:cs typeface="Aptos Display"/>
              </a:rPr>
              <a:t>Prioritise a fixed industrial robot</a:t>
            </a:r>
          </a:p>
        </p:txBody>
      </p:sp>
      <p:sp>
        <p:nvSpPr>
          <p:cNvPr id="21" name="">
            <a:extLst xmlns:a="http://schemas.openxmlformats.org/drawingml/2006/main">
              <a:ext uri="{FF2B5EF4-FFF2-40B4-BE49-F238E27FC236}">
                <a16:creationId xmlns:a16="http://schemas.microsoft.com/office/drawing/2014/main" id="{76697096-7935-40B1-8DA8-1AEBAD8A695B}"/>
              </a:ext>
            </a:extLst>
          </p:cNvPr>
          <p:cNvSpPr>
            <a:spLocks xmlns:a="http://schemas.openxmlformats.org/drawingml/2006/main" noGrp="1"/>
          </p:cNvSpPr>
          <p:nvPr/>
        </p:nvSpPr>
        <p:spPr>
          <a:xfrm xmlns:a="http://schemas.openxmlformats.org/drawingml/2006/main">
            <a:off x="4762500" y="3267075"/>
            <a:ext cx="2667000" cy="9525"/>
          </a:xfrm>
          <a:prstGeom xmlns:a="http://schemas.openxmlformats.org/drawingml/2006/main" prst="rect">
            <a:avLst/>
          </a:prstGeom>
          <a:solidFill xmlns:a="http://schemas.openxmlformats.org/drawingml/2006/main">
            <a:srgbClr val="C9C8C2"/>
          </a:solidFill>
          <a:ln xmlns:a="http://schemas.openxmlformats.org/drawingml/2006/main" w="0">
            <a:solidFill>
              <a:srgbClr val="000000">
                <a:alpha val="0"/>
              </a:srgbClr>
            </a:solidFill>
            <a:prstDash val="solid"/>
          </a:ln>
        </p:spPr>
      </p:sp>
      <p:sp>
        <p:nvSpPr>
          <p:cNvPr id="22" name="">
            <a:extLst xmlns:a="http://schemas.openxmlformats.org/drawingml/2006/main">
              <a:ext uri="{FF2B5EF4-FFF2-40B4-BE49-F238E27FC236}">
                <a16:creationId xmlns:a16="http://schemas.microsoft.com/office/drawing/2014/main" id="{A955C2CB-C495-45AF-AD5A-A8EDE0B3FD72}"/>
              </a:ext>
            </a:extLst>
          </p:cNvPr>
          <p:cNvSpPr>
            <a:spLocks xmlns:a="http://schemas.openxmlformats.org/drawingml/2006/main" noGrp="1"/>
          </p:cNvSpPr>
          <p:nvPr/>
        </p:nvSpPr>
        <p:spPr>
          <a:xfrm xmlns:a="http://schemas.openxmlformats.org/drawingml/2006/main">
            <a:off x="4562475" y="3448050"/>
            <a:ext cx="3067050" cy="7905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buNone/>
              <a:defRPr sz="1125" b="0">
                <a:solidFill>
                  <a:srgbClr val="172A3A"/>
                </a:solidFill>
                <a:latin typeface="Aptos"/>
                <a:ea typeface="Aptos"/>
                <a:cs typeface="Aptos"/>
              </a:defRPr>
            </a:pPr>
            <a:r>
              <a:rPr sz="1125" b="0">
                <a:solidFill>
                  <a:srgbClr val="172A3A"/>
                </a:solidFill>
                <a:latin typeface="Aptos"/>
                <a:ea typeface="Aptos"/>
                <a:cs typeface="Aptos"/>
              </a:rPr>
              <a:t>Vision, force control and programmable motion address R1/R2/R5; changeover remains manageable.</a:t>
            </a:r>
          </a:p>
        </p:txBody>
      </p:sp>
      <p:sp>
        <p:nvSpPr>
          <p:cNvPr id="23" name="pill-STRONGEST ROBOTICS BASELINE">
            <a:extLst xmlns:a="http://schemas.openxmlformats.org/drawingml/2006/main">
              <a:ext uri="{FF2B5EF4-FFF2-40B4-BE49-F238E27FC236}">
                <a16:creationId xmlns:a16="http://schemas.microsoft.com/office/drawing/2014/main" id="{120461F3-EF15-4304-A902-F8017B3562AD}"/>
              </a:ext>
            </a:extLst>
          </p:cNvPr>
          <p:cNvSpPr>
            <a:spLocks xmlns:a="http://schemas.openxmlformats.org/drawingml/2006/main" noGrp="1"/>
          </p:cNvSpPr>
          <p:nvPr/>
        </p:nvSpPr>
        <p:spPr>
          <a:xfrm xmlns:a="http://schemas.openxmlformats.org/drawingml/2006/main">
            <a:off x="4857750" y="4381500"/>
            <a:ext cx="2476500" cy="238125"/>
          </a:xfrm>
          <a:prstGeom xmlns:a="http://schemas.openxmlformats.org/drawingml/2006/main" prst="rect">
            <a:avLst/>
          </a:prstGeom>
          <a:solidFill xmlns:a="http://schemas.openxmlformats.org/drawingml/2006/main">
            <a:srgbClr val="D97941"/>
          </a:solidFill>
          <a:ln xmlns:a="http://schemas.openxmlformats.org/drawingml/2006/main" w="0">
            <a:solidFill>
              <a:srgbClr val="D97941"/>
            </a:solidFill>
            <a:prstDash val="solid"/>
          </a:ln>
        </p:spPr>
      </p:sp>
      <p:sp>
        <p:nvSpPr>
          <p:cNvPr id="24" name="">
            <a:extLst xmlns:a="http://schemas.openxmlformats.org/drawingml/2006/main">
              <a:ext uri="{FF2B5EF4-FFF2-40B4-BE49-F238E27FC236}">
                <a16:creationId xmlns:a16="http://schemas.microsoft.com/office/drawing/2014/main" id="{C53D1812-F1C1-4AB5-9E05-EEA1BEACE03F}"/>
              </a:ext>
            </a:extLst>
          </p:cNvPr>
          <p:cNvSpPr>
            <a:spLocks xmlns:a="http://schemas.openxmlformats.org/drawingml/2006/main" noGrp="1"/>
          </p:cNvSpPr>
          <p:nvPr/>
        </p:nvSpPr>
        <p:spPr>
          <a:xfrm xmlns:a="http://schemas.openxmlformats.org/drawingml/2006/main">
            <a:off x="4924425" y="4400550"/>
            <a:ext cx="2343150" cy="2000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buNone/>
              <a:defRPr sz="825" b="1">
                <a:solidFill>
                  <a:srgbClr val="FFFDF8"/>
                </a:solidFill>
                <a:latin typeface="Aptos"/>
                <a:ea typeface="Aptos"/>
                <a:cs typeface="Aptos"/>
              </a:defRPr>
            </a:pPr>
            <a:r>
              <a:rPr sz="825" b="1">
                <a:solidFill>
                  <a:srgbClr val="FFFDF8"/>
                </a:solidFill>
                <a:latin typeface="Aptos"/>
                <a:ea typeface="Aptos"/>
                <a:cs typeface="Aptos"/>
              </a:rPr>
              <a:t>STRONGEST ROBOTICS BASELINE</a:t>
            </a:r>
          </a:p>
        </p:txBody>
      </p:sp>
      <p:sp>
        <p:nvSpPr>
          <p:cNvPr id="25" name="scenario-3">
            <a:extLst xmlns:a="http://schemas.openxmlformats.org/drawingml/2006/main">
              <a:ext uri="{FF2B5EF4-FFF2-40B4-BE49-F238E27FC236}">
                <a16:creationId xmlns:a16="http://schemas.microsoft.com/office/drawing/2014/main" id="{3A8424DA-8FD0-4BE1-9480-8E1EA634ABCC}"/>
              </a:ext>
            </a:extLst>
          </p:cNvPr>
          <p:cNvSpPr>
            <a:spLocks xmlns:a="http://schemas.openxmlformats.org/drawingml/2006/main" noGrp="1"/>
          </p:cNvSpPr>
          <p:nvPr/>
        </p:nvSpPr>
        <p:spPr>
          <a:xfrm xmlns:a="http://schemas.openxmlformats.org/drawingml/2006/main">
            <a:off x="8286750" y="1809750"/>
            <a:ext cx="3524250" cy="2952750"/>
          </a:xfrm>
          <a:prstGeom xmlns:a="http://schemas.openxmlformats.org/drawingml/2006/main" prst="rect">
            <a:avLst/>
          </a:prstGeom>
          <a:solidFill xmlns:a="http://schemas.openxmlformats.org/drawingml/2006/main">
            <a:srgbClr val="E4EBF0"/>
          </a:solidFill>
          <a:ln xmlns:a="http://schemas.openxmlformats.org/drawingml/2006/main" w="9525">
            <a:solidFill>
              <a:srgbClr val="D6D5CE"/>
            </a:solidFill>
            <a:prstDash val="solid"/>
          </a:ln>
        </p:spPr>
      </p:sp>
      <p:sp>
        <p:nvSpPr>
          <p:cNvPr id="26" name="">
            <a:extLst xmlns:a="http://schemas.openxmlformats.org/drawingml/2006/main">
              <a:ext uri="{FF2B5EF4-FFF2-40B4-BE49-F238E27FC236}">
                <a16:creationId xmlns:a16="http://schemas.microsoft.com/office/drawing/2014/main" id="{0081709B-32CE-44CE-9B44-21C59F396F2D}"/>
              </a:ext>
            </a:extLst>
          </p:cNvPr>
          <p:cNvSpPr>
            <a:spLocks xmlns:a="http://schemas.openxmlformats.org/drawingml/2006/main" noGrp="1"/>
          </p:cNvSpPr>
          <p:nvPr/>
        </p:nvSpPr>
        <p:spPr>
          <a:xfrm xmlns:a="http://schemas.openxmlformats.org/drawingml/2006/main">
            <a:off x="8286750" y="1809750"/>
            <a:ext cx="3524250" cy="57150"/>
          </a:xfrm>
          <a:prstGeom xmlns:a="http://schemas.openxmlformats.org/drawingml/2006/main" prst="rect">
            <a:avLst/>
          </a:prstGeom>
          <a:solidFill xmlns:a="http://schemas.openxmlformats.org/drawingml/2006/main">
            <a:srgbClr val="4E7897"/>
          </a:solidFill>
          <a:ln xmlns:a="http://schemas.openxmlformats.org/drawingml/2006/main" w="0">
            <a:solidFill>
              <a:srgbClr val="000000">
                <a:alpha val="0"/>
              </a:srgbClr>
            </a:solidFill>
            <a:prstDash val="solid"/>
          </a:ln>
        </p:spPr>
      </p:sp>
      <p:sp>
        <p:nvSpPr>
          <p:cNvPr id="27" name="">
            <a:extLst xmlns:a="http://schemas.openxmlformats.org/drawingml/2006/main">
              <a:ext uri="{FF2B5EF4-FFF2-40B4-BE49-F238E27FC236}">
                <a16:creationId xmlns:a16="http://schemas.microsoft.com/office/drawing/2014/main" id="{58AF471B-3449-4F0C-848C-50366B5C9A00}"/>
              </a:ext>
            </a:extLst>
          </p:cNvPr>
          <p:cNvSpPr>
            <a:spLocks xmlns:a="http://schemas.openxmlformats.org/drawingml/2006/main" noGrp="1"/>
          </p:cNvSpPr>
          <p:nvPr/>
        </p:nvSpPr>
        <p:spPr>
          <a:xfrm xmlns:a="http://schemas.openxmlformats.org/drawingml/2006/main">
            <a:off x="8458200" y="2009775"/>
            <a:ext cx="318135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buNone/>
              <a:defRPr sz="900" b="1">
                <a:solidFill>
                  <a:srgbClr val="4E7897"/>
                </a:solidFill>
                <a:latin typeface="Aptos"/>
                <a:ea typeface="Aptos"/>
                <a:cs typeface="Aptos"/>
              </a:defRPr>
            </a:pPr>
            <a:r>
              <a:rPr sz="900" b="1">
                <a:solidFill>
                  <a:srgbClr val="4E7897"/>
                </a:solidFill>
                <a:latin typeface="Aptos"/>
                <a:ea typeface="Aptos"/>
                <a:cs typeface="Aptos"/>
              </a:rPr>
              <a:t>HIGH VARIATION · MULTI-STATION · BROWNFIELD</a:t>
            </a:r>
          </a:p>
        </p:txBody>
      </p:sp>
      <p:sp>
        <p:nvSpPr>
          <p:cNvPr id="28" name="">
            <a:extLst xmlns:a="http://schemas.openxmlformats.org/drawingml/2006/main">
              <a:ext uri="{FF2B5EF4-FFF2-40B4-BE49-F238E27FC236}">
                <a16:creationId xmlns:a16="http://schemas.microsoft.com/office/drawing/2014/main" id="{3AFFE4B6-D3EC-4177-9645-201CE9E47922}"/>
              </a:ext>
            </a:extLst>
          </p:cNvPr>
          <p:cNvSpPr>
            <a:spLocks xmlns:a="http://schemas.openxmlformats.org/drawingml/2006/main" noGrp="1"/>
          </p:cNvSpPr>
          <p:nvPr/>
        </p:nvSpPr>
        <p:spPr>
          <a:xfrm xmlns:a="http://schemas.openxmlformats.org/drawingml/2006/main">
            <a:off x="8496300" y="2514600"/>
            <a:ext cx="3105150" cy="609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buNone/>
              <a:defRPr sz="1575" b="1">
                <a:solidFill>
                  <a:srgbClr val="172A3A"/>
                </a:solidFill>
                <a:latin typeface="Aptos Display"/>
                <a:ea typeface="Aptos Display"/>
                <a:cs typeface="Aptos Display"/>
              </a:defRPr>
            </a:pPr>
            <a:r>
              <a:rPr sz="1575" b="1">
                <a:solidFill>
                  <a:srgbClr val="172A3A"/>
                </a:solidFill>
                <a:latin typeface="Aptos Display"/>
                <a:ea typeface="Aptos Display"/>
                <a:cs typeface="Aptos Display"/>
              </a:rPr>
              <a:t>Evaluate mobile dual-arm / humanoid</a:t>
            </a:r>
          </a:p>
        </p:txBody>
      </p:sp>
      <p:sp>
        <p:nvSpPr>
          <p:cNvPr id="29" name="">
            <a:extLst xmlns:a="http://schemas.openxmlformats.org/drawingml/2006/main">
              <a:ext uri="{FF2B5EF4-FFF2-40B4-BE49-F238E27FC236}">
                <a16:creationId xmlns:a16="http://schemas.microsoft.com/office/drawing/2014/main" id="{075CD570-D175-419F-A20E-44D38AF5C317}"/>
              </a:ext>
            </a:extLst>
          </p:cNvPr>
          <p:cNvSpPr>
            <a:spLocks xmlns:a="http://schemas.openxmlformats.org/drawingml/2006/main" noGrp="1"/>
          </p:cNvSpPr>
          <p:nvPr/>
        </p:nvSpPr>
        <p:spPr>
          <a:xfrm xmlns:a="http://schemas.openxmlformats.org/drawingml/2006/main">
            <a:off x="8715375" y="3267075"/>
            <a:ext cx="2667000" cy="9525"/>
          </a:xfrm>
          <a:prstGeom xmlns:a="http://schemas.openxmlformats.org/drawingml/2006/main" prst="rect">
            <a:avLst/>
          </a:prstGeom>
          <a:solidFill xmlns:a="http://schemas.openxmlformats.org/drawingml/2006/main">
            <a:srgbClr val="C9C8C2"/>
          </a:solidFill>
          <a:ln xmlns:a="http://schemas.openxmlformats.org/drawingml/2006/main" w="0">
            <a:solidFill>
              <a:srgbClr val="000000">
                <a:alpha val="0"/>
              </a:srgbClr>
            </a:solidFill>
            <a:prstDash val="solid"/>
          </a:ln>
        </p:spPr>
      </p:sp>
      <p:sp>
        <p:nvSpPr>
          <p:cNvPr id="30" name="">
            <a:extLst xmlns:a="http://schemas.openxmlformats.org/drawingml/2006/main">
              <a:ext uri="{FF2B5EF4-FFF2-40B4-BE49-F238E27FC236}">
                <a16:creationId xmlns:a16="http://schemas.microsoft.com/office/drawing/2014/main" id="{9BCC34F7-0CFB-4337-9872-82D0E8127FA5}"/>
              </a:ext>
            </a:extLst>
          </p:cNvPr>
          <p:cNvSpPr>
            <a:spLocks xmlns:a="http://schemas.openxmlformats.org/drawingml/2006/main" noGrp="1"/>
          </p:cNvSpPr>
          <p:nvPr/>
        </p:nvSpPr>
        <p:spPr>
          <a:xfrm xmlns:a="http://schemas.openxmlformats.org/drawingml/2006/main">
            <a:off x="8515350" y="3448050"/>
            <a:ext cx="3067050" cy="7905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buNone/>
              <a:defRPr sz="1125" b="0">
                <a:solidFill>
                  <a:srgbClr val="172A3A"/>
                </a:solidFill>
                <a:latin typeface="Aptos"/>
                <a:ea typeface="Aptos"/>
                <a:cs typeface="Aptos"/>
              </a:defRPr>
            </a:pPr>
            <a:r>
              <a:rPr sz="1125" b="0">
                <a:solidFill>
                  <a:srgbClr val="172A3A"/>
                </a:solidFill>
                <a:latin typeface="Aptos"/>
                <a:ea typeface="Aptos"/>
                <a:cs typeface="Aptos"/>
              </a:rPr>
              <a:t>Mobility and two-arm support may create value across stations, but R3 safety, maturity and economics remain unresolved.</a:t>
            </a:r>
          </a:p>
        </p:txBody>
      </p:sp>
      <p:sp>
        <p:nvSpPr>
          <p:cNvPr id="31" name="pill-CONDITIONAL / KEY UNKNOWNS">
            <a:extLst xmlns:a="http://schemas.openxmlformats.org/drawingml/2006/main">
              <a:ext uri="{FF2B5EF4-FFF2-40B4-BE49-F238E27FC236}">
                <a16:creationId xmlns:a16="http://schemas.microsoft.com/office/drawing/2014/main" id="{AFDD9323-0796-4741-8792-588AB3129536}"/>
              </a:ext>
            </a:extLst>
          </p:cNvPr>
          <p:cNvSpPr>
            <a:spLocks xmlns:a="http://schemas.openxmlformats.org/drawingml/2006/main" noGrp="1"/>
          </p:cNvSpPr>
          <p:nvPr/>
        </p:nvSpPr>
        <p:spPr>
          <a:xfrm xmlns:a="http://schemas.openxmlformats.org/drawingml/2006/main">
            <a:off x="8810625" y="4381500"/>
            <a:ext cx="2476500" cy="238125"/>
          </a:xfrm>
          <a:prstGeom xmlns:a="http://schemas.openxmlformats.org/drawingml/2006/main" prst="rect">
            <a:avLst/>
          </a:prstGeom>
          <a:solidFill xmlns:a="http://schemas.openxmlformats.org/drawingml/2006/main">
            <a:srgbClr val="4E7897"/>
          </a:solidFill>
          <a:ln xmlns:a="http://schemas.openxmlformats.org/drawingml/2006/main" w="0">
            <a:solidFill>
              <a:srgbClr val="4E7897"/>
            </a:solidFill>
            <a:prstDash val="solid"/>
          </a:ln>
        </p:spPr>
      </p:sp>
      <p:sp>
        <p:nvSpPr>
          <p:cNvPr id="32" name="">
            <a:extLst xmlns:a="http://schemas.openxmlformats.org/drawingml/2006/main">
              <a:ext uri="{FF2B5EF4-FFF2-40B4-BE49-F238E27FC236}">
                <a16:creationId xmlns:a16="http://schemas.microsoft.com/office/drawing/2014/main" id="{B39C74DA-C3EA-4E92-92B5-F8F54DB95C5E}"/>
              </a:ext>
            </a:extLst>
          </p:cNvPr>
          <p:cNvSpPr>
            <a:spLocks xmlns:a="http://schemas.openxmlformats.org/drawingml/2006/main" noGrp="1"/>
          </p:cNvSpPr>
          <p:nvPr/>
        </p:nvSpPr>
        <p:spPr>
          <a:xfrm xmlns:a="http://schemas.openxmlformats.org/drawingml/2006/main">
            <a:off x="8877300" y="4400550"/>
            <a:ext cx="2343150" cy="2000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buNone/>
              <a:defRPr sz="825" b="1">
                <a:solidFill>
                  <a:srgbClr val="FFFDF8"/>
                </a:solidFill>
                <a:latin typeface="Aptos"/>
                <a:ea typeface="Aptos"/>
                <a:cs typeface="Aptos"/>
              </a:defRPr>
            </a:pPr>
            <a:r>
              <a:rPr sz="825" b="1">
                <a:solidFill>
                  <a:srgbClr val="FFFDF8"/>
                </a:solidFill>
                <a:latin typeface="Aptos"/>
                <a:ea typeface="Aptos"/>
                <a:cs typeface="Aptos"/>
              </a:rPr>
              <a:t>CONDITIONAL / KEY UNKNOWNS</a:t>
            </a:r>
          </a:p>
        </p:txBody>
      </p:sp>
      <p:sp>
        <p:nvSpPr>
          <p:cNvPr id="33" name="">
            <a:extLst xmlns:a="http://schemas.openxmlformats.org/drawingml/2006/main">
              <a:ext uri="{FF2B5EF4-FFF2-40B4-BE49-F238E27FC236}">
                <a16:creationId xmlns:a16="http://schemas.microsoft.com/office/drawing/2014/main" id="{A72F710E-A2FD-4AD6-A4BC-96B250E5A83E}"/>
              </a:ext>
            </a:extLst>
          </p:cNvPr>
          <p:cNvSpPr>
            <a:spLocks xmlns:a="http://schemas.openxmlformats.org/drawingml/2006/main" noGrp="1"/>
          </p:cNvSpPr>
          <p:nvPr/>
        </p:nvSpPr>
        <p:spPr>
          <a:xfrm xmlns:a="http://schemas.openxmlformats.org/drawingml/2006/main">
            <a:off x="381000" y="4972050"/>
            <a:ext cx="11430000" cy="238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buNone/>
              <a:defRPr sz="1125" b="1">
                <a:solidFill>
                  <a:srgbClr val="172A3A"/>
                </a:solidFill>
                <a:latin typeface="Aptos"/>
                <a:ea typeface="Aptos"/>
                <a:cs typeface="Aptos"/>
              </a:defRPr>
            </a:pPr>
            <a:r>
              <a:rPr sz="1125" b="1">
                <a:solidFill>
                  <a:srgbClr val="172A3A"/>
                </a:solidFill>
                <a:latin typeface="Aptos"/>
                <a:ea typeface="Aptos"/>
                <a:cs typeface="Aptos"/>
              </a:rPr>
              <a:t>A technology passes deployment only when all four checks are credible:</a:t>
            </a:r>
          </a:p>
        </p:txBody>
      </p:sp>
      <p:sp>
        <p:nvSpPr>
          <p:cNvPr id="34" name="">
            <a:extLst xmlns:a="http://schemas.openxmlformats.org/drawingml/2006/main">
              <a:ext uri="{FF2B5EF4-FFF2-40B4-BE49-F238E27FC236}">
                <a16:creationId xmlns:a16="http://schemas.microsoft.com/office/drawing/2014/main" id="{033C1AAB-CDCC-4B6E-9AEA-B8CBB0419FAF}"/>
              </a:ext>
            </a:extLst>
          </p:cNvPr>
          <p:cNvSpPr>
            <a:spLocks xmlns:a="http://schemas.openxmlformats.org/drawingml/2006/main" noGrp="1"/>
          </p:cNvSpPr>
          <p:nvPr/>
        </p:nvSpPr>
        <p:spPr>
          <a:xfrm xmlns:a="http://schemas.openxmlformats.org/drawingml/2006/main">
            <a:off x="381000" y="5314950"/>
            <a:ext cx="2714625" cy="781050"/>
          </a:xfrm>
          <a:prstGeom xmlns:a="http://schemas.openxmlformats.org/drawingml/2006/main" prst="rect">
            <a:avLst/>
          </a:prstGeom>
          <a:solidFill xmlns:a="http://schemas.openxmlformats.org/drawingml/2006/main">
            <a:srgbClr val="E4EEE8"/>
          </a:solidFill>
          <a:ln xmlns:a="http://schemas.openxmlformats.org/drawingml/2006/main" w="9525">
            <a:solidFill>
              <a:srgbClr val="D6D5CE"/>
            </a:solidFill>
            <a:prstDash val="solid"/>
          </a:ln>
        </p:spPr>
      </p:sp>
      <p:sp>
        <p:nvSpPr>
          <p:cNvPr id="35" name="">
            <a:extLst xmlns:a="http://schemas.openxmlformats.org/drawingml/2006/main">
              <a:ext uri="{FF2B5EF4-FFF2-40B4-BE49-F238E27FC236}">
                <a16:creationId xmlns:a16="http://schemas.microsoft.com/office/drawing/2014/main" id="{B4984FC4-48D8-4D5C-B1B0-93C39E40DF8C}"/>
              </a:ext>
            </a:extLst>
          </p:cNvPr>
          <p:cNvSpPr>
            <a:spLocks xmlns:a="http://schemas.openxmlformats.org/drawingml/2006/main" noGrp="1"/>
          </p:cNvSpPr>
          <p:nvPr/>
        </p:nvSpPr>
        <p:spPr>
          <a:xfrm xmlns:a="http://schemas.openxmlformats.org/drawingml/2006/main">
            <a:off x="514350" y="5410200"/>
            <a:ext cx="2447925"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buNone/>
              <a:defRPr sz="825" b="1">
                <a:solidFill>
                  <a:srgbClr val="2F6B57"/>
                </a:solidFill>
                <a:latin typeface="Aptos"/>
                <a:ea typeface="Aptos"/>
                <a:cs typeface="Aptos"/>
              </a:defRPr>
            </a:pPr>
            <a:r>
              <a:rPr sz="825" b="1">
                <a:solidFill>
                  <a:srgbClr val="2F6B57"/>
                </a:solidFill>
                <a:latin typeface="Aptos"/>
                <a:ea typeface="Aptos"/>
                <a:cs typeface="Aptos"/>
              </a:rPr>
              <a:t>TASK GATE</a:t>
            </a:r>
          </a:p>
        </p:txBody>
      </p:sp>
      <p:sp>
        <p:nvSpPr>
          <p:cNvPr id="36" name="">
            <a:extLst xmlns:a="http://schemas.openxmlformats.org/drawingml/2006/main">
              <a:ext uri="{FF2B5EF4-FFF2-40B4-BE49-F238E27FC236}">
                <a16:creationId xmlns:a16="http://schemas.microsoft.com/office/drawing/2014/main" id="{95F7C506-3F5B-4B80-8FBC-2E5B34E5DD69}"/>
              </a:ext>
            </a:extLst>
          </p:cNvPr>
          <p:cNvSpPr>
            <a:spLocks xmlns:a="http://schemas.openxmlformats.org/drawingml/2006/main" noGrp="1"/>
          </p:cNvSpPr>
          <p:nvPr/>
        </p:nvSpPr>
        <p:spPr>
          <a:xfrm xmlns:a="http://schemas.openxmlformats.org/drawingml/2006/main">
            <a:off x="514350" y="5638800"/>
            <a:ext cx="2447925" cy="3333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buNone/>
              <a:defRPr sz="1050" b="1">
                <a:solidFill>
                  <a:srgbClr val="172A3A"/>
                </a:solidFill>
                <a:latin typeface="Aptos"/>
                <a:ea typeface="Aptos"/>
                <a:cs typeface="Aptos"/>
              </a:defRPr>
            </a:pPr>
            <a:r>
              <a:rPr sz="1050" b="1">
                <a:solidFill>
                  <a:srgbClr val="172A3A"/>
                </a:solidFill>
                <a:latin typeface="Aptos"/>
                <a:ea typeface="Aptos"/>
                <a:cs typeface="Aptos"/>
              </a:rPr>
              <a:t>Can it satisfy the critical requirement?</a:t>
            </a:r>
          </a:p>
        </p:txBody>
      </p:sp>
      <p:sp>
        <p:nvSpPr>
          <p:cNvPr id="37" name="">
            <a:extLst xmlns:a="http://schemas.openxmlformats.org/drawingml/2006/main">
              <a:ext uri="{FF2B5EF4-FFF2-40B4-BE49-F238E27FC236}">
                <a16:creationId xmlns:a16="http://schemas.microsoft.com/office/drawing/2014/main" id="{D639AE13-57BC-407E-ADA7-04AF2C957E80}"/>
              </a:ext>
            </a:extLst>
          </p:cNvPr>
          <p:cNvSpPr>
            <a:spLocks xmlns:a="http://schemas.openxmlformats.org/drawingml/2006/main" noGrp="1"/>
          </p:cNvSpPr>
          <p:nvPr/>
        </p:nvSpPr>
        <p:spPr>
          <a:xfrm xmlns:a="http://schemas.openxmlformats.org/drawingml/2006/main">
            <a:off x="3238500" y="5314950"/>
            <a:ext cx="2714625" cy="781050"/>
          </a:xfrm>
          <a:prstGeom xmlns:a="http://schemas.openxmlformats.org/drawingml/2006/main" prst="rect">
            <a:avLst/>
          </a:prstGeom>
          <a:solidFill xmlns:a="http://schemas.openxmlformats.org/drawingml/2006/main">
            <a:srgbClr val="F5E5D8"/>
          </a:solidFill>
          <a:ln xmlns:a="http://schemas.openxmlformats.org/drawingml/2006/main" w="9525">
            <a:solidFill>
              <a:srgbClr val="D6D5CE"/>
            </a:solidFill>
            <a:prstDash val="solid"/>
          </a:ln>
        </p:spPr>
      </p:sp>
      <p:sp>
        <p:nvSpPr>
          <p:cNvPr id="38" name="">
            <a:extLst xmlns:a="http://schemas.openxmlformats.org/drawingml/2006/main">
              <a:ext uri="{FF2B5EF4-FFF2-40B4-BE49-F238E27FC236}">
                <a16:creationId xmlns:a16="http://schemas.microsoft.com/office/drawing/2014/main" id="{4AC79708-92AE-40CD-8779-8B9CA5DD517B}"/>
              </a:ext>
            </a:extLst>
          </p:cNvPr>
          <p:cNvSpPr>
            <a:spLocks xmlns:a="http://schemas.openxmlformats.org/drawingml/2006/main" noGrp="1"/>
          </p:cNvSpPr>
          <p:nvPr/>
        </p:nvSpPr>
        <p:spPr>
          <a:xfrm xmlns:a="http://schemas.openxmlformats.org/drawingml/2006/main">
            <a:off x="3371850" y="5410200"/>
            <a:ext cx="2447925"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buNone/>
              <a:defRPr sz="825" b="1">
                <a:solidFill>
                  <a:srgbClr val="D97941"/>
                </a:solidFill>
                <a:latin typeface="Aptos"/>
                <a:ea typeface="Aptos"/>
                <a:cs typeface="Aptos"/>
              </a:defRPr>
            </a:pPr>
            <a:r>
              <a:rPr sz="825" b="1">
                <a:solidFill>
                  <a:srgbClr val="D97941"/>
                </a:solidFill>
                <a:latin typeface="Aptos"/>
                <a:ea typeface="Aptos"/>
                <a:cs typeface="Aptos"/>
              </a:rPr>
              <a:t>CONDITION GATE</a:t>
            </a:r>
          </a:p>
        </p:txBody>
      </p:sp>
      <p:sp>
        <p:nvSpPr>
          <p:cNvPr id="39" name="">
            <a:extLst xmlns:a="http://schemas.openxmlformats.org/drawingml/2006/main">
              <a:ext uri="{FF2B5EF4-FFF2-40B4-BE49-F238E27FC236}">
                <a16:creationId xmlns:a16="http://schemas.microsoft.com/office/drawing/2014/main" id="{580C778E-B00F-4B07-9FCE-9C76C62AA369}"/>
              </a:ext>
            </a:extLst>
          </p:cNvPr>
          <p:cNvSpPr>
            <a:spLocks xmlns:a="http://schemas.openxmlformats.org/drawingml/2006/main" noGrp="1"/>
          </p:cNvSpPr>
          <p:nvPr/>
        </p:nvSpPr>
        <p:spPr>
          <a:xfrm xmlns:a="http://schemas.openxmlformats.org/drawingml/2006/main">
            <a:off x="3371850" y="5638800"/>
            <a:ext cx="2447925" cy="3333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buNone/>
              <a:defRPr sz="1050" b="1">
                <a:solidFill>
                  <a:srgbClr val="172A3A"/>
                </a:solidFill>
                <a:latin typeface="Aptos"/>
                <a:ea typeface="Aptos"/>
                <a:cs typeface="Aptos"/>
              </a:defRPr>
            </a:pPr>
            <a:r>
              <a:rPr sz="1050" b="1">
                <a:solidFill>
                  <a:srgbClr val="172A3A"/>
                </a:solidFill>
                <a:latin typeface="Aptos"/>
                <a:ea typeface="Aptos"/>
                <a:cs typeface="Aptos"/>
              </a:rPr>
              <a:t>Is this architecture reasonable here?</a:t>
            </a:r>
          </a:p>
        </p:txBody>
      </p:sp>
      <p:sp>
        <p:nvSpPr>
          <p:cNvPr id="40" name="">
            <a:extLst xmlns:a="http://schemas.openxmlformats.org/drawingml/2006/main">
              <a:ext uri="{FF2B5EF4-FFF2-40B4-BE49-F238E27FC236}">
                <a16:creationId xmlns:a16="http://schemas.microsoft.com/office/drawing/2014/main" id="{5DFD9D6F-91E4-47BB-99EB-E3A09286B866}"/>
              </a:ext>
            </a:extLst>
          </p:cNvPr>
          <p:cNvSpPr>
            <a:spLocks xmlns:a="http://schemas.openxmlformats.org/drawingml/2006/main" noGrp="1"/>
          </p:cNvSpPr>
          <p:nvPr/>
        </p:nvSpPr>
        <p:spPr>
          <a:xfrm xmlns:a="http://schemas.openxmlformats.org/drawingml/2006/main">
            <a:off x="6096000" y="5314950"/>
            <a:ext cx="2714625" cy="781050"/>
          </a:xfrm>
          <a:prstGeom xmlns:a="http://schemas.openxmlformats.org/drawingml/2006/main" prst="rect">
            <a:avLst/>
          </a:prstGeom>
          <a:solidFill xmlns:a="http://schemas.openxmlformats.org/drawingml/2006/main">
            <a:srgbClr val="F1E1DE"/>
          </a:solidFill>
          <a:ln xmlns:a="http://schemas.openxmlformats.org/drawingml/2006/main" w="9525">
            <a:solidFill>
              <a:srgbClr val="D6D5CE"/>
            </a:solidFill>
            <a:prstDash val="solid"/>
          </a:ln>
        </p:spPr>
      </p:sp>
      <p:sp>
        <p:nvSpPr>
          <p:cNvPr id="41" name="">
            <a:extLst xmlns:a="http://schemas.openxmlformats.org/drawingml/2006/main">
              <a:ext uri="{FF2B5EF4-FFF2-40B4-BE49-F238E27FC236}">
                <a16:creationId xmlns:a16="http://schemas.microsoft.com/office/drawing/2014/main" id="{FB369FED-77CB-41E9-81CB-DF28D5C09523}"/>
              </a:ext>
            </a:extLst>
          </p:cNvPr>
          <p:cNvSpPr>
            <a:spLocks xmlns:a="http://schemas.openxmlformats.org/drawingml/2006/main" noGrp="1"/>
          </p:cNvSpPr>
          <p:nvPr/>
        </p:nvSpPr>
        <p:spPr>
          <a:xfrm xmlns:a="http://schemas.openxmlformats.org/drawingml/2006/main">
            <a:off x="6229350" y="5410200"/>
            <a:ext cx="2447925"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buNone/>
              <a:defRPr sz="825" b="1">
                <a:solidFill>
                  <a:srgbClr val="9B4D45"/>
                </a:solidFill>
                <a:latin typeface="Aptos"/>
                <a:ea typeface="Aptos"/>
                <a:cs typeface="Aptos"/>
              </a:defRPr>
            </a:pPr>
            <a:r>
              <a:rPr sz="825" b="1">
                <a:solidFill>
                  <a:srgbClr val="9B4D45"/>
                </a:solidFill>
                <a:latin typeface="Aptos"/>
                <a:ea typeface="Aptos"/>
                <a:cs typeface="Aptos"/>
              </a:rPr>
              <a:t>SAFETY GATE</a:t>
            </a:r>
          </a:p>
        </p:txBody>
      </p:sp>
      <p:sp>
        <p:nvSpPr>
          <p:cNvPr id="42" name="">
            <a:extLst xmlns:a="http://schemas.openxmlformats.org/drawingml/2006/main">
              <a:ext uri="{FF2B5EF4-FFF2-40B4-BE49-F238E27FC236}">
                <a16:creationId xmlns:a16="http://schemas.microsoft.com/office/drawing/2014/main" id="{6629A373-7D68-479E-A01A-5FF647D688EB}"/>
              </a:ext>
            </a:extLst>
          </p:cNvPr>
          <p:cNvSpPr>
            <a:spLocks xmlns:a="http://schemas.openxmlformats.org/drawingml/2006/main" noGrp="1"/>
          </p:cNvSpPr>
          <p:nvPr/>
        </p:nvSpPr>
        <p:spPr>
          <a:xfrm xmlns:a="http://schemas.openxmlformats.org/drawingml/2006/main">
            <a:off x="6229350" y="5638800"/>
            <a:ext cx="2447925" cy="3333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buNone/>
              <a:defRPr sz="1050" b="1">
                <a:solidFill>
                  <a:srgbClr val="172A3A"/>
                </a:solidFill>
                <a:latin typeface="Aptos"/>
                <a:ea typeface="Aptos"/>
                <a:cs typeface="Aptos"/>
              </a:defRPr>
            </a:pPr>
            <a:r>
              <a:rPr sz="1050" b="1">
                <a:solidFill>
                  <a:srgbClr val="172A3A"/>
                </a:solidFill>
                <a:latin typeface="Aptos"/>
                <a:ea typeface="Aptos"/>
                <a:cs typeface="Aptos"/>
              </a:rPr>
              <a:t>Can mandatory permissions be satisfied?</a:t>
            </a:r>
          </a:p>
        </p:txBody>
      </p:sp>
      <p:sp>
        <p:nvSpPr>
          <p:cNvPr id="43" name="">
            <a:extLst xmlns:a="http://schemas.openxmlformats.org/drawingml/2006/main">
              <a:ext uri="{FF2B5EF4-FFF2-40B4-BE49-F238E27FC236}">
                <a16:creationId xmlns:a16="http://schemas.microsoft.com/office/drawing/2014/main" id="{A9AAEE27-2686-4098-BADC-DCE0CCFD62E2}"/>
              </a:ext>
            </a:extLst>
          </p:cNvPr>
          <p:cNvSpPr>
            <a:spLocks xmlns:a="http://schemas.openxmlformats.org/drawingml/2006/main" noGrp="1"/>
          </p:cNvSpPr>
          <p:nvPr/>
        </p:nvSpPr>
        <p:spPr>
          <a:xfrm xmlns:a="http://schemas.openxmlformats.org/drawingml/2006/main">
            <a:off x="8953500" y="5314950"/>
            <a:ext cx="2714625" cy="781050"/>
          </a:xfrm>
          <a:prstGeom xmlns:a="http://schemas.openxmlformats.org/drawingml/2006/main" prst="rect">
            <a:avLst/>
          </a:prstGeom>
          <a:solidFill xmlns:a="http://schemas.openxmlformats.org/drawingml/2006/main">
            <a:srgbClr val="E4EBF0"/>
          </a:solidFill>
          <a:ln xmlns:a="http://schemas.openxmlformats.org/drawingml/2006/main" w="9525">
            <a:solidFill>
              <a:srgbClr val="D6D5CE"/>
            </a:solidFill>
            <a:prstDash val="solid"/>
          </a:ln>
        </p:spPr>
      </p:sp>
      <p:sp>
        <p:nvSpPr>
          <p:cNvPr id="44" name="">
            <a:extLst xmlns:a="http://schemas.openxmlformats.org/drawingml/2006/main">
              <a:ext uri="{FF2B5EF4-FFF2-40B4-BE49-F238E27FC236}">
                <a16:creationId xmlns:a16="http://schemas.microsoft.com/office/drawing/2014/main" id="{AB414E52-0C0A-4C6C-988E-1BFB2DCA5847}"/>
              </a:ext>
            </a:extLst>
          </p:cNvPr>
          <p:cNvSpPr>
            <a:spLocks xmlns:a="http://schemas.openxmlformats.org/drawingml/2006/main" noGrp="1"/>
          </p:cNvSpPr>
          <p:nvPr/>
        </p:nvSpPr>
        <p:spPr>
          <a:xfrm xmlns:a="http://schemas.openxmlformats.org/drawingml/2006/main">
            <a:off x="9086850" y="5410200"/>
            <a:ext cx="2447925"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buNone/>
              <a:defRPr sz="825" b="1">
                <a:solidFill>
                  <a:srgbClr val="4E7897"/>
                </a:solidFill>
                <a:latin typeface="Aptos"/>
                <a:ea typeface="Aptos"/>
                <a:cs typeface="Aptos"/>
              </a:defRPr>
            </a:pPr>
            <a:r>
              <a:rPr sz="825" b="1">
                <a:solidFill>
                  <a:srgbClr val="4E7897"/>
                </a:solidFill>
                <a:latin typeface="Aptos"/>
                <a:ea typeface="Aptos"/>
                <a:cs typeface="Aptos"/>
              </a:rPr>
              <a:t>EVIDENCE GATE</a:t>
            </a:r>
          </a:p>
        </p:txBody>
      </p:sp>
      <p:sp>
        <p:nvSpPr>
          <p:cNvPr id="45" name="">
            <a:extLst xmlns:a="http://schemas.openxmlformats.org/drawingml/2006/main">
              <a:ext uri="{FF2B5EF4-FFF2-40B4-BE49-F238E27FC236}">
                <a16:creationId xmlns:a16="http://schemas.microsoft.com/office/drawing/2014/main" id="{2A22032B-A02B-4A81-ACBA-9AEE0449E739}"/>
              </a:ext>
            </a:extLst>
          </p:cNvPr>
          <p:cNvSpPr>
            <a:spLocks xmlns:a="http://schemas.openxmlformats.org/drawingml/2006/main" noGrp="1"/>
          </p:cNvSpPr>
          <p:nvPr/>
        </p:nvSpPr>
        <p:spPr>
          <a:xfrm xmlns:a="http://schemas.openxmlformats.org/drawingml/2006/main">
            <a:off x="9086850" y="5638800"/>
            <a:ext cx="2447925" cy="3333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buNone/>
              <a:defRPr sz="1050" b="1">
                <a:solidFill>
                  <a:srgbClr val="172A3A"/>
                </a:solidFill>
                <a:latin typeface="Aptos"/>
                <a:ea typeface="Aptos"/>
                <a:cs typeface="Aptos"/>
              </a:defRPr>
            </a:pPr>
            <a:r>
              <a:rPr sz="1050" b="1">
                <a:solidFill>
                  <a:srgbClr val="172A3A"/>
                </a:solidFill>
                <a:latin typeface="Aptos"/>
                <a:ea typeface="Aptos"/>
                <a:cs typeface="Aptos"/>
              </a:rPr>
              <a:t>Is the claim supported strongly enough?</a:t>
            </a:r>
          </a:p>
        </p:txBody>
      </p:sp>
    </p:spTree>
    <p:extLst>
      <p:ext uri="{BB962C8B-B14F-4D97-AF65-F5344CB8AC3E}">
        <p14:creationId xmlns:p14="http://schemas.microsoft.com/office/powerpoint/2010/main" val="438949300"/>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 name="background">
            <a:extLst xmlns:a="http://schemas.openxmlformats.org/drawingml/2006/main">
              <a:ext uri="{FF2B5EF4-FFF2-40B4-BE49-F238E27FC236}">
                <a16:creationId xmlns:a16="http://schemas.microsoft.com/office/drawing/2014/main" id="{76D2E27D-2C18-4942-BE60-D46BD8478D7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A"/>
          </a:solidFill>
          <a:ln xmlns:a="http://schemas.openxmlformats.org/drawingml/2006/main" w="0">
            <a:solidFill>
              <a:srgbClr val="000000">
                <a:alpha val="0"/>
              </a:srgbClr>
            </a:solidFill>
            <a:prstDash val="solid"/>
          </a:ln>
        </p:spPr>
      </p:sp>
      <p:sp>
        <p:nvSpPr>
          <p:cNvPr id="2" name="kicker-05-marker">
            <a:extLst xmlns:a="http://schemas.openxmlformats.org/drawingml/2006/main">
              <a:ext uri="{FF2B5EF4-FFF2-40B4-BE49-F238E27FC236}">
                <a16:creationId xmlns:a16="http://schemas.microsoft.com/office/drawing/2014/main" id="{FB0719F1-4338-4B0A-80FD-E3DE40BCDCAD}"/>
              </a:ext>
            </a:extLst>
          </p:cNvPr>
          <p:cNvSpPr>
            <a:spLocks xmlns:a="http://schemas.openxmlformats.org/drawingml/2006/main" noGrp="1"/>
          </p:cNvSpPr>
          <p:nvPr/>
        </p:nvSpPr>
        <p:spPr>
          <a:xfrm xmlns:a="http://schemas.openxmlformats.org/drawingml/2006/main">
            <a:off x="381000" y="323850"/>
            <a:ext cx="76200" cy="76200"/>
          </a:xfrm>
          <a:prstGeom xmlns:a="http://schemas.openxmlformats.org/drawingml/2006/main" prst="ellipse">
            <a:avLst/>
          </a:prstGeom>
          <a:solidFill xmlns:a="http://schemas.openxmlformats.org/drawingml/2006/main">
            <a:srgbClr val="2F6B57"/>
          </a:solidFill>
          <a:ln xmlns:a="http://schemas.openxmlformats.org/drawingml/2006/main" w="0">
            <a:solidFill>
              <a:srgbClr val="000000">
                <a:alpha val="0"/>
              </a:srgbClr>
            </a:solidFill>
            <a:prstDash val="solid"/>
          </a:ln>
        </p:spPr>
      </p:sp>
      <p:sp>
        <p:nvSpPr>
          <p:cNvPr id="3" name="kicker-05-label">
            <a:extLst xmlns:a="http://schemas.openxmlformats.org/drawingml/2006/main">
              <a:ext uri="{FF2B5EF4-FFF2-40B4-BE49-F238E27FC236}">
                <a16:creationId xmlns:a16="http://schemas.microsoft.com/office/drawing/2014/main" id="{6EEEAF21-2E26-4B30-BBE8-27FB9D2B056A}"/>
              </a:ext>
            </a:extLst>
          </p:cNvPr>
          <p:cNvSpPr>
            <a:spLocks xmlns:a="http://schemas.openxmlformats.org/drawingml/2006/main" noGrp="1"/>
          </p:cNvSpPr>
          <p:nvPr/>
        </p:nvSpPr>
        <p:spPr>
          <a:xfrm xmlns:a="http://schemas.openxmlformats.org/drawingml/2006/main">
            <a:off x="533400" y="266700"/>
            <a:ext cx="4000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buNone/>
              <a:defRPr sz="975" b="1">
                <a:solidFill>
                  <a:srgbClr val="2F6B57"/>
                </a:solidFill>
                <a:latin typeface="Aptos"/>
                <a:ea typeface="Aptos"/>
                <a:cs typeface="Aptos"/>
              </a:defRPr>
            </a:pPr>
            <a:r>
              <a:rPr sz="975" b="1">
                <a:solidFill>
                  <a:srgbClr val="2F6B57"/>
                </a:solidFill>
                <a:latin typeface="Aptos"/>
                <a:ea typeface="Aptos"/>
                <a:cs typeface="Aptos"/>
              </a:rPr>
              <a:t>NEXT WEEK PLAN</a:t>
            </a:r>
          </a:p>
        </p:txBody>
      </p:sp>
      <p:sp>
        <p:nvSpPr>
          <p:cNvPr id="4" name="claim-title">
            <a:extLst xmlns:a="http://schemas.openxmlformats.org/drawingml/2006/main">
              <a:ext uri="{FF2B5EF4-FFF2-40B4-BE49-F238E27FC236}">
                <a16:creationId xmlns:a16="http://schemas.microsoft.com/office/drawing/2014/main" id="{73F55D8B-064C-4447-BDA8-38309F60A7EE}"/>
              </a:ext>
            </a:extLst>
          </p:cNvPr>
          <p:cNvSpPr>
            <a:spLocks xmlns:a="http://schemas.openxmlformats.org/drawingml/2006/main" noGrp="1"/>
          </p:cNvSpPr>
          <p:nvPr/>
        </p:nvSpPr>
        <p:spPr>
          <a:xfrm xmlns:a="http://schemas.openxmlformats.org/drawingml/2006/main">
            <a:off x="381000" y="542925"/>
            <a:ext cx="11334750" cy="742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buNone/>
              <a:defRPr sz="2700" b="1">
                <a:solidFill>
                  <a:srgbClr val="172A3A"/>
                </a:solidFill>
                <a:latin typeface="Aptos Display"/>
                <a:ea typeface="Aptos Display"/>
                <a:cs typeface="Aptos Display"/>
              </a:defRPr>
            </a:pPr>
            <a:r>
              <a:rPr sz="2700" b="1">
                <a:solidFill>
                  <a:srgbClr val="172A3A"/>
                </a:solidFill>
                <a:latin typeface="Aptos Display"/>
                <a:ea typeface="Aptos Display"/>
                <a:cs typeface="Aptos Display"/>
              </a:rPr>
              <a:t>Next week should test transferability and confirm the registration basis.</a:t>
            </a:r>
          </a:p>
        </p:txBody>
      </p:sp>
      <p:sp>
        <p:nvSpPr>
          <p:cNvPr id="5" name="title-rule">
            <a:extLst xmlns:a="http://schemas.openxmlformats.org/drawingml/2006/main">
              <a:ext uri="{FF2B5EF4-FFF2-40B4-BE49-F238E27FC236}">
                <a16:creationId xmlns:a16="http://schemas.microsoft.com/office/drawing/2014/main" id="{C4BE6973-96A1-48D8-9AA0-1C9C3B94428C}"/>
              </a:ext>
            </a:extLst>
          </p:cNvPr>
          <p:cNvSpPr>
            <a:spLocks xmlns:a="http://schemas.openxmlformats.org/drawingml/2006/main" noGrp="1"/>
          </p:cNvSpPr>
          <p:nvPr/>
        </p:nvSpPr>
        <p:spPr>
          <a:xfrm xmlns:a="http://schemas.openxmlformats.org/drawingml/2006/main">
            <a:off x="381000" y="1381125"/>
            <a:ext cx="11430000" cy="9525"/>
          </a:xfrm>
          <a:prstGeom xmlns:a="http://schemas.openxmlformats.org/drawingml/2006/main" prst="rect">
            <a:avLst/>
          </a:prstGeom>
          <a:solidFill xmlns:a="http://schemas.openxmlformats.org/drawingml/2006/main">
            <a:srgbClr val="D6D3CB"/>
          </a:solidFill>
          <a:ln xmlns:a="http://schemas.openxmlformats.org/drawingml/2006/main" w="0">
            <a:solidFill>
              <a:srgbClr val="000000">
                <a:alpha val="0"/>
              </a:srgbClr>
            </a:solidFill>
            <a:prstDash val="solid"/>
          </a:ln>
        </p:spPr>
      </p:sp>
      <p:sp>
        <p:nvSpPr>
          <p:cNvPr id="6" name="footer-rule">
            <a:extLst xmlns:a="http://schemas.openxmlformats.org/drawingml/2006/main">
              <a:ext uri="{FF2B5EF4-FFF2-40B4-BE49-F238E27FC236}">
                <a16:creationId xmlns:a16="http://schemas.microsoft.com/office/drawing/2014/main" id="{255C5E6A-F0F0-4974-8513-0B80FC2C4028}"/>
              </a:ext>
            </a:extLst>
          </p:cNvPr>
          <p:cNvSpPr>
            <a:spLocks xmlns:a="http://schemas.openxmlformats.org/drawingml/2006/main" noGrp="1"/>
          </p:cNvSpPr>
          <p:nvPr/>
        </p:nvSpPr>
        <p:spPr>
          <a:xfrm xmlns:a="http://schemas.openxmlformats.org/drawingml/2006/main">
            <a:off x="381000" y="6477000"/>
            <a:ext cx="11430000" cy="9525"/>
          </a:xfrm>
          <a:prstGeom xmlns:a="http://schemas.openxmlformats.org/drawingml/2006/main" prst="rect">
            <a:avLst/>
          </a:prstGeom>
          <a:solidFill xmlns:a="http://schemas.openxmlformats.org/drawingml/2006/main">
            <a:srgbClr val="D6D3CB"/>
          </a:solidFill>
          <a:ln xmlns:a="http://schemas.openxmlformats.org/drawingml/2006/main" w="0">
            <a:solidFill>
              <a:srgbClr val="000000">
                <a:alpha val="0"/>
              </a:srgbClr>
            </a:solidFill>
            <a:prstDash val="solid"/>
          </a:ln>
        </p:spPr>
      </p:sp>
      <p:sp>
        <p:nvSpPr>
          <p:cNvPr id="7" name="source-footer">
            <a:extLst xmlns:a="http://schemas.openxmlformats.org/drawingml/2006/main">
              <a:ext uri="{FF2B5EF4-FFF2-40B4-BE49-F238E27FC236}">
                <a16:creationId xmlns:a16="http://schemas.microsoft.com/office/drawing/2014/main" id="{E4431859-6ACB-408E-8623-760C53686738}"/>
              </a:ext>
            </a:extLst>
          </p:cNvPr>
          <p:cNvSpPr>
            <a:spLocks xmlns:a="http://schemas.openxmlformats.org/drawingml/2006/main" noGrp="1"/>
          </p:cNvSpPr>
          <p:nvPr/>
        </p:nvSpPr>
        <p:spPr>
          <a:xfrm xmlns:a="http://schemas.openxmlformats.org/drawingml/2006/main">
            <a:off x="381000" y="6543675"/>
            <a:ext cx="1019175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buNone/>
              <a:defRPr sz="675" b="0">
                <a:solidFill>
                  <a:srgbClr val="63717B"/>
                </a:solidFill>
                <a:latin typeface="Aptos"/>
                <a:ea typeface="Aptos"/>
                <a:cs typeface="Aptos"/>
              </a:defRPr>
            </a:pPr>
            <a:r>
              <a:rPr sz="675" b="0">
                <a:solidFill>
                  <a:srgbClr val="63717B"/>
                </a:solidFill>
                <a:latin typeface="Aptos"/>
                <a:ea typeface="Aptos"/>
                <a:cs typeface="Aptos"/>
              </a:rPr>
              <a:t>Sources: Week 06 Day 5 transfer decision; thesis registration consensus 2026-08-20. Title/RQs remain pending Thomas confirmation.</a:t>
            </a:r>
          </a:p>
        </p:txBody>
      </p:sp>
      <p:sp>
        <p:nvSpPr>
          <p:cNvPr id="8" name="page-marker">
            <a:extLst xmlns:a="http://schemas.openxmlformats.org/drawingml/2006/main">
              <a:ext uri="{FF2B5EF4-FFF2-40B4-BE49-F238E27FC236}">
                <a16:creationId xmlns:a16="http://schemas.microsoft.com/office/drawing/2014/main" id="{F11BA86C-89BA-4433-B833-D3922E1C4919}"/>
              </a:ext>
            </a:extLst>
          </p:cNvPr>
          <p:cNvSpPr>
            <a:spLocks xmlns:a="http://schemas.openxmlformats.org/drawingml/2006/main" noGrp="1"/>
          </p:cNvSpPr>
          <p:nvPr/>
        </p:nvSpPr>
        <p:spPr>
          <a:xfrm xmlns:a="http://schemas.openxmlformats.org/drawingml/2006/main">
            <a:off x="11191875" y="6524625"/>
            <a:ext cx="619125"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r">
              <a:buNone/>
              <a:defRPr sz="750" b="1">
                <a:solidFill>
                  <a:srgbClr val="2F6B57"/>
                </a:solidFill>
                <a:latin typeface="Aptos"/>
                <a:ea typeface="Aptos"/>
                <a:cs typeface="Aptos"/>
              </a:defRPr>
            </a:pPr>
            <a:r>
              <a:rPr sz="750" b="1">
                <a:solidFill>
                  <a:srgbClr val="2F6B57"/>
                </a:solidFill>
                <a:latin typeface="Aptos"/>
                <a:ea typeface="Aptos"/>
                <a:cs typeface="Aptos"/>
              </a:rPr>
              <a:t>05</a:t>
            </a:r>
          </a:p>
        </p:txBody>
      </p:sp>
      <p:sp>
        <p:nvSpPr>
          <p:cNvPr id="9" name="">
            <a:extLst xmlns:a="http://schemas.openxmlformats.org/drawingml/2006/main">
              <a:ext uri="{FF2B5EF4-FFF2-40B4-BE49-F238E27FC236}">
                <a16:creationId xmlns:a16="http://schemas.microsoft.com/office/drawing/2014/main" id="{118DA191-1E38-403B-ADF2-42A310B3ED08}"/>
              </a:ext>
            </a:extLst>
          </p:cNvPr>
          <p:cNvSpPr>
            <a:spLocks xmlns:a="http://schemas.openxmlformats.org/drawingml/2006/main" noGrp="1"/>
          </p:cNvSpPr>
          <p:nvPr/>
        </p:nvSpPr>
        <p:spPr>
          <a:xfrm xmlns:a="http://schemas.openxmlformats.org/drawingml/2006/main">
            <a:off x="381000" y="1571625"/>
            <a:ext cx="7048500" cy="238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buNone/>
              <a:defRPr sz="975" b="1">
                <a:solidFill>
                  <a:srgbClr val="2F6B57"/>
                </a:solidFill>
                <a:latin typeface="Aptos"/>
                <a:ea typeface="Aptos"/>
                <a:cs typeface="Aptos"/>
              </a:defRPr>
            </a:pPr>
            <a:r>
              <a:rPr sz="975" b="1">
                <a:solidFill>
                  <a:srgbClr val="2F6B57"/>
                </a:solidFill>
                <a:latin typeface="Aptos"/>
                <a:ea typeface="Aptos"/>
                <a:cs typeface="Aptos"/>
              </a:rPr>
              <a:t>BOUNDED TRANSFER TEST — CANDIDATE A</a:t>
            </a:r>
          </a:p>
        </p:txBody>
      </p:sp>
      <p:sp>
        <p:nvSpPr>
          <p:cNvPr id="10" name="">
            <a:extLst xmlns:a="http://schemas.openxmlformats.org/drawingml/2006/main">
              <a:ext uri="{FF2B5EF4-FFF2-40B4-BE49-F238E27FC236}">
                <a16:creationId xmlns:a16="http://schemas.microsoft.com/office/drawing/2014/main" id="{DBCD6BBF-2E59-499E-A8CC-EEAFA3CF9E63}"/>
              </a:ext>
            </a:extLst>
          </p:cNvPr>
          <p:cNvSpPr>
            <a:spLocks xmlns:a="http://schemas.openxmlformats.org/drawingml/2006/main" noGrp="1"/>
          </p:cNvSpPr>
          <p:nvPr/>
        </p:nvSpPr>
        <p:spPr>
          <a:xfrm xmlns:a="http://schemas.openxmlformats.org/drawingml/2006/main">
            <a:off x="381000" y="2000250"/>
            <a:ext cx="523875" cy="4286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buNone/>
              <a:defRPr sz="2550" b="1">
                <a:solidFill>
                  <a:srgbClr val="2F6B57"/>
                </a:solidFill>
                <a:latin typeface="Aptos Display"/>
                <a:ea typeface="Aptos Display"/>
                <a:cs typeface="Aptos Display"/>
              </a:defRPr>
            </a:pPr>
            <a:r>
              <a:rPr sz="2550" b="1">
                <a:solidFill>
                  <a:srgbClr val="2F6B57"/>
                </a:solidFill>
                <a:latin typeface="Aptos Display"/>
                <a:ea typeface="Aptos Display"/>
                <a:cs typeface="Aptos Display"/>
              </a:rPr>
              <a:t>01</a:t>
            </a:r>
          </a:p>
        </p:txBody>
      </p:sp>
      <p:sp>
        <p:nvSpPr>
          <p:cNvPr id="11" name="next-step-1">
            <a:extLst xmlns:a="http://schemas.openxmlformats.org/drawingml/2006/main">
              <a:ext uri="{FF2B5EF4-FFF2-40B4-BE49-F238E27FC236}">
                <a16:creationId xmlns:a16="http://schemas.microsoft.com/office/drawing/2014/main" id="{B442D5CC-7A25-46B7-8FBE-CDFB7A4DA63D}"/>
              </a:ext>
            </a:extLst>
          </p:cNvPr>
          <p:cNvSpPr>
            <a:spLocks xmlns:a="http://schemas.openxmlformats.org/drawingml/2006/main" noGrp="1"/>
          </p:cNvSpPr>
          <p:nvPr/>
        </p:nvSpPr>
        <p:spPr>
          <a:xfrm xmlns:a="http://schemas.openxmlformats.org/drawingml/2006/main">
            <a:off x="381000" y="2476500"/>
            <a:ext cx="2095500" cy="1952625"/>
          </a:xfrm>
          <a:prstGeom xmlns:a="http://schemas.openxmlformats.org/drawingml/2006/main" prst="rect">
            <a:avLst/>
          </a:prstGeom>
          <a:solidFill xmlns:a="http://schemas.openxmlformats.org/drawingml/2006/main">
            <a:srgbClr val="E4EEE8"/>
          </a:solidFill>
          <a:ln xmlns:a="http://schemas.openxmlformats.org/drawingml/2006/main" w="9525">
            <a:solidFill>
              <a:srgbClr val="D6D5CE"/>
            </a:solidFill>
            <a:prstDash val="solid"/>
          </a:ln>
        </p:spPr>
      </p:sp>
      <p:sp>
        <p:nvSpPr>
          <p:cNvPr id="12" name="">
            <a:extLst xmlns:a="http://schemas.openxmlformats.org/drawingml/2006/main">
              <a:ext uri="{FF2B5EF4-FFF2-40B4-BE49-F238E27FC236}">
                <a16:creationId xmlns:a16="http://schemas.microsoft.com/office/drawing/2014/main" id="{848B594B-71A4-443D-A9F0-7726ACA0D4DB}"/>
              </a:ext>
            </a:extLst>
          </p:cNvPr>
          <p:cNvSpPr>
            <a:spLocks xmlns:a="http://schemas.openxmlformats.org/drawingml/2006/main" noGrp="1"/>
          </p:cNvSpPr>
          <p:nvPr/>
        </p:nvSpPr>
        <p:spPr>
          <a:xfrm xmlns:a="http://schemas.openxmlformats.org/drawingml/2006/main">
            <a:off x="381000" y="2476500"/>
            <a:ext cx="2095500" cy="47625"/>
          </a:xfrm>
          <a:prstGeom xmlns:a="http://schemas.openxmlformats.org/drawingml/2006/main" prst="rect">
            <a:avLst/>
          </a:prstGeom>
          <a:solidFill xmlns:a="http://schemas.openxmlformats.org/drawingml/2006/main">
            <a:srgbClr val="2F6B57"/>
          </a:solidFill>
          <a:ln xmlns:a="http://schemas.openxmlformats.org/drawingml/2006/main" w="0">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F7F12AD8-0A7F-4DFF-B494-82D2DB19BFBA}"/>
              </a:ext>
            </a:extLst>
          </p:cNvPr>
          <p:cNvSpPr>
            <a:spLocks xmlns:a="http://schemas.openxmlformats.org/drawingml/2006/main" noGrp="1"/>
          </p:cNvSpPr>
          <p:nvPr/>
        </p:nvSpPr>
        <p:spPr>
          <a:xfrm xmlns:a="http://schemas.openxmlformats.org/drawingml/2006/main">
            <a:off x="533400" y="2686050"/>
            <a:ext cx="179070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buNone/>
              <a:defRPr sz="1350" b="1">
                <a:solidFill>
                  <a:srgbClr val="172A3A"/>
                </a:solidFill>
                <a:latin typeface="Aptos"/>
                <a:ea typeface="Aptos"/>
                <a:cs typeface="Aptos"/>
              </a:defRPr>
            </a:pPr>
            <a:r>
              <a:rPr sz="1350" b="1">
                <a:solidFill>
                  <a:srgbClr val="172A3A"/>
                </a:solidFill>
                <a:latin typeface="Aptos"/>
                <a:ea typeface="Aptos"/>
                <a:cs typeface="Aptos"/>
              </a:rPr>
              <a:t>Define the task boundary</a:t>
            </a:r>
          </a:p>
        </p:txBody>
      </p:sp>
      <p:sp>
        <p:nvSpPr>
          <p:cNvPr id="14" name="">
            <a:extLst xmlns:a="http://schemas.openxmlformats.org/drawingml/2006/main">
              <a:ext uri="{FF2B5EF4-FFF2-40B4-BE49-F238E27FC236}">
                <a16:creationId xmlns:a16="http://schemas.microsoft.com/office/drawing/2014/main" id="{5E17807C-75C6-445A-AB94-12A5D864D81A}"/>
              </a:ext>
            </a:extLst>
          </p:cNvPr>
          <p:cNvSpPr>
            <a:spLocks xmlns:a="http://schemas.openxmlformats.org/drawingml/2006/main" noGrp="1"/>
          </p:cNvSpPr>
          <p:nvPr/>
        </p:nvSpPr>
        <p:spPr>
          <a:xfrm xmlns:a="http://schemas.openxmlformats.org/drawingml/2006/main">
            <a:off x="533400" y="3314700"/>
            <a:ext cx="1790700" cy="7905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125" b="0">
                <a:solidFill>
                  <a:srgbClr val="172A3A"/>
                </a:solidFill>
                <a:latin typeface="Aptos"/>
                <a:ea typeface="Aptos"/>
                <a:cs typeface="Aptos"/>
              </a:defRPr>
            </a:pPr>
            <a:r>
              <a:rPr sz="1125" b="0">
                <a:solidFill>
                  <a:srgbClr val="172A3A"/>
                </a:solidFill>
                <a:latin typeface="Aptos"/>
                <a:ea typeface="Aptos"/>
                <a:cs typeface="Aptos"/>
              </a:rPr>
              <a:t>Source → destination → completion criterion → battery-specific effect</a:t>
            </a:r>
          </a:p>
        </p:txBody>
      </p:sp>
      <p:sp>
        <p:nvSpPr>
          <p:cNvPr id="15" name="">
            <a:extLst xmlns:a="http://schemas.openxmlformats.org/drawingml/2006/main">
              <a:ext uri="{FF2B5EF4-FFF2-40B4-BE49-F238E27FC236}">
                <a16:creationId xmlns:a16="http://schemas.microsoft.com/office/drawing/2014/main" id="{C919095F-2E9C-4D87-953F-6479B0C7E465}"/>
              </a:ext>
            </a:extLst>
          </p:cNvPr>
          <p:cNvSpPr>
            <a:spLocks xmlns:a="http://schemas.openxmlformats.org/drawingml/2006/main" noGrp="1"/>
          </p:cNvSpPr>
          <p:nvPr/>
        </p:nvSpPr>
        <p:spPr>
          <a:xfrm xmlns:a="http://schemas.openxmlformats.org/drawingml/2006/main">
            <a:off x="2476500" y="3162300"/>
            <a:ext cx="28575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buNone/>
              <a:defRPr sz="1650" b="1">
                <a:solidFill>
                  <a:srgbClr val="63717B"/>
                </a:solidFill>
                <a:latin typeface="Aptos"/>
                <a:ea typeface="Aptos"/>
                <a:cs typeface="Aptos"/>
              </a:defRPr>
            </a:pPr>
            <a:r>
              <a:rPr sz="1650" b="1">
                <a:solidFill>
                  <a:srgbClr val="63717B"/>
                </a:solidFill>
                <a:latin typeface="Aptos"/>
                <a:ea typeface="Aptos"/>
                <a:cs typeface="Aptos"/>
              </a:rPr>
              <a:t>→</a:t>
            </a:r>
          </a:p>
        </p:txBody>
      </p:sp>
      <p:sp>
        <p:nvSpPr>
          <p:cNvPr id="16" name="">
            <a:extLst xmlns:a="http://schemas.openxmlformats.org/drawingml/2006/main">
              <a:ext uri="{FF2B5EF4-FFF2-40B4-BE49-F238E27FC236}">
                <a16:creationId xmlns:a16="http://schemas.microsoft.com/office/drawing/2014/main" id="{565837BF-63DA-40D0-866D-89BD8F494A6F}"/>
              </a:ext>
            </a:extLst>
          </p:cNvPr>
          <p:cNvSpPr>
            <a:spLocks xmlns:a="http://schemas.openxmlformats.org/drawingml/2006/main" noGrp="1"/>
          </p:cNvSpPr>
          <p:nvPr/>
        </p:nvSpPr>
        <p:spPr>
          <a:xfrm xmlns:a="http://schemas.openxmlformats.org/drawingml/2006/main">
            <a:off x="2762250" y="2000250"/>
            <a:ext cx="523875" cy="4286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buNone/>
              <a:defRPr sz="2550" b="1">
                <a:solidFill>
                  <a:srgbClr val="D97941"/>
                </a:solidFill>
                <a:latin typeface="Aptos Display"/>
                <a:ea typeface="Aptos Display"/>
                <a:cs typeface="Aptos Display"/>
              </a:defRPr>
            </a:pPr>
            <a:r>
              <a:rPr sz="2550" b="1">
                <a:solidFill>
                  <a:srgbClr val="D97941"/>
                </a:solidFill>
                <a:latin typeface="Aptos Display"/>
                <a:ea typeface="Aptos Display"/>
                <a:cs typeface="Aptos Display"/>
              </a:rPr>
              <a:t>02</a:t>
            </a:r>
          </a:p>
        </p:txBody>
      </p:sp>
      <p:sp>
        <p:nvSpPr>
          <p:cNvPr id="17" name="next-step-2">
            <a:extLst xmlns:a="http://schemas.openxmlformats.org/drawingml/2006/main">
              <a:ext uri="{FF2B5EF4-FFF2-40B4-BE49-F238E27FC236}">
                <a16:creationId xmlns:a16="http://schemas.microsoft.com/office/drawing/2014/main" id="{9F892C74-3BC9-47DD-8668-BE81BFE1CF38}"/>
              </a:ext>
            </a:extLst>
          </p:cNvPr>
          <p:cNvSpPr>
            <a:spLocks xmlns:a="http://schemas.openxmlformats.org/drawingml/2006/main" noGrp="1"/>
          </p:cNvSpPr>
          <p:nvPr/>
        </p:nvSpPr>
        <p:spPr>
          <a:xfrm xmlns:a="http://schemas.openxmlformats.org/drawingml/2006/main">
            <a:off x="2762250" y="2476500"/>
            <a:ext cx="2095500" cy="1952625"/>
          </a:xfrm>
          <a:prstGeom xmlns:a="http://schemas.openxmlformats.org/drawingml/2006/main" prst="rect">
            <a:avLst/>
          </a:prstGeom>
          <a:solidFill xmlns:a="http://schemas.openxmlformats.org/drawingml/2006/main">
            <a:srgbClr val="F5E5D8"/>
          </a:solidFill>
          <a:ln xmlns:a="http://schemas.openxmlformats.org/drawingml/2006/main" w="9525">
            <a:solidFill>
              <a:srgbClr val="D6D5CE"/>
            </a:solidFill>
            <a:prstDash val="solid"/>
          </a:ln>
        </p:spPr>
      </p:sp>
      <p:sp>
        <p:nvSpPr>
          <p:cNvPr id="18" name="">
            <a:extLst xmlns:a="http://schemas.openxmlformats.org/drawingml/2006/main">
              <a:ext uri="{FF2B5EF4-FFF2-40B4-BE49-F238E27FC236}">
                <a16:creationId xmlns:a16="http://schemas.microsoft.com/office/drawing/2014/main" id="{77FFBF59-A138-4DB4-A46D-1900BFC5A917}"/>
              </a:ext>
            </a:extLst>
          </p:cNvPr>
          <p:cNvSpPr>
            <a:spLocks xmlns:a="http://schemas.openxmlformats.org/drawingml/2006/main" noGrp="1"/>
          </p:cNvSpPr>
          <p:nvPr/>
        </p:nvSpPr>
        <p:spPr>
          <a:xfrm xmlns:a="http://schemas.openxmlformats.org/drawingml/2006/main">
            <a:off x="2762250" y="2476500"/>
            <a:ext cx="2095500" cy="47625"/>
          </a:xfrm>
          <a:prstGeom xmlns:a="http://schemas.openxmlformats.org/drawingml/2006/main" prst="rect">
            <a:avLst/>
          </a:prstGeom>
          <a:solidFill xmlns:a="http://schemas.openxmlformats.org/drawingml/2006/main">
            <a:srgbClr val="D97941"/>
          </a:solidFill>
          <a:ln xmlns:a="http://schemas.openxmlformats.org/drawingml/2006/main" w="0">
            <a:solidFill>
              <a:srgbClr val="000000">
                <a:alpha val="0"/>
              </a:srgbClr>
            </a:solidFill>
            <a:prstDash val="solid"/>
          </a:ln>
        </p:spPr>
      </p:sp>
      <p:sp>
        <p:nvSpPr>
          <p:cNvPr id="19" name="">
            <a:extLst xmlns:a="http://schemas.openxmlformats.org/drawingml/2006/main">
              <a:ext uri="{FF2B5EF4-FFF2-40B4-BE49-F238E27FC236}">
                <a16:creationId xmlns:a16="http://schemas.microsoft.com/office/drawing/2014/main" id="{05D2949F-D30A-45E7-BBC1-11C29BF593D8}"/>
              </a:ext>
            </a:extLst>
          </p:cNvPr>
          <p:cNvSpPr>
            <a:spLocks xmlns:a="http://schemas.openxmlformats.org/drawingml/2006/main" noGrp="1"/>
          </p:cNvSpPr>
          <p:nvPr/>
        </p:nvSpPr>
        <p:spPr>
          <a:xfrm xmlns:a="http://schemas.openxmlformats.org/drawingml/2006/main">
            <a:off x="2914650" y="2686050"/>
            <a:ext cx="179070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buNone/>
              <a:defRPr sz="1350" b="1">
                <a:solidFill>
                  <a:srgbClr val="172A3A"/>
                </a:solidFill>
                <a:latin typeface="Aptos"/>
                <a:ea typeface="Aptos"/>
                <a:cs typeface="Aptos"/>
              </a:defRPr>
            </a:pPr>
            <a:r>
              <a:rPr sz="1350" b="1">
                <a:solidFill>
                  <a:srgbClr val="172A3A"/>
                </a:solidFill>
                <a:latin typeface="Aptos"/>
                <a:ea typeface="Aptos"/>
                <a:cs typeface="Aptos"/>
              </a:rPr>
              <a:t>Run the same questions</a:t>
            </a:r>
          </a:p>
        </p:txBody>
      </p:sp>
      <p:sp>
        <p:nvSpPr>
          <p:cNvPr id="20" name="">
            <a:extLst xmlns:a="http://schemas.openxmlformats.org/drawingml/2006/main">
              <a:ext uri="{FF2B5EF4-FFF2-40B4-BE49-F238E27FC236}">
                <a16:creationId xmlns:a16="http://schemas.microsoft.com/office/drawing/2014/main" id="{99CD0394-B3E9-4FA6-9AF6-7BD71D844E5D}"/>
              </a:ext>
            </a:extLst>
          </p:cNvPr>
          <p:cNvSpPr>
            <a:spLocks xmlns:a="http://schemas.openxmlformats.org/drawingml/2006/main" noGrp="1"/>
          </p:cNvSpPr>
          <p:nvPr/>
        </p:nvSpPr>
        <p:spPr>
          <a:xfrm xmlns:a="http://schemas.openxmlformats.org/drawingml/2006/main">
            <a:off x="2914650" y="3314700"/>
            <a:ext cx="1790700" cy="7905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125" b="0">
                <a:solidFill>
                  <a:srgbClr val="172A3A"/>
                </a:solidFill>
                <a:latin typeface="Aptos"/>
                <a:ea typeface="Aptos"/>
                <a:cs typeface="Aptos"/>
              </a:defRPr>
            </a:pPr>
            <a:r>
              <a:rPr sz="1125" b="0">
                <a:solidFill>
                  <a:srgbClr val="172A3A"/>
                </a:solidFill>
                <a:latin typeface="Aptos"/>
                <a:ea typeface="Aptos"/>
                <a:cs typeface="Aptos"/>
              </a:rPr>
              <a:t>Task → requirements → baseline → capabilities → conditional suitability</a:t>
            </a:r>
          </a:p>
        </p:txBody>
      </p:sp>
      <p:sp>
        <p:nvSpPr>
          <p:cNvPr id="21" name="">
            <a:extLst xmlns:a="http://schemas.openxmlformats.org/drawingml/2006/main">
              <a:ext uri="{FF2B5EF4-FFF2-40B4-BE49-F238E27FC236}">
                <a16:creationId xmlns:a16="http://schemas.microsoft.com/office/drawing/2014/main" id="{D1A5FCAC-15D7-40E1-918D-94CABFF37C09}"/>
              </a:ext>
            </a:extLst>
          </p:cNvPr>
          <p:cNvSpPr>
            <a:spLocks xmlns:a="http://schemas.openxmlformats.org/drawingml/2006/main" noGrp="1"/>
          </p:cNvSpPr>
          <p:nvPr/>
        </p:nvSpPr>
        <p:spPr>
          <a:xfrm xmlns:a="http://schemas.openxmlformats.org/drawingml/2006/main">
            <a:off x="4857750" y="3162300"/>
            <a:ext cx="28575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buNone/>
              <a:defRPr sz="1650" b="1">
                <a:solidFill>
                  <a:srgbClr val="63717B"/>
                </a:solidFill>
                <a:latin typeface="Aptos"/>
                <a:ea typeface="Aptos"/>
                <a:cs typeface="Aptos"/>
              </a:defRPr>
            </a:pPr>
            <a:r>
              <a:rPr sz="1650" b="1">
                <a:solidFill>
                  <a:srgbClr val="63717B"/>
                </a:solidFill>
                <a:latin typeface="Aptos"/>
                <a:ea typeface="Aptos"/>
                <a:cs typeface="Aptos"/>
              </a:rPr>
              <a:t>→</a:t>
            </a:r>
          </a:p>
        </p:txBody>
      </p:sp>
      <p:sp>
        <p:nvSpPr>
          <p:cNvPr id="22" name="">
            <a:extLst xmlns:a="http://schemas.openxmlformats.org/drawingml/2006/main">
              <a:ext uri="{FF2B5EF4-FFF2-40B4-BE49-F238E27FC236}">
                <a16:creationId xmlns:a16="http://schemas.microsoft.com/office/drawing/2014/main" id="{D22DA6FD-025F-4F75-B7C5-6BECE9F8A6E5}"/>
              </a:ext>
            </a:extLst>
          </p:cNvPr>
          <p:cNvSpPr>
            <a:spLocks xmlns:a="http://schemas.openxmlformats.org/drawingml/2006/main" noGrp="1"/>
          </p:cNvSpPr>
          <p:nvPr/>
        </p:nvSpPr>
        <p:spPr>
          <a:xfrm xmlns:a="http://schemas.openxmlformats.org/drawingml/2006/main">
            <a:off x="5143500" y="2000250"/>
            <a:ext cx="523875" cy="4286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buNone/>
              <a:defRPr sz="2550" b="1">
                <a:solidFill>
                  <a:srgbClr val="4E7897"/>
                </a:solidFill>
                <a:latin typeface="Aptos Display"/>
                <a:ea typeface="Aptos Display"/>
                <a:cs typeface="Aptos Display"/>
              </a:defRPr>
            </a:pPr>
            <a:r>
              <a:rPr sz="2550" b="1">
                <a:solidFill>
                  <a:srgbClr val="4E7897"/>
                </a:solidFill>
                <a:latin typeface="Aptos Display"/>
                <a:ea typeface="Aptos Display"/>
                <a:cs typeface="Aptos Display"/>
              </a:rPr>
              <a:t>03</a:t>
            </a:r>
          </a:p>
        </p:txBody>
      </p:sp>
      <p:sp>
        <p:nvSpPr>
          <p:cNvPr id="23" name="next-step-3">
            <a:extLst xmlns:a="http://schemas.openxmlformats.org/drawingml/2006/main">
              <a:ext uri="{FF2B5EF4-FFF2-40B4-BE49-F238E27FC236}">
                <a16:creationId xmlns:a16="http://schemas.microsoft.com/office/drawing/2014/main" id="{9064D1D5-C1C5-4E7D-A8A7-2BAA02CA47B7}"/>
              </a:ext>
            </a:extLst>
          </p:cNvPr>
          <p:cNvSpPr>
            <a:spLocks xmlns:a="http://schemas.openxmlformats.org/drawingml/2006/main" noGrp="1"/>
          </p:cNvSpPr>
          <p:nvPr/>
        </p:nvSpPr>
        <p:spPr>
          <a:xfrm xmlns:a="http://schemas.openxmlformats.org/drawingml/2006/main">
            <a:off x="5143500" y="2476500"/>
            <a:ext cx="2095500" cy="1952625"/>
          </a:xfrm>
          <a:prstGeom xmlns:a="http://schemas.openxmlformats.org/drawingml/2006/main" prst="rect">
            <a:avLst/>
          </a:prstGeom>
          <a:solidFill xmlns:a="http://schemas.openxmlformats.org/drawingml/2006/main">
            <a:srgbClr val="E4EBF0"/>
          </a:solidFill>
          <a:ln xmlns:a="http://schemas.openxmlformats.org/drawingml/2006/main" w="9525">
            <a:solidFill>
              <a:srgbClr val="D6D5CE"/>
            </a:solidFill>
            <a:prstDash val="solid"/>
          </a:ln>
        </p:spPr>
      </p:sp>
      <p:sp>
        <p:nvSpPr>
          <p:cNvPr id="24" name="">
            <a:extLst xmlns:a="http://schemas.openxmlformats.org/drawingml/2006/main">
              <a:ext uri="{FF2B5EF4-FFF2-40B4-BE49-F238E27FC236}">
                <a16:creationId xmlns:a16="http://schemas.microsoft.com/office/drawing/2014/main" id="{AFD970E1-8166-421D-A604-08E62B55E6B2}"/>
              </a:ext>
            </a:extLst>
          </p:cNvPr>
          <p:cNvSpPr>
            <a:spLocks xmlns:a="http://schemas.openxmlformats.org/drawingml/2006/main" noGrp="1"/>
          </p:cNvSpPr>
          <p:nvPr/>
        </p:nvSpPr>
        <p:spPr>
          <a:xfrm xmlns:a="http://schemas.openxmlformats.org/drawingml/2006/main">
            <a:off x="5143500" y="2476500"/>
            <a:ext cx="2095500" cy="47625"/>
          </a:xfrm>
          <a:prstGeom xmlns:a="http://schemas.openxmlformats.org/drawingml/2006/main" prst="rect">
            <a:avLst/>
          </a:prstGeom>
          <a:solidFill xmlns:a="http://schemas.openxmlformats.org/drawingml/2006/main">
            <a:srgbClr val="4E7897"/>
          </a:solidFill>
          <a:ln xmlns:a="http://schemas.openxmlformats.org/drawingml/2006/main" w="0">
            <a:solidFill>
              <a:srgbClr val="000000">
                <a:alpha val="0"/>
              </a:srgbClr>
            </a:solidFill>
            <a:prstDash val="solid"/>
          </a:ln>
        </p:spPr>
      </p:sp>
      <p:sp>
        <p:nvSpPr>
          <p:cNvPr id="25" name="">
            <a:extLst xmlns:a="http://schemas.openxmlformats.org/drawingml/2006/main">
              <a:ext uri="{FF2B5EF4-FFF2-40B4-BE49-F238E27FC236}">
                <a16:creationId xmlns:a16="http://schemas.microsoft.com/office/drawing/2014/main" id="{1E7B102B-249D-4802-9CA0-83DFCF8B8EFB}"/>
              </a:ext>
            </a:extLst>
          </p:cNvPr>
          <p:cNvSpPr>
            <a:spLocks xmlns:a="http://schemas.openxmlformats.org/drawingml/2006/main" noGrp="1"/>
          </p:cNvSpPr>
          <p:nvPr/>
        </p:nvSpPr>
        <p:spPr>
          <a:xfrm xmlns:a="http://schemas.openxmlformats.org/drawingml/2006/main">
            <a:off x="5295900" y="2686050"/>
            <a:ext cx="179070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buNone/>
              <a:defRPr sz="1350" b="1">
                <a:solidFill>
                  <a:srgbClr val="172A3A"/>
                </a:solidFill>
                <a:latin typeface="Aptos"/>
                <a:ea typeface="Aptos"/>
                <a:cs typeface="Aptos"/>
              </a:defRPr>
            </a:pPr>
            <a:r>
              <a:rPr sz="1350" b="1">
                <a:solidFill>
                  <a:srgbClr val="172A3A"/>
                </a:solidFill>
                <a:latin typeface="Aptos"/>
                <a:ea typeface="Aptos"/>
                <a:cs typeface="Aptos"/>
              </a:rPr>
              <a:t>Compare what transfers</a:t>
            </a:r>
          </a:p>
        </p:txBody>
      </p:sp>
      <p:sp>
        <p:nvSpPr>
          <p:cNvPr id="26" name="">
            <a:extLst xmlns:a="http://schemas.openxmlformats.org/drawingml/2006/main">
              <a:ext uri="{FF2B5EF4-FFF2-40B4-BE49-F238E27FC236}">
                <a16:creationId xmlns:a16="http://schemas.microsoft.com/office/drawing/2014/main" id="{750DCE6D-3E1B-4DDA-BB7D-0077D8C616B6}"/>
              </a:ext>
            </a:extLst>
          </p:cNvPr>
          <p:cNvSpPr>
            <a:spLocks xmlns:a="http://schemas.openxmlformats.org/drawingml/2006/main" noGrp="1"/>
          </p:cNvSpPr>
          <p:nvPr/>
        </p:nvSpPr>
        <p:spPr>
          <a:xfrm xmlns:a="http://schemas.openxmlformats.org/drawingml/2006/main">
            <a:off x="5295900" y="3314700"/>
            <a:ext cx="1790700" cy="7905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125" b="0">
                <a:solidFill>
                  <a:srgbClr val="172A3A"/>
                </a:solidFill>
                <a:latin typeface="Aptos"/>
                <a:ea typeface="Aptos"/>
                <a:cs typeface="Aptos"/>
              </a:defRPr>
            </a:pPr>
            <a:r>
              <a:rPr sz="1125" b="0">
                <a:solidFill>
                  <a:srgbClr val="172A3A"/>
                </a:solidFill>
                <a:latin typeface="Aptos"/>
                <a:ea typeface="Aptos"/>
                <a:cs typeface="Aptos"/>
              </a:rPr>
              <a:t>Keep the assessment logic; re-derive the case-specific answers and evidence needs</a:t>
            </a:r>
          </a:p>
        </p:txBody>
      </p:sp>
      <p:sp>
        <p:nvSpPr>
          <p:cNvPr id="27" name="thomas-decisions">
            <a:extLst xmlns:a="http://schemas.openxmlformats.org/drawingml/2006/main">
              <a:ext uri="{FF2B5EF4-FFF2-40B4-BE49-F238E27FC236}">
                <a16:creationId xmlns:a16="http://schemas.microsoft.com/office/drawing/2014/main" id="{D7791D58-4CC8-44FC-AB6A-CE26E8686721}"/>
              </a:ext>
            </a:extLst>
          </p:cNvPr>
          <p:cNvSpPr>
            <a:spLocks xmlns:a="http://schemas.openxmlformats.org/drawingml/2006/main" noGrp="1"/>
          </p:cNvSpPr>
          <p:nvPr/>
        </p:nvSpPr>
        <p:spPr>
          <a:xfrm xmlns:a="http://schemas.openxmlformats.org/drawingml/2006/main">
            <a:off x="7667625" y="1571625"/>
            <a:ext cx="4143375" cy="2857500"/>
          </a:xfrm>
          <a:prstGeom xmlns:a="http://schemas.openxmlformats.org/drawingml/2006/main" prst="rect">
            <a:avLst/>
          </a:prstGeom>
          <a:solidFill xmlns:a="http://schemas.openxmlformats.org/drawingml/2006/main">
            <a:srgbClr val="172A3A"/>
          </a:solidFill>
          <a:ln xmlns:a="http://schemas.openxmlformats.org/drawingml/2006/main" w="0">
            <a:solidFill>
              <a:srgbClr val="000000">
                <a:alpha val="0"/>
              </a:srgbClr>
            </a:solidFill>
            <a:prstDash val="solid"/>
          </a:ln>
        </p:spPr>
      </p:sp>
      <p:sp>
        <p:nvSpPr>
          <p:cNvPr id="28" name="">
            <a:extLst xmlns:a="http://schemas.openxmlformats.org/drawingml/2006/main">
              <a:ext uri="{FF2B5EF4-FFF2-40B4-BE49-F238E27FC236}">
                <a16:creationId xmlns:a16="http://schemas.microsoft.com/office/drawing/2014/main" id="{D2544098-2252-461A-9326-CB0166FF6227}"/>
              </a:ext>
            </a:extLst>
          </p:cNvPr>
          <p:cNvSpPr>
            <a:spLocks xmlns:a="http://schemas.openxmlformats.org/drawingml/2006/main" noGrp="1"/>
          </p:cNvSpPr>
          <p:nvPr/>
        </p:nvSpPr>
        <p:spPr>
          <a:xfrm xmlns:a="http://schemas.openxmlformats.org/drawingml/2006/main">
            <a:off x="7886700" y="1743075"/>
            <a:ext cx="37147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buNone/>
              <a:defRPr sz="975" b="1">
                <a:solidFill>
                  <a:srgbClr val="BFD5C9"/>
                </a:solidFill>
                <a:latin typeface="Aptos"/>
                <a:ea typeface="Aptos"/>
                <a:cs typeface="Aptos"/>
              </a:defRPr>
            </a:pPr>
            <a:r>
              <a:rPr sz="975" b="1">
                <a:solidFill>
                  <a:srgbClr val="BFD5C9"/>
                </a:solidFill>
                <a:latin typeface="Aptos"/>
                <a:ea typeface="Aptos"/>
                <a:cs typeface="Aptos"/>
              </a:rPr>
              <a:t>THOMAS — THREE DECISIONS</a:t>
            </a:r>
          </a:p>
        </p:txBody>
      </p:sp>
      <p:sp>
        <p:nvSpPr>
          <p:cNvPr id="29" name="">
            <a:extLst xmlns:a="http://schemas.openxmlformats.org/drawingml/2006/main">
              <a:ext uri="{FF2B5EF4-FFF2-40B4-BE49-F238E27FC236}">
                <a16:creationId xmlns:a16="http://schemas.microsoft.com/office/drawing/2014/main" id="{3E42C8C7-084C-4B0F-836C-1D623650F8F2}"/>
              </a:ext>
            </a:extLst>
          </p:cNvPr>
          <p:cNvSpPr>
            <a:spLocks xmlns:a="http://schemas.openxmlformats.org/drawingml/2006/main" noGrp="1"/>
          </p:cNvSpPr>
          <p:nvPr/>
        </p:nvSpPr>
        <p:spPr>
          <a:xfrm xmlns:a="http://schemas.openxmlformats.org/drawingml/2006/main">
            <a:off x="7886700" y="2209800"/>
            <a:ext cx="266700" cy="266700"/>
          </a:xfrm>
          <a:prstGeom xmlns:a="http://schemas.openxmlformats.org/drawingml/2006/main" prst="ellipse">
            <a:avLst/>
          </a:prstGeom>
          <a:solidFill xmlns:a="http://schemas.openxmlformats.org/drawingml/2006/main">
            <a:srgbClr val="2F6B57"/>
          </a:solidFill>
          <a:ln xmlns:a="http://schemas.openxmlformats.org/drawingml/2006/main" w="0">
            <a:solidFill>
              <a:srgbClr val="000000">
                <a:alpha val="0"/>
              </a:srgbClr>
            </a:solidFill>
            <a:prstDash val="solid"/>
          </a:ln>
        </p:spPr>
      </p:sp>
      <p:sp>
        <p:nvSpPr>
          <p:cNvPr id="30" name="">
            <a:extLst xmlns:a="http://schemas.openxmlformats.org/drawingml/2006/main">
              <a:ext uri="{FF2B5EF4-FFF2-40B4-BE49-F238E27FC236}">
                <a16:creationId xmlns:a16="http://schemas.microsoft.com/office/drawing/2014/main" id="{48635D53-DBA1-4026-B1F8-4E21BBE68903}"/>
              </a:ext>
            </a:extLst>
          </p:cNvPr>
          <p:cNvSpPr>
            <a:spLocks xmlns:a="http://schemas.openxmlformats.org/drawingml/2006/main" noGrp="1"/>
          </p:cNvSpPr>
          <p:nvPr/>
        </p:nvSpPr>
        <p:spPr>
          <a:xfrm xmlns:a="http://schemas.openxmlformats.org/drawingml/2006/main">
            <a:off x="7886700" y="2209800"/>
            <a:ext cx="2667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buNone/>
              <a:defRPr sz="975" b="1">
                <a:solidFill>
                  <a:srgbClr val="FFFDF8"/>
                </a:solidFill>
                <a:latin typeface="Aptos"/>
                <a:ea typeface="Aptos"/>
                <a:cs typeface="Aptos"/>
              </a:defRPr>
            </a:pPr>
            <a:r>
              <a:rPr sz="975" b="1">
                <a:solidFill>
                  <a:srgbClr val="FFFDF8"/>
                </a:solidFill>
                <a:latin typeface="Aptos"/>
                <a:ea typeface="Aptos"/>
                <a:cs typeface="Aptos"/>
              </a:rPr>
              <a:t>1</a:t>
            </a:r>
          </a:p>
        </p:txBody>
      </p:sp>
      <p:sp>
        <p:nvSpPr>
          <p:cNvPr id="31" name="">
            <a:extLst xmlns:a="http://schemas.openxmlformats.org/drawingml/2006/main">
              <a:ext uri="{FF2B5EF4-FFF2-40B4-BE49-F238E27FC236}">
                <a16:creationId xmlns:a16="http://schemas.microsoft.com/office/drawing/2014/main" id="{1E012BD8-710B-476B-9F56-35CE23124E0E}"/>
              </a:ext>
            </a:extLst>
          </p:cNvPr>
          <p:cNvSpPr>
            <a:spLocks xmlns:a="http://schemas.openxmlformats.org/drawingml/2006/main" noGrp="1"/>
          </p:cNvSpPr>
          <p:nvPr/>
        </p:nvSpPr>
        <p:spPr>
          <a:xfrm xmlns:a="http://schemas.openxmlformats.org/drawingml/2006/main">
            <a:off x="8305800" y="2171700"/>
            <a:ext cx="3048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buNone/>
              <a:defRPr sz="1125" b="1">
                <a:solidFill>
                  <a:srgbClr val="FFFDF8"/>
                </a:solidFill>
                <a:latin typeface="Aptos"/>
                <a:ea typeface="Aptos"/>
                <a:cs typeface="Aptos"/>
              </a:defRPr>
            </a:pPr>
            <a:r>
              <a:rPr sz="1125" b="1">
                <a:solidFill>
                  <a:srgbClr val="FFFDF8"/>
                </a:solidFill>
                <a:latin typeface="Aptos"/>
                <a:ea typeface="Aptos"/>
                <a:cs typeface="Aptos"/>
              </a:rPr>
              <a:t>Registration proposal</a:t>
            </a:r>
          </a:p>
        </p:txBody>
      </p:sp>
      <p:sp>
        <p:nvSpPr>
          <p:cNvPr id="32" name="">
            <a:extLst xmlns:a="http://schemas.openxmlformats.org/drawingml/2006/main">
              <a:ext uri="{FF2B5EF4-FFF2-40B4-BE49-F238E27FC236}">
                <a16:creationId xmlns:a16="http://schemas.microsoft.com/office/drawing/2014/main" id="{325F2445-8C5F-43BB-B2EE-98A3CA43A496}"/>
              </a:ext>
            </a:extLst>
          </p:cNvPr>
          <p:cNvSpPr>
            <a:spLocks xmlns:a="http://schemas.openxmlformats.org/drawingml/2006/main" noGrp="1"/>
          </p:cNvSpPr>
          <p:nvPr/>
        </p:nvSpPr>
        <p:spPr>
          <a:xfrm xmlns:a="http://schemas.openxmlformats.org/drawingml/2006/main">
            <a:off x="8305800" y="2409825"/>
            <a:ext cx="31432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75" b="0">
                <a:solidFill>
                  <a:srgbClr val="D7E0E5"/>
                </a:solidFill>
                <a:latin typeface="Aptos"/>
                <a:ea typeface="Aptos"/>
                <a:cs typeface="Aptos"/>
              </a:defRPr>
            </a:pPr>
            <a:r>
              <a:rPr sz="975" b="0">
                <a:solidFill>
                  <a:srgbClr val="D7E0E5"/>
                </a:solidFill>
                <a:latin typeface="Aptos"/>
                <a:ea typeface="Aptos"/>
                <a:cs typeface="Aptos"/>
              </a:rPr>
              <a:t>Confirm or revise the proposed title and three RQs.</a:t>
            </a:r>
          </a:p>
        </p:txBody>
      </p:sp>
      <p:sp>
        <p:nvSpPr>
          <p:cNvPr id="33" name="">
            <a:extLst xmlns:a="http://schemas.openxmlformats.org/drawingml/2006/main">
              <a:ext uri="{FF2B5EF4-FFF2-40B4-BE49-F238E27FC236}">
                <a16:creationId xmlns:a16="http://schemas.microsoft.com/office/drawing/2014/main" id="{E5FFF109-1C5F-4103-A1F4-27487D6E8650}"/>
              </a:ext>
            </a:extLst>
          </p:cNvPr>
          <p:cNvSpPr>
            <a:spLocks xmlns:a="http://schemas.openxmlformats.org/drawingml/2006/main" noGrp="1"/>
          </p:cNvSpPr>
          <p:nvPr/>
        </p:nvSpPr>
        <p:spPr>
          <a:xfrm xmlns:a="http://schemas.openxmlformats.org/drawingml/2006/main">
            <a:off x="7886700" y="2895600"/>
            <a:ext cx="266700" cy="266700"/>
          </a:xfrm>
          <a:prstGeom xmlns:a="http://schemas.openxmlformats.org/drawingml/2006/main" prst="ellipse">
            <a:avLst/>
          </a:prstGeom>
          <a:solidFill xmlns:a="http://schemas.openxmlformats.org/drawingml/2006/main">
            <a:srgbClr val="D97941"/>
          </a:solidFill>
          <a:ln xmlns:a="http://schemas.openxmlformats.org/drawingml/2006/main" w="0">
            <a:solidFill>
              <a:srgbClr val="000000">
                <a:alpha val="0"/>
              </a:srgbClr>
            </a:solidFill>
            <a:prstDash val="solid"/>
          </a:ln>
        </p:spPr>
      </p:sp>
      <p:sp>
        <p:nvSpPr>
          <p:cNvPr id="34" name="">
            <a:extLst xmlns:a="http://schemas.openxmlformats.org/drawingml/2006/main">
              <a:ext uri="{FF2B5EF4-FFF2-40B4-BE49-F238E27FC236}">
                <a16:creationId xmlns:a16="http://schemas.microsoft.com/office/drawing/2014/main" id="{DF0B7A84-3005-4803-8566-A8A0C6422287}"/>
              </a:ext>
            </a:extLst>
          </p:cNvPr>
          <p:cNvSpPr>
            <a:spLocks xmlns:a="http://schemas.openxmlformats.org/drawingml/2006/main" noGrp="1"/>
          </p:cNvSpPr>
          <p:nvPr/>
        </p:nvSpPr>
        <p:spPr>
          <a:xfrm xmlns:a="http://schemas.openxmlformats.org/drawingml/2006/main">
            <a:off x="7886700" y="2895600"/>
            <a:ext cx="2667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buNone/>
              <a:defRPr sz="975" b="1">
                <a:solidFill>
                  <a:srgbClr val="FFFDF8"/>
                </a:solidFill>
                <a:latin typeface="Aptos"/>
                <a:ea typeface="Aptos"/>
                <a:cs typeface="Aptos"/>
              </a:defRPr>
            </a:pPr>
            <a:r>
              <a:rPr sz="975" b="1">
                <a:solidFill>
                  <a:srgbClr val="FFFDF8"/>
                </a:solidFill>
                <a:latin typeface="Aptos"/>
                <a:ea typeface="Aptos"/>
                <a:cs typeface="Aptos"/>
              </a:rPr>
              <a:t>2</a:t>
            </a:r>
          </a:p>
        </p:txBody>
      </p:sp>
      <p:sp>
        <p:nvSpPr>
          <p:cNvPr id="35" name="">
            <a:extLst xmlns:a="http://schemas.openxmlformats.org/drawingml/2006/main">
              <a:ext uri="{FF2B5EF4-FFF2-40B4-BE49-F238E27FC236}">
                <a16:creationId xmlns:a16="http://schemas.microsoft.com/office/drawing/2014/main" id="{6DBD62A6-890B-4467-B94C-B19885E7DF90}"/>
              </a:ext>
            </a:extLst>
          </p:cNvPr>
          <p:cNvSpPr>
            <a:spLocks xmlns:a="http://schemas.openxmlformats.org/drawingml/2006/main" noGrp="1"/>
          </p:cNvSpPr>
          <p:nvPr/>
        </p:nvSpPr>
        <p:spPr>
          <a:xfrm xmlns:a="http://schemas.openxmlformats.org/drawingml/2006/main">
            <a:off x="8305800" y="2857500"/>
            <a:ext cx="3048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buNone/>
              <a:defRPr sz="1125" b="1">
                <a:solidFill>
                  <a:srgbClr val="FFFDF8"/>
                </a:solidFill>
                <a:latin typeface="Aptos"/>
                <a:ea typeface="Aptos"/>
                <a:cs typeface="Aptos"/>
              </a:defRPr>
            </a:pPr>
            <a:r>
              <a:rPr sz="1125" b="1">
                <a:solidFill>
                  <a:srgbClr val="FFFDF8"/>
                </a:solidFill>
                <a:latin typeface="Aptos"/>
                <a:ea typeface="Aptos"/>
                <a:cs typeface="Aptos"/>
              </a:rPr>
              <a:t>Production-level scope</a:t>
            </a:r>
          </a:p>
        </p:txBody>
      </p:sp>
      <p:sp>
        <p:nvSpPr>
          <p:cNvPr id="36" name="">
            <a:extLst xmlns:a="http://schemas.openxmlformats.org/drawingml/2006/main">
              <a:ext uri="{FF2B5EF4-FFF2-40B4-BE49-F238E27FC236}">
                <a16:creationId xmlns:a16="http://schemas.microsoft.com/office/drawing/2014/main" id="{1DB553E0-3621-4117-B2E5-5C2933DEF01E}"/>
              </a:ext>
            </a:extLst>
          </p:cNvPr>
          <p:cNvSpPr>
            <a:spLocks xmlns:a="http://schemas.openxmlformats.org/drawingml/2006/main" noGrp="1"/>
          </p:cNvSpPr>
          <p:nvPr/>
        </p:nvSpPr>
        <p:spPr>
          <a:xfrm xmlns:a="http://schemas.openxmlformats.org/drawingml/2006/main">
            <a:off x="8305800" y="3095625"/>
            <a:ext cx="31432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75" b="0">
                <a:solidFill>
                  <a:srgbClr val="D7E0E5"/>
                </a:solidFill>
                <a:latin typeface="Aptos"/>
                <a:ea typeface="Aptos"/>
                <a:cs typeface="Aptos"/>
              </a:defRPr>
            </a:pPr>
            <a:r>
              <a:rPr sz="975" b="0">
                <a:solidFill>
                  <a:srgbClr val="D7E0E5"/>
                </a:solidFill>
                <a:latin typeface="Aptos"/>
                <a:ea typeface="Aptos"/>
                <a:cs typeface="Aptos"/>
              </a:rPr>
              <a:t>Explicitly include selected module/pack cases alongside cell-production applications?</a:t>
            </a:r>
          </a:p>
        </p:txBody>
      </p:sp>
      <p:sp>
        <p:nvSpPr>
          <p:cNvPr id="37" name="">
            <a:extLst xmlns:a="http://schemas.openxmlformats.org/drawingml/2006/main">
              <a:ext uri="{FF2B5EF4-FFF2-40B4-BE49-F238E27FC236}">
                <a16:creationId xmlns:a16="http://schemas.microsoft.com/office/drawing/2014/main" id="{280F640F-37AA-41F7-BFEA-E59A437A62FC}"/>
              </a:ext>
            </a:extLst>
          </p:cNvPr>
          <p:cNvSpPr>
            <a:spLocks xmlns:a="http://schemas.openxmlformats.org/drawingml/2006/main" noGrp="1"/>
          </p:cNvSpPr>
          <p:nvPr/>
        </p:nvSpPr>
        <p:spPr>
          <a:xfrm xmlns:a="http://schemas.openxmlformats.org/drawingml/2006/main">
            <a:off x="7886700" y="3581400"/>
            <a:ext cx="266700" cy="266700"/>
          </a:xfrm>
          <a:prstGeom xmlns:a="http://schemas.openxmlformats.org/drawingml/2006/main" prst="ellipse">
            <a:avLst/>
          </a:prstGeom>
          <a:solidFill xmlns:a="http://schemas.openxmlformats.org/drawingml/2006/main">
            <a:srgbClr val="4E7897"/>
          </a:solidFill>
          <a:ln xmlns:a="http://schemas.openxmlformats.org/drawingml/2006/main" w="0">
            <a:solidFill>
              <a:srgbClr val="000000">
                <a:alpha val="0"/>
              </a:srgbClr>
            </a:solidFill>
            <a:prstDash val="solid"/>
          </a:ln>
        </p:spPr>
      </p:sp>
      <p:sp>
        <p:nvSpPr>
          <p:cNvPr id="38" name="">
            <a:extLst xmlns:a="http://schemas.openxmlformats.org/drawingml/2006/main">
              <a:ext uri="{FF2B5EF4-FFF2-40B4-BE49-F238E27FC236}">
                <a16:creationId xmlns:a16="http://schemas.microsoft.com/office/drawing/2014/main" id="{01747013-7018-466C-BF28-91E898A41DF9}"/>
              </a:ext>
            </a:extLst>
          </p:cNvPr>
          <p:cNvSpPr>
            <a:spLocks xmlns:a="http://schemas.openxmlformats.org/drawingml/2006/main" noGrp="1"/>
          </p:cNvSpPr>
          <p:nvPr/>
        </p:nvSpPr>
        <p:spPr>
          <a:xfrm xmlns:a="http://schemas.openxmlformats.org/drawingml/2006/main">
            <a:off x="7886700" y="3581400"/>
            <a:ext cx="2667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buNone/>
              <a:defRPr sz="975" b="1">
                <a:solidFill>
                  <a:srgbClr val="FFFDF8"/>
                </a:solidFill>
                <a:latin typeface="Aptos"/>
                <a:ea typeface="Aptos"/>
                <a:cs typeface="Aptos"/>
              </a:defRPr>
            </a:pPr>
            <a:r>
              <a:rPr sz="975" b="1">
                <a:solidFill>
                  <a:srgbClr val="FFFDF8"/>
                </a:solidFill>
                <a:latin typeface="Aptos"/>
                <a:ea typeface="Aptos"/>
                <a:cs typeface="Aptos"/>
              </a:rPr>
              <a:t>3</a:t>
            </a:r>
          </a:p>
        </p:txBody>
      </p:sp>
      <p:sp>
        <p:nvSpPr>
          <p:cNvPr id="39" name="">
            <a:extLst xmlns:a="http://schemas.openxmlformats.org/drawingml/2006/main">
              <a:ext uri="{FF2B5EF4-FFF2-40B4-BE49-F238E27FC236}">
                <a16:creationId xmlns:a16="http://schemas.microsoft.com/office/drawing/2014/main" id="{96E60EB6-3A97-4454-9F88-E9AD1F440569}"/>
              </a:ext>
            </a:extLst>
          </p:cNvPr>
          <p:cNvSpPr>
            <a:spLocks xmlns:a="http://schemas.openxmlformats.org/drawingml/2006/main" noGrp="1"/>
          </p:cNvSpPr>
          <p:nvPr/>
        </p:nvSpPr>
        <p:spPr>
          <a:xfrm xmlns:a="http://schemas.openxmlformats.org/drawingml/2006/main">
            <a:off x="8305800" y="3543300"/>
            <a:ext cx="3048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buNone/>
              <a:defRPr sz="1125" b="1">
                <a:solidFill>
                  <a:srgbClr val="FFFDF8"/>
                </a:solidFill>
                <a:latin typeface="Aptos"/>
                <a:ea typeface="Aptos"/>
                <a:cs typeface="Aptos"/>
              </a:defRPr>
            </a:pPr>
            <a:r>
              <a:rPr sz="1125" b="1">
                <a:solidFill>
                  <a:srgbClr val="FFFDF8"/>
                </a:solidFill>
                <a:latin typeface="Aptos"/>
                <a:ea typeface="Aptos"/>
                <a:cs typeface="Aptos"/>
              </a:rPr>
              <a:t>Research route</a:t>
            </a:r>
          </a:p>
        </p:txBody>
      </p:sp>
      <p:sp>
        <p:nvSpPr>
          <p:cNvPr id="40" name="">
            <a:extLst xmlns:a="http://schemas.openxmlformats.org/drawingml/2006/main">
              <a:ext uri="{FF2B5EF4-FFF2-40B4-BE49-F238E27FC236}">
                <a16:creationId xmlns:a16="http://schemas.microsoft.com/office/drawing/2014/main" id="{DD766204-48A1-48D4-A863-21AEA92D38F9}"/>
              </a:ext>
            </a:extLst>
          </p:cNvPr>
          <p:cNvSpPr>
            <a:spLocks xmlns:a="http://schemas.openxmlformats.org/drawingml/2006/main" noGrp="1"/>
          </p:cNvSpPr>
          <p:nvPr/>
        </p:nvSpPr>
        <p:spPr>
          <a:xfrm xmlns:a="http://schemas.openxmlformats.org/drawingml/2006/main">
            <a:off x="8305800" y="3781425"/>
            <a:ext cx="31432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75" b="0">
                <a:solidFill>
                  <a:srgbClr val="D7E0E5"/>
                </a:solidFill>
                <a:latin typeface="Aptos"/>
                <a:ea typeface="Aptos"/>
                <a:cs typeface="Aptos"/>
              </a:defRPr>
            </a:pPr>
            <a:r>
              <a:rPr sz="975" b="0">
                <a:solidFill>
                  <a:srgbClr val="D7E0E5"/>
                </a:solidFill>
                <a:latin typeface="Aptos"/>
                <a:ea typeface="Aptos"/>
                <a:cs typeface="Aptos"/>
              </a:rPr>
              <a:t>Deep case → framework → adjacent case(s) → cross-case comparison?</a:t>
            </a:r>
          </a:p>
        </p:txBody>
      </p:sp>
      <p:sp>
        <p:nvSpPr>
          <p:cNvPr id="41" name="">
            <a:extLst xmlns:a="http://schemas.openxmlformats.org/drawingml/2006/main">
              <a:ext uri="{FF2B5EF4-FFF2-40B4-BE49-F238E27FC236}">
                <a16:creationId xmlns:a16="http://schemas.microsoft.com/office/drawing/2014/main" id="{FDAB15B2-D5FA-47EC-BAE6-AB511A8F31AC}"/>
              </a:ext>
            </a:extLst>
          </p:cNvPr>
          <p:cNvSpPr>
            <a:spLocks xmlns:a="http://schemas.openxmlformats.org/drawingml/2006/main" noGrp="1"/>
          </p:cNvSpPr>
          <p:nvPr/>
        </p:nvSpPr>
        <p:spPr>
          <a:xfrm xmlns:a="http://schemas.openxmlformats.org/drawingml/2006/main">
            <a:off x="381000" y="4743450"/>
            <a:ext cx="11430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buNone/>
              <a:defRPr sz="900" b="1">
                <a:solidFill>
                  <a:srgbClr val="2F6B57"/>
                </a:solidFill>
                <a:latin typeface="Aptos"/>
                <a:ea typeface="Aptos"/>
                <a:cs typeface="Aptos"/>
              </a:defRPr>
            </a:pPr>
            <a:r>
              <a:rPr sz="900" b="1">
                <a:solidFill>
                  <a:srgbClr val="2F6B57"/>
                </a:solidFill>
                <a:latin typeface="Aptos"/>
                <a:ea typeface="Aptos"/>
                <a:cs typeface="Aptos"/>
              </a:rPr>
              <a:t>WEEK 06 STATUS</a:t>
            </a:r>
          </a:p>
        </p:txBody>
      </p:sp>
      <p:sp>
        <p:nvSpPr>
          <p:cNvPr id="42" name="pill-DEEP CASE CONTINUES">
            <a:extLst xmlns:a="http://schemas.openxmlformats.org/drawingml/2006/main">
              <a:ext uri="{FF2B5EF4-FFF2-40B4-BE49-F238E27FC236}">
                <a16:creationId xmlns:a16="http://schemas.microsoft.com/office/drawing/2014/main" id="{4B8A364A-E14C-4C99-B799-28BC1F7441FE}"/>
              </a:ext>
            </a:extLst>
          </p:cNvPr>
          <p:cNvSpPr>
            <a:spLocks xmlns:a="http://schemas.openxmlformats.org/drawingml/2006/main" noGrp="1"/>
          </p:cNvSpPr>
          <p:nvPr/>
        </p:nvSpPr>
        <p:spPr>
          <a:xfrm xmlns:a="http://schemas.openxmlformats.org/drawingml/2006/main">
            <a:off x="381000" y="5086350"/>
            <a:ext cx="2333625" cy="238125"/>
          </a:xfrm>
          <a:prstGeom xmlns:a="http://schemas.openxmlformats.org/drawingml/2006/main" prst="rect">
            <a:avLst/>
          </a:prstGeom>
          <a:solidFill xmlns:a="http://schemas.openxmlformats.org/drawingml/2006/main">
            <a:srgbClr val="2F6B57"/>
          </a:solidFill>
          <a:ln xmlns:a="http://schemas.openxmlformats.org/drawingml/2006/main" w="0">
            <a:solidFill>
              <a:srgbClr val="2F6B57"/>
            </a:solidFill>
            <a:prstDash val="solid"/>
          </a:ln>
        </p:spPr>
      </p:sp>
      <p:sp>
        <p:nvSpPr>
          <p:cNvPr id="43" name="">
            <a:extLst xmlns:a="http://schemas.openxmlformats.org/drawingml/2006/main">
              <a:ext uri="{FF2B5EF4-FFF2-40B4-BE49-F238E27FC236}">
                <a16:creationId xmlns:a16="http://schemas.microsoft.com/office/drawing/2014/main" id="{823CBED0-F1A0-4EF5-9503-4DBD5895A420}"/>
              </a:ext>
            </a:extLst>
          </p:cNvPr>
          <p:cNvSpPr>
            <a:spLocks xmlns:a="http://schemas.openxmlformats.org/drawingml/2006/main" noGrp="1"/>
          </p:cNvSpPr>
          <p:nvPr/>
        </p:nvSpPr>
        <p:spPr>
          <a:xfrm xmlns:a="http://schemas.openxmlformats.org/drawingml/2006/main">
            <a:off x="447675" y="5105400"/>
            <a:ext cx="2200275" cy="2000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buNone/>
              <a:defRPr sz="825" b="1">
                <a:solidFill>
                  <a:srgbClr val="FFFDF8"/>
                </a:solidFill>
                <a:latin typeface="Aptos"/>
                <a:ea typeface="Aptos"/>
                <a:cs typeface="Aptos"/>
              </a:defRPr>
            </a:pPr>
            <a:r>
              <a:rPr sz="825" b="1">
                <a:solidFill>
                  <a:srgbClr val="FFFDF8"/>
                </a:solidFill>
                <a:latin typeface="Aptos"/>
                <a:ea typeface="Aptos"/>
                <a:cs typeface="Aptos"/>
              </a:rPr>
              <a:t>DEEP CASE CONTINUES</a:t>
            </a:r>
          </a:p>
        </p:txBody>
      </p:sp>
      <p:sp>
        <p:nvSpPr>
          <p:cNvPr id="44" name="pill-NARROW CLAIM">
            <a:extLst xmlns:a="http://schemas.openxmlformats.org/drawingml/2006/main">
              <a:ext uri="{FF2B5EF4-FFF2-40B4-BE49-F238E27FC236}">
                <a16:creationId xmlns:a16="http://schemas.microsoft.com/office/drawing/2014/main" id="{7310344B-8295-48FD-9040-2AC35BDF8CA5}"/>
              </a:ext>
            </a:extLst>
          </p:cNvPr>
          <p:cNvSpPr>
            <a:spLocks xmlns:a="http://schemas.openxmlformats.org/drawingml/2006/main" noGrp="1"/>
          </p:cNvSpPr>
          <p:nvPr/>
        </p:nvSpPr>
        <p:spPr>
          <a:xfrm xmlns:a="http://schemas.openxmlformats.org/drawingml/2006/main">
            <a:off x="2876550" y="5086350"/>
            <a:ext cx="2333625" cy="238125"/>
          </a:xfrm>
          <a:prstGeom xmlns:a="http://schemas.openxmlformats.org/drawingml/2006/main" prst="rect">
            <a:avLst/>
          </a:prstGeom>
          <a:solidFill xmlns:a="http://schemas.openxmlformats.org/drawingml/2006/main">
            <a:srgbClr val="D97941"/>
          </a:solidFill>
          <a:ln xmlns:a="http://schemas.openxmlformats.org/drawingml/2006/main" w="0">
            <a:solidFill>
              <a:srgbClr val="D97941"/>
            </a:solidFill>
            <a:prstDash val="solid"/>
          </a:ln>
        </p:spPr>
      </p:sp>
      <p:sp>
        <p:nvSpPr>
          <p:cNvPr id="45" name="">
            <a:extLst xmlns:a="http://schemas.openxmlformats.org/drawingml/2006/main">
              <a:ext uri="{FF2B5EF4-FFF2-40B4-BE49-F238E27FC236}">
                <a16:creationId xmlns:a16="http://schemas.microsoft.com/office/drawing/2014/main" id="{CD73730C-3F46-4CCB-A87D-0D57DF481E76}"/>
              </a:ext>
            </a:extLst>
          </p:cNvPr>
          <p:cNvSpPr>
            <a:spLocks xmlns:a="http://schemas.openxmlformats.org/drawingml/2006/main" noGrp="1"/>
          </p:cNvSpPr>
          <p:nvPr/>
        </p:nvSpPr>
        <p:spPr>
          <a:xfrm xmlns:a="http://schemas.openxmlformats.org/drawingml/2006/main">
            <a:off x="2943225" y="5105400"/>
            <a:ext cx="2200275" cy="2000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buNone/>
              <a:defRPr sz="825" b="1">
                <a:solidFill>
                  <a:srgbClr val="FFFDF8"/>
                </a:solidFill>
                <a:latin typeface="Aptos"/>
                <a:ea typeface="Aptos"/>
                <a:cs typeface="Aptos"/>
              </a:defRPr>
            </a:pPr>
            <a:r>
              <a:rPr sz="825" b="1">
                <a:solidFill>
                  <a:srgbClr val="FFFDF8"/>
                </a:solidFill>
                <a:latin typeface="Aptos"/>
                <a:ea typeface="Aptos"/>
                <a:cs typeface="Aptos"/>
              </a:rPr>
              <a:t>NARROW CLAIM</a:t>
            </a:r>
          </a:p>
        </p:txBody>
      </p:sp>
      <p:sp>
        <p:nvSpPr>
          <p:cNvPr id="46" name="pill-FRAMEWORK TRANSFER READY">
            <a:extLst xmlns:a="http://schemas.openxmlformats.org/drawingml/2006/main">
              <a:ext uri="{FF2B5EF4-FFF2-40B4-BE49-F238E27FC236}">
                <a16:creationId xmlns:a16="http://schemas.microsoft.com/office/drawing/2014/main" id="{22C0AD60-E21B-4EF1-B21A-E2D5331F859A}"/>
              </a:ext>
            </a:extLst>
          </p:cNvPr>
          <p:cNvSpPr>
            <a:spLocks xmlns:a="http://schemas.openxmlformats.org/drawingml/2006/main" noGrp="1"/>
          </p:cNvSpPr>
          <p:nvPr/>
        </p:nvSpPr>
        <p:spPr>
          <a:xfrm xmlns:a="http://schemas.openxmlformats.org/drawingml/2006/main">
            <a:off x="5372100" y="5086350"/>
            <a:ext cx="2714625" cy="238125"/>
          </a:xfrm>
          <a:prstGeom xmlns:a="http://schemas.openxmlformats.org/drawingml/2006/main" prst="rect">
            <a:avLst/>
          </a:prstGeom>
          <a:solidFill xmlns:a="http://schemas.openxmlformats.org/drawingml/2006/main">
            <a:srgbClr val="4E7897"/>
          </a:solidFill>
          <a:ln xmlns:a="http://schemas.openxmlformats.org/drawingml/2006/main" w="0">
            <a:solidFill>
              <a:srgbClr val="4E7897"/>
            </a:solidFill>
            <a:prstDash val="solid"/>
          </a:ln>
        </p:spPr>
      </p:sp>
      <p:sp>
        <p:nvSpPr>
          <p:cNvPr id="47" name="">
            <a:extLst xmlns:a="http://schemas.openxmlformats.org/drawingml/2006/main">
              <a:ext uri="{FF2B5EF4-FFF2-40B4-BE49-F238E27FC236}">
                <a16:creationId xmlns:a16="http://schemas.microsoft.com/office/drawing/2014/main" id="{69AF2C55-6653-459B-B5D1-B46A81DDF98D}"/>
              </a:ext>
            </a:extLst>
          </p:cNvPr>
          <p:cNvSpPr>
            <a:spLocks xmlns:a="http://schemas.openxmlformats.org/drawingml/2006/main" noGrp="1"/>
          </p:cNvSpPr>
          <p:nvPr/>
        </p:nvSpPr>
        <p:spPr>
          <a:xfrm xmlns:a="http://schemas.openxmlformats.org/drawingml/2006/main">
            <a:off x="5438775" y="5105400"/>
            <a:ext cx="2581275" cy="2000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buNone/>
              <a:defRPr sz="825" b="1">
                <a:solidFill>
                  <a:srgbClr val="FFFDF8"/>
                </a:solidFill>
                <a:latin typeface="Aptos"/>
                <a:ea typeface="Aptos"/>
                <a:cs typeface="Aptos"/>
              </a:defRPr>
            </a:pPr>
            <a:r>
              <a:rPr sz="825" b="1">
                <a:solidFill>
                  <a:srgbClr val="FFFDF8"/>
                </a:solidFill>
                <a:latin typeface="Aptos"/>
                <a:ea typeface="Aptos"/>
                <a:cs typeface="Aptos"/>
              </a:rPr>
              <a:t>FRAMEWORK TRANSFER READY</a:t>
            </a:r>
          </a:p>
        </p:txBody>
      </p:sp>
      <p:sp>
        <p:nvSpPr>
          <p:cNvPr id="48" name="">
            <a:extLst xmlns:a="http://schemas.openxmlformats.org/drawingml/2006/main">
              <a:ext uri="{FF2B5EF4-FFF2-40B4-BE49-F238E27FC236}">
                <a16:creationId xmlns:a16="http://schemas.microsoft.com/office/drawing/2014/main" id="{CA275A84-89A1-4927-AC7A-300B104F64D5}"/>
              </a:ext>
            </a:extLst>
          </p:cNvPr>
          <p:cNvSpPr>
            <a:spLocks xmlns:a="http://schemas.openxmlformats.org/drawingml/2006/main" noGrp="1"/>
          </p:cNvSpPr>
          <p:nvPr/>
        </p:nvSpPr>
        <p:spPr>
          <a:xfrm xmlns:a="http://schemas.openxmlformats.org/drawingml/2006/main">
            <a:off x="8334375" y="4876800"/>
            <a:ext cx="3476625" cy="866775"/>
          </a:xfrm>
          <a:prstGeom xmlns:a="http://schemas.openxmlformats.org/drawingml/2006/main" prst="rect">
            <a:avLst/>
          </a:prstGeom>
          <a:solidFill xmlns:a="http://schemas.openxmlformats.org/drawingml/2006/main">
            <a:srgbClr val="FFFDF8"/>
          </a:solidFill>
          <a:ln xmlns:a="http://schemas.openxmlformats.org/drawingml/2006/main" w="9525">
            <a:solidFill>
              <a:srgbClr val="D6D3CB"/>
            </a:solidFill>
            <a:prstDash val="solid"/>
          </a:ln>
        </p:spPr>
      </p:sp>
      <p:sp>
        <p:nvSpPr>
          <p:cNvPr id="49" name="">
            <a:extLst xmlns:a="http://schemas.openxmlformats.org/drawingml/2006/main">
              <a:ext uri="{FF2B5EF4-FFF2-40B4-BE49-F238E27FC236}">
                <a16:creationId xmlns:a16="http://schemas.microsoft.com/office/drawing/2014/main" id="{E95A2669-E4FD-4E07-8555-67BE632D8F3E}"/>
              </a:ext>
            </a:extLst>
          </p:cNvPr>
          <p:cNvSpPr>
            <a:spLocks xmlns:a="http://schemas.openxmlformats.org/drawingml/2006/main" noGrp="1"/>
          </p:cNvSpPr>
          <p:nvPr/>
        </p:nvSpPr>
        <p:spPr>
          <a:xfrm xmlns:a="http://schemas.openxmlformats.org/drawingml/2006/main">
            <a:off x="8496300" y="4991100"/>
            <a:ext cx="31432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buNone/>
              <a:defRPr sz="750" b="1">
                <a:solidFill>
                  <a:srgbClr val="63717B"/>
                </a:solidFill>
                <a:latin typeface="Aptos"/>
                <a:ea typeface="Aptos"/>
                <a:cs typeface="Aptos"/>
              </a:defRPr>
            </a:pPr>
            <a:r>
              <a:rPr sz="750" b="1">
                <a:solidFill>
                  <a:srgbClr val="63717B"/>
                </a:solidFill>
                <a:latin typeface="Aptos"/>
                <a:ea typeface="Aptos"/>
                <a:cs typeface="Aptos"/>
              </a:rPr>
              <a:t>PROPOSED TITLE — PENDING</a:t>
            </a:r>
          </a:p>
        </p:txBody>
      </p:sp>
      <p:sp>
        <p:nvSpPr>
          <p:cNvPr id="50" name="">
            <a:extLst xmlns:a="http://schemas.openxmlformats.org/drawingml/2006/main">
              <a:ext uri="{FF2B5EF4-FFF2-40B4-BE49-F238E27FC236}">
                <a16:creationId xmlns:a16="http://schemas.microsoft.com/office/drawing/2014/main" id="{EDD7BD52-8F03-43B1-8798-87FD3C752F58}"/>
              </a:ext>
            </a:extLst>
          </p:cNvPr>
          <p:cNvSpPr>
            <a:spLocks xmlns:a="http://schemas.openxmlformats.org/drawingml/2006/main" noGrp="1"/>
          </p:cNvSpPr>
          <p:nvPr/>
        </p:nvSpPr>
        <p:spPr>
          <a:xfrm xmlns:a="http://schemas.openxmlformats.org/drawingml/2006/main">
            <a:off x="8496300" y="5219700"/>
            <a:ext cx="3143250" cy="4095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buNone/>
              <a:defRPr sz="1125" b="1">
                <a:solidFill>
                  <a:srgbClr val="172A3A"/>
                </a:solidFill>
                <a:latin typeface="Aptos"/>
                <a:ea typeface="Aptos"/>
                <a:cs typeface="Aptos"/>
              </a:defRPr>
            </a:pPr>
            <a:r>
              <a:rPr sz="1125" b="1">
                <a:solidFill>
                  <a:srgbClr val="172A3A"/>
                </a:solidFill>
                <a:latin typeface="Aptos"/>
                <a:ea typeface="Aptos"/>
                <a:cs typeface="Aptos"/>
              </a:rPr>
              <a:t>Task-Based Assessment of Robotic Systems in Battery Manufacturing</a:t>
            </a:r>
          </a:p>
        </p:txBody>
      </p:sp>
    </p:spTree>
    <p:extLst>
      <p:ext uri="{BB962C8B-B14F-4D97-AF65-F5344CB8AC3E}">
        <p14:creationId xmlns:p14="http://schemas.microsoft.com/office/powerpoint/2010/main" val="24724421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2026-08-26T12:21:41.3300000Z</dcterms:created>
  <dcterms:modified xsi:type="dcterms:W3CDTF">2026-08-26T12:21:41.3300000Z</dcterms:modified>
</coreProperties>
</file>