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morning. Today I would like to give a short update about my first week. The main point is that I am turning a broad robotics topic into a more process-aware thesis direction. I will explain what I did, what I found, what questions I have, and what I plan to do next week.</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week I produced four starting points. First, I clarified the topic boundary. I think the main scope should be battery cell manufacturing. Second, I started reading battery fundamentals. This is important because many robotics challenges come from the battery process itself. Third, I built a first process map. Fourth, I selected first robotic use cases for deeper study.</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My current understanding is that this thesis is not about designing a robot controller. It is about evaluating where robotic systems can create value in battery cell manufacturing. So I want to first understand process requirements, then identify robotic opportunities, and finally compare selected use cases from technical and economic perspectives.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Battery fundamentals are important for my topic because they explain the manufacturing constraints. For example, electrolyte is moisture-sensitive, so dry-room operation is important. Separators and electrodes are thin, so handling must be gentle and accurate. Formation affects lifetime, so tray handling and traceability are important. This means robotics must be evaluated together with process, safety, and quality requirements.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divided battery cell manufacturing into three stages. In electrode manufacturing, robots mainly support surrounding tasks such as roll handling, sampling, inspection, and logistics. In cell assembly, robotics potential is high, but the difficulty is also high because materials are thin and precision is critical. In cell finishing, cells are already sealed and often tray-based, so I think this is a strong near-term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Based on the first mapping, I recommend three directions for deeper study. The first is AMR or AGV intralogistics. The second is formation and testing tray handling. The third is vision-guided inspection and robot loading. I may also mention vision-guided stacking or housing insertion as a technically difficult case, but I am not sure if it should be one of the main cases.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narrowing the thesis, I would like to clarify several points. For scope, should I focus on one cell format or compare several formats? For method, is a literature-based evaluation enough, or should I include expert interviews or case studies? For use cases, which ones are most relevant to PEM or eLab?</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next week, I plan to do three things. First, I will read more battery fundamentals and manufacturing process literature. Second, I will narrow the use cases based on your feedback. Third, I will build a first scoring model. The expected output is a clear use-case shortlist and a first evaluation table.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EB57BA72-5BCA-4E6C-B31F-49203BE9BEDF}"/>
              </a:ext>
            </a:extLst>
          </p:cNvPr>
          <p:cNvSpPr>
            <a:spLocks noGrp="1"/>
          </p:cNvSpPr>
          <p:nvPr/>
        </p:nvSpPr>
        <p:spPr>
          <a:xfrm>
            <a:off x="0" y="0"/>
            <a:ext cx="12192000" cy="6858000"/>
          </a:xfrm>
          <a:prstGeom prst="rect">
            <a:avLst/>
          </a:prstGeom>
          <a:solidFill>
            <a:srgbClr val="F7F3EA"/>
          </a:solidFill>
          <a:ln w="0">
            <a:solidFill>
              <a:srgbClr val="000000">
                <a:alpha val="0"/>
              </a:srgbClr>
            </a:solidFill>
            <a:prstDash val="solid"/>
          </a:ln>
        </p:spPr>
      </p:sp>
      <p:sp>
        <p:nvSpPr>
          <p:cNvPr id="2" name="kicker-1-marker">
            <a:extLst>
              <a:ext uri="{FF2B5EF4-FFF2-40B4-BE49-F238E27FC236}">
                <a16:creationId xmlns:a16="http://schemas.microsoft.com/office/drawing/2014/main" id="{612BEC4B-5D21-4EEF-B4A9-E899ABFDE6B8}"/>
              </a:ext>
            </a:extLst>
          </p:cNvPr>
          <p:cNvSpPr>
            <a:spLocks noGrp="1"/>
          </p:cNvSpPr>
          <p:nvPr/>
        </p:nvSpPr>
        <p:spPr>
          <a:xfrm>
            <a:off x="514350" y="400050"/>
            <a:ext cx="95250" cy="95250"/>
          </a:xfrm>
          <a:prstGeom prst="ellipse">
            <a:avLst/>
          </a:prstGeom>
          <a:solidFill>
            <a:srgbClr val="B46B3A"/>
          </a:solidFill>
          <a:ln w="0">
            <a:solidFill>
              <a:srgbClr val="000000">
                <a:alpha val="0"/>
              </a:srgbClr>
            </a:solidFill>
            <a:prstDash val="solid"/>
          </a:ln>
        </p:spPr>
      </p:sp>
      <p:sp>
        <p:nvSpPr>
          <p:cNvPr id="3" name="kicker-1-label">
            <a:extLst>
              <a:ext uri="{FF2B5EF4-FFF2-40B4-BE49-F238E27FC236}">
                <a16:creationId xmlns:a16="http://schemas.microsoft.com/office/drawing/2014/main" id="{BBA4343D-859B-4C4B-A0A6-D041D350D8DE}"/>
              </a:ext>
            </a:extLst>
          </p:cNvPr>
          <p:cNvSpPr>
            <a:spLocks noGrp="1"/>
          </p:cNvSpPr>
          <p:nvPr/>
        </p:nvSpPr>
        <p:spPr>
          <a:xfrm>
            <a:off x="704850" y="323850"/>
            <a:ext cx="495300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38" b="1">
                <a:solidFill>
                  <a:srgbClr val="315C49"/>
                </a:solidFill>
                <a:latin typeface="Aptos"/>
                <a:ea typeface="Aptos"/>
                <a:cs typeface="Aptos"/>
              </a:defRPr>
            </a:pPr>
            <a:r>
              <a:rPr sz="938" b="1">
                <a:solidFill>
                  <a:srgbClr val="315C49"/>
                </a:solidFill>
                <a:latin typeface="Aptos"/>
                <a:ea typeface="Aptos"/>
                <a:cs typeface="Aptos"/>
              </a:rPr>
              <a:t>TODAY</a:t>
            </a:r>
          </a:p>
        </p:txBody>
      </p:sp>
      <p:sp>
        <p:nvSpPr>
          <p:cNvPr id="4" name="矩形 3">
            <a:extLst>
              <a:ext uri="{FF2B5EF4-FFF2-40B4-BE49-F238E27FC236}">
                <a16:creationId xmlns:a16="http://schemas.microsoft.com/office/drawing/2014/main" id="{933F659E-A3B3-485D-83A4-D2AE77FA96E1}"/>
              </a:ext>
            </a:extLst>
          </p:cNvPr>
          <p:cNvSpPr>
            <a:spLocks noGrp="1"/>
          </p:cNvSpPr>
          <p:nvPr/>
        </p:nvSpPr>
        <p:spPr>
          <a:xfrm>
            <a:off x="514350" y="742950"/>
            <a:ext cx="9906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Week 01 update: from topic orientation to first use-case map</a:t>
            </a:r>
          </a:p>
        </p:txBody>
      </p:sp>
      <p:sp>
        <p:nvSpPr>
          <p:cNvPr id="5" name="矩形 4">
            <a:extLst>
              <a:ext uri="{FF2B5EF4-FFF2-40B4-BE49-F238E27FC236}">
                <a16:creationId xmlns:a16="http://schemas.microsoft.com/office/drawing/2014/main" id="{4786B3CA-566B-4DB7-80EE-E1333573A5CD}"/>
              </a:ext>
            </a:extLst>
          </p:cNvPr>
          <p:cNvSpPr>
            <a:spLocks noGrp="1"/>
          </p:cNvSpPr>
          <p:nvPr/>
        </p:nvSpPr>
        <p:spPr>
          <a:xfrm>
            <a:off x="514350" y="6153150"/>
            <a:ext cx="9620250" cy="11430"/>
          </a:xfrm>
          <a:prstGeom prst="rect">
            <a:avLst/>
          </a:prstGeom>
          <a:solidFill>
            <a:srgbClr val="D8D1C3"/>
          </a:solidFill>
          <a:ln w="0">
            <a:solidFill>
              <a:srgbClr val="000000">
                <a:alpha val="0"/>
              </a:srgbClr>
            </a:solidFill>
            <a:prstDash val="solid"/>
          </a:ln>
        </p:spPr>
      </p:sp>
      <p:sp>
        <p:nvSpPr>
          <p:cNvPr id="6" name="矩形 5">
            <a:extLst>
              <a:ext uri="{FF2B5EF4-FFF2-40B4-BE49-F238E27FC236}">
                <a16:creationId xmlns:a16="http://schemas.microsoft.com/office/drawing/2014/main" id="{6D5FEA4F-6EE3-4BC1-ACD1-9136DC9B53F8}"/>
              </a:ext>
            </a:extLst>
          </p:cNvPr>
          <p:cNvSpPr>
            <a:spLocks noGrp="1"/>
          </p:cNvSpPr>
          <p:nvPr/>
        </p:nvSpPr>
        <p:spPr>
          <a:xfrm>
            <a:off x="514350" y="6257925"/>
            <a:ext cx="6858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5E625D"/>
                </a:solidFill>
                <a:latin typeface="Aptos"/>
                <a:ea typeface="Aptos"/>
                <a:cs typeface="Aptos"/>
              </a:defRPr>
            </a:pPr>
            <a:r>
              <a:rPr sz="713" b="0">
                <a:solidFill>
                  <a:srgbClr val="5E625D"/>
                </a:solidFill>
                <a:latin typeface="Aptos"/>
                <a:ea typeface="Aptos"/>
                <a:cs typeface="Aptos"/>
              </a:rPr>
              <a:t>Week 01 group meeting | Robotic systems in battery manufacturing</a:t>
            </a:r>
          </a:p>
        </p:txBody>
      </p:sp>
      <p:sp>
        <p:nvSpPr>
          <p:cNvPr id="7" name="矩形 6">
            <a:extLst>
              <a:ext uri="{FF2B5EF4-FFF2-40B4-BE49-F238E27FC236}">
                <a16:creationId xmlns:a16="http://schemas.microsoft.com/office/drawing/2014/main" id="{8E63D1E8-42E4-44A9-8E51-63AA0B8A25E3}"/>
              </a:ext>
            </a:extLst>
          </p:cNvPr>
          <p:cNvSpPr>
            <a:spLocks noGrp="1"/>
          </p:cNvSpPr>
          <p:nvPr/>
        </p:nvSpPr>
        <p:spPr>
          <a:xfrm>
            <a:off x="11049000" y="6229350"/>
            <a:ext cx="666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315C49"/>
                </a:solidFill>
                <a:latin typeface="Aptos"/>
                <a:ea typeface="Aptos"/>
                <a:cs typeface="Aptos"/>
              </a:defRPr>
            </a:pPr>
            <a:r>
              <a:rPr sz="900" b="1">
                <a:solidFill>
                  <a:srgbClr val="315C49"/>
                </a:solidFill>
                <a:latin typeface="Aptos"/>
                <a:ea typeface="Aptos"/>
                <a:cs typeface="Aptos"/>
              </a:rPr>
              <a:t>01</a:t>
            </a:r>
          </a:p>
        </p:txBody>
      </p:sp>
      <p:sp>
        <p:nvSpPr>
          <p:cNvPr id="8" name="矩形 7">
            <a:extLst>
              <a:ext uri="{FF2B5EF4-FFF2-40B4-BE49-F238E27FC236}">
                <a16:creationId xmlns:a16="http://schemas.microsoft.com/office/drawing/2014/main" id="{DC49EFB7-933B-45A1-84A8-6EE992A66852}"/>
              </a:ext>
            </a:extLst>
          </p:cNvPr>
          <p:cNvSpPr>
            <a:spLocks noGrp="1"/>
          </p:cNvSpPr>
          <p:nvPr/>
        </p:nvSpPr>
        <p:spPr>
          <a:xfrm>
            <a:off x="571500" y="1762125"/>
            <a:ext cx="100012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315C49"/>
                </a:solidFill>
                <a:latin typeface="Aptos"/>
                <a:ea typeface="Aptos"/>
                <a:cs typeface="Aptos"/>
              </a:defRPr>
            </a:pPr>
            <a:r>
              <a:rPr sz="1800" b="1">
                <a:solidFill>
                  <a:srgbClr val="315C49"/>
                </a:solidFill>
                <a:latin typeface="Aptos"/>
                <a:ea typeface="Aptos"/>
                <a:cs typeface="Aptos"/>
              </a:rPr>
              <a:t>Main message: I am turning a broad robotics topic into a process-aware evaluation framework.</a:t>
            </a:r>
          </a:p>
        </p:txBody>
      </p:sp>
      <p:sp>
        <p:nvSpPr>
          <p:cNvPr id="9" name="矩形 8">
            <a:extLst>
              <a:ext uri="{FF2B5EF4-FFF2-40B4-BE49-F238E27FC236}">
                <a16:creationId xmlns:a16="http://schemas.microsoft.com/office/drawing/2014/main" id="{7A61287F-01CD-42D4-86D0-1AFDDFDF511A}"/>
              </a:ext>
            </a:extLst>
          </p:cNvPr>
          <p:cNvSpPr>
            <a:spLocks noGrp="1"/>
          </p:cNvSpPr>
          <p:nvPr/>
        </p:nvSpPr>
        <p:spPr>
          <a:xfrm>
            <a:off x="762000" y="2952750"/>
            <a:ext cx="2857500" cy="1571625"/>
          </a:xfrm>
          <a:prstGeom prst="rect">
            <a:avLst/>
          </a:prstGeom>
          <a:solidFill>
            <a:srgbClr val="FFFFFF"/>
          </a:solidFill>
          <a:ln w="9525">
            <a:solidFill>
              <a:srgbClr val="D8D1C3"/>
            </a:solidFill>
            <a:prstDash val="solid"/>
          </a:ln>
        </p:spPr>
      </p:sp>
      <p:sp>
        <p:nvSpPr>
          <p:cNvPr id="10" name="矩形 9">
            <a:extLst>
              <a:ext uri="{FF2B5EF4-FFF2-40B4-BE49-F238E27FC236}">
                <a16:creationId xmlns:a16="http://schemas.microsoft.com/office/drawing/2014/main" id="{0443D4C4-8AEE-47F8-B009-E9612D66D99D}"/>
              </a:ext>
            </a:extLst>
          </p:cNvPr>
          <p:cNvSpPr>
            <a:spLocks noGrp="1"/>
          </p:cNvSpPr>
          <p:nvPr/>
        </p:nvSpPr>
        <p:spPr>
          <a:xfrm>
            <a:off x="762000" y="2952750"/>
            <a:ext cx="2857500" cy="66675"/>
          </a:xfrm>
          <a:prstGeom prst="rect">
            <a:avLst/>
          </a:prstGeom>
          <a:solidFill>
            <a:srgbClr val="315C49"/>
          </a:solidFill>
          <a:ln w="0">
            <a:solidFill>
              <a:srgbClr val="000000">
                <a:alpha val="0"/>
              </a:srgbClr>
            </a:solidFill>
            <a:prstDash val="solid"/>
          </a:ln>
        </p:spPr>
      </p:sp>
      <p:sp>
        <p:nvSpPr>
          <p:cNvPr id="11" name="矩形 10">
            <a:extLst>
              <a:ext uri="{FF2B5EF4-FFF2-40B4-BE49-F238E27FC236}">
                <a16:creationId xmlns:a16="http://schemas.microsoft.com/office/drawing/2014/main" id="{A68135E3-EE11-4E9A-A28E-5A2ADF0BEF63}"/>
              </a:ext>
            </a:extLst>
          </p:cNvPr>
          <p:cNvSpPr>
            <a:spLocks noGrp="1"/>
          </p:cNvSpPr>
          <p:nvPr/>
        </p:nvSpPr>
        <p:spPr>
          <a:xfrm>
            <a:off x="952500" y="3190875"/>
            <a:ext cx="2476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1. What I did</a:t>
            </a:r>
          </a:p>
        </p:txBody>
      </p:sp>
      <p:sp>
        <p:nvSpPr>
          <p:cNvPr id="12" name="矩形 11">
            <a:extLst>
              <a:ext uri="{FF2B5EF4-FFF2-40B4-BE49-F238E27FC236}">
                <a16:creationId xmlns:a16="http://schemas.microsoft.com/office/drawing/2014/main" id="{03BAE0F9-C0F7-438E-8EF3-EFB2BAE4EECB}"/>
              </a:ext>
            </a:extLst>
          </p:cNvPr>
          <p:cNvSpPr>
            <a:spLocks noGrp="1"/>
          </p:cNvSpPr>
          <p:nvPr/>
        </p:nvSpPr>
        <p:spPr>
          <a:xfrm>
            <a:off x="952500" y="3619500"/>
            <a:ext cx="2476500" cy="7334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Topic boundary</a:t>
            </a:r>
          </a:p>
          <a:p>
            <a:pPr algn="l">
              <a:defRPr sz="1088" b="0">
                <a:solidFill>
                  <a:srgbClr val="5E625D"/>
                </a:solidFill>
                <a:latin typeface="Aptos"/>
                <a:ea typeface="Aptos"/>
                <a:cs typeface="Aptos"/>
              </a:defRPr>
            </a:pPr>
            <a:r>
              <a:rPr sz="1088" b="0">
                <a:solidFill>
                  <a:srgbClr val="5E625D"/>
                </a:solidFill>
                <a:latin typeface="Aptos"/>
                <a:ea typeface="Aptos"/>
                <a:cs typeface="Aptos"/>
              </a:rPr>
              <a:t>Battery fundamentals</a:t>
            </a:r>
          </a:p>
          <a:p>
            <a:pPr algn="l">
              <a:defRPr sz="1088" b="0">
                <a:solidFill>
                  <a:srgbClr val="5E625D"/>
                </a:solidFill>
                <a:latin typeface="Aptos"/>
                <a:ea typeface="Aptos"/>
                <a:cs typeface="Aptos"/>
              </a:defRPr>
            </a:pPr>
            <a:r>
              <a:rPr sz="1088" b="0">
                <a:solidFill>
                  <a:srgbClr val="5E625D"/>
                </a:solidFill>
                <a:latin typeface="Aptos"/>
                <a:ea typeface="Aptos"/>
                <a:cs typeface="Aptos"/>
              </a:rPr>
              <a:t>Process-to-robotics mapping</a:t>
            </a:r>
          </a:p>
        </p:txBody>
      </p:sp>
      <p:sp>
        <p:nvSpPr>
          <p:cNvPr id="13" name="矩形 12">
            <a:extLst>
              <a:ext uri="{FF2B5EF4-FFF2-40B4-BE49-F238E27FC236}">
                <a16:creationId xmlns:a16="http://schemas.microsoft.com/office/drawing/2014/main" id="{10375BAD-FBED-44A7-B1F9-D5E2732754C7}"/>
              </a:ext>
            </a:extLst>
          </p:cNvPr>
          <p:cNvSpPr>
            <a:spLocks noGrp="1"/>
          </p:cNvSpPr>
          <p:nvPr/>
        </p:nvSpPr>
        <p:spPr>
          <a:xfrm>
            <a:off x="4667250" y="2952750"/>
            <a:ext cx="2857500" cy="1571625"/>
          </a:xfrm>
          <a:prstGeom prst="rect">
            <a:avLst/>
          </a:prstGeom>
          <a:solidFill>
            <a:srgbClr val="FFFFFF"/>
          </a:solidFill>
          <a:ln w="9525">
            <a:solidFill>
              <a:srgbClr val="D8D1C3"/>
            </a:solidFill>
            <a:prstDash val="solid"/>
          </a:ln>
        </p:spPr>
      </p:sp>
      <p:sp>
        <p:nvSpPr>
          <p:cNvPr id="14" name="矩形 13">
            <a:extLst>
              <a:ext uri="{FF2B5EF4-FFF2-40B4-BE49-F238E27FC236}">
                <a16:creationId xmlns:a16="http://schemas.microsoft.com/office/drawing/2014/main" id="{38588ECF-9983-4CE8-901D-9FC38D5501CE}"/>
              </a:ext>
            </a:extLst>
          </p:cNvPr>
          <p:cNvSpPr>
            <a:spLocks noGrp="1"/>
          </p:cNvSpPr>
          <p:nvPr/>
        </p:nvSpPr>
        <p:spPr>
          <a:xfrm>
            <a:off x="4667250" y="2952750"/>
            <a:ext cx="2857500" cy="66675"/>
          </a:xfrm>
          <a:prstGeom prst="rect">
            <a:avLst/>
          </a:prstGeom>
          <a:solidFill>
            <a:srgbClr val="B46B3A"/>
          </a:solidFill>
          <a:ln w="0">
            <a:solidFill>
              <a:srgbClr val="000000">
                <a:alpha val="0"/>
              </a:srgbClr>
            </a:solidFill>
            <a:prstDash val="solid"/>
          </a:ln>
        </p:spPr>
      </p:sp>
      <p:sp>
        <p:nvSpPr>
          <p:cNvPr id="15" name="矩形 14">
            <a:extLst>
              <a:ext uri="{FF2B5EF4-FFF2-40B4-BE49-F238E27FC236}">
                <a16:creationId xmlns:a16="http://schemas.microsoft.com/office/drawing/2014/main" id="{2C0C0DE5-C240-48C5-9BBA-BD76F31872F8}"/>
              </a:ext>
            </a:extLst>
          </p:cNvPr>
          <p:cNvSpPr>
            <a:spLocks noGrp="1"/>
          </p:cNvSpPr>
          <p:nvPr/>
        </p:nvSpPr>
        <p:spPr>
          <a:xfrm>
            <a:off x="4857750" y="3190875"/>
            <a:ext cx="2476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2. What I found</a:t>
            </a:r>
          </a:p>
        </p:txBody>
      </p:sp>
      <p:sp>
        <p:nvSpPr>
          <p:cNvPr id="16" name="矩形 15">
            <a:extLst>
              <a:ext uri="{FF2B5EF4-FFF2-40B4-BE49-F238E27FC236}">
                <a16:creationId xmlns:a16="http://schemas.microsoft.com/office/drawing/2014/main" id="{FBE3B8EA-FE13-4C2C-A121-6C2774377918}"/>
              </a:ext>
            </a:extLst>
          </p:cNvPr>
          <p:cNvSpPr>
            <a:spLocks noGrp="1"/>
          </p:cNvSpPr>
          <p:nvPr/>
        </p:nvSpPr>
        <p:spPr>
          <a:xfrm>
            <a:off x="4857750" y="3619500"/>
            <a:ext cx="2476500" cy="7334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Robotics value depends on battery process requirements, not only robot capability.</a:t>
            </a:r>
          </a:p>
        </p:txBody>
      </p:sp>
      <p:sp>
        <p:nvSpPr>
          <p:cNvPr id="17" name="矩形 16">
            <a:extLst>
              <a:ext uri="{FF2B5EF4-FFF2-40B4-BE49-F238E27FC236}">
                <a16:creationId xmlns:a16="http://schemas.microsoft.com/office/drawing/2014/main" id="{BECA506B-4A9A-40FB-9CC5-A9DEACF5A8ED}"/>
              </a:ext>
            </a:extLst>
          </p:cNvPr>
          <p:cNvSpPr>
            <a:spLocks noGrp="1"/>
          </p:cNvSpPr>
          <p:nvPr/>
        </p:nvSpPr>
        <p:spPr>
          <a:xfrm>
            <a:off x="8572500" y="2952750"/>
            <a:ext cx="2857500" cy="1571625"/>
          </a:xfrm>
          <a:prstGeom prst="rect">
            <a:avLst/>
          </a:prstGeom>
          <a:solidFill>
            <a:srgbClr val="FFFFFF"/>
          </a:solidFill>
          <a:ln w="9525">
            <a:solidFill>
              <a:srgbClr val="D8D1C3"/>
            </a:solidFill>
            <a:prstDash val="solid"/>
          </a:ln>
        </p:spPr>
      </p:sp>
      <p:sp>
        <p:nvSpPr>
          <p:cNvPr id="18" name="矩形 17">
            <a:extLst>
              <a:ext uri="{FF2B5EF4-FFF2-40B4-BE49-F238E27FC236}">
                <a16:creationId xmlns:a16="http://schemas.microsoft.com/office/drawing/2014/main" id="{D2093E58-0183-41C3-9927-D9F732F1E1B5}"/>
              </a:ext>
            </a:extLst>
          </p:cNvPr>
          <p:cNvSpPr>
            <a:spLocks noGrp="1"/>
          </p:cNvSpPr>
          <p:nvPr/>
        </p:nvSpPr>
        <p:spPr>
          <a:xfrm>
            <a:off x="8572500" y="2952750"/>
            <a:ext cx="2857500" cy="66675"/>
          </a:xfrm>
          <a:prstGeom prst="rect">
            <a:avLst/>
          </a:prstGeom>
          <a:solidFill>
            <a:srgbClr val="597389"/>
          </a:solidFill>
          <a:ln w="0">
            <a:solidFill>
              <a:srgbClr val="000000">
                <a:alpha val="0"/>
              </a:srgbClr>
            </a:solidFill>
            <a:prstDash val="solid"/>
          </a:ln>
        </p:spPr>
      </p:sp>
      <p:sp>
        <p:nvSpPr>
          <p:cNvPr id="19" name="矩形 18">
            <a:extLst>
              <a:ext uri="{FF2B5EF4-FFF2-40B4-BE49-F238E27FC236}">
                <a16:creationId xmlns:a16="http://schemas.microsoft.com/office/drawing/2014/main" id="{48592CC6-A73C-41B2-B528-2AFC86095632}"/>
              </a:ext>
            </a:extLst>
          </p:cNvPr>
          <p:cNvSpPr>
            <a:spLocks noGrp="1"/>
          </p:cNvSpPr>
          <p:nvPr/>
        </p:nvSpPr>
        <p:spPr>
          <a:xfrm>
            <a:off x="8763000" y="3190875"/>
            <a:ext cx="2476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3. What I need</a:t>
            </a:r>
          </a:p>
        </p:txBody>
      </p:sp>
      <p:sp>
        <p:nvSpPr>
          <p:cNvPr id="20" name="矩形 19">
            <a:extLst>
              <a:ext uri="{FF2B5EF4-FFF2-40B4-BE49-F238E27FC236}">
                <a16:creationId xmlns:a16="http://schemas.microsoft.com/office/drawing/2014/main" id="{75976506-0752-4D76-B925-CEE21FD88489}"/>
              </a:ext>
            </a:extLst>
          </p:cNvPr>
          <p:cNvSpPr>
            <a:spLocks noGrp="1"/>
          </p:cNvSpPr>
          <p:nvPr/>
        </p:nvSpPr>
        <p:spPr>
          <a:xfrm>
            <a:off x="8763000" y="3619500"/>
            <a:ext cx="2476500" cy="7334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Supervisor decisions on scope, method, and use-case focus.</a:t>
            </a:r>
          </a:p>
        </p:txBody>
      </p:sp>
    </p:spTree>
    <p:extLst>
      <p:ext uri="{BB962C8B-B14F-4D97-AF65-F5344CB8AC3E}">
        <p14:creationId xmlns:p14="http://schemas.microsoft.com/office/powerpoint/2010/main" val="1830777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2EB71877-DC0F-44F2-8047-460D5A8EFFC7}"/>
              </a:ext>
            </a:extLst>
          </p:cNvPr>
          <p:cNvSpPr>
            <a:spLocks noGrp="1"/>
          </p:cNvSpPr>
          <p:nvPr/>
        </p:nvSpPr>
        <p:spPr>
          <a:xfrm>
            <a:off x="0" y="0"/>
            <a:ext cx="12192000" cy="6858000"/>
          </a:xfrm>
          <a:prstGeom prst="rect">
            <a:avLst/>
          </a:prstGeom>
          <a:solidFill>
            <a:srgbClr val="F7F3EA"/>
          </a:solidFill>
          <a:ln w="0">
            <a:solidFill>
              <a:srgbClr val="000000">
                <a:alpha val="0"/>
              </a:srgbClr>
            </a:solidFill>
            <a:prstDash val="solid"/>
          </a:ln>
        </p:spPr>
      </p:sp>
      <p:sp>
        <p:nvSpPr>
          <p:cNvPr id="2" name="kicker-2-marker">
            <a:extLst>
              <a:ext uri="{FF2B5EF4-FFF2-40B4-BE49-F238E27FC236}">
                <a16:creationId xmlns:a16="http://schemas.microsoft.com/office/drawing/2014/main" id="{72559543-829F-4655-ACC4-FE82F6A21EB6}"/>
              </a:ext>
            </a:extLst>
          </p:cNvPr>
          <p:cNvSpPr>
            <a:spLocks noGrp="1"/>
          </p:cNvSpPr>
          <p:nvPr/>
        </p:nvSpPr>
        <p:spPr>
          <a:xfrm>
            <a:off x="514350" y="400050"/>
            <a:ext cx="95250" cy="95250"/>
          </a:xfrm>
          <a:prstGeom prst="ellipse">
            <a:avLst/>
          </a:prstGeom>
          <a:solidFill>
            <a:srgbClr val="B46B3A"/>
          </a:solidFill>
          <a:ln w="0">
            <a:solidFill>
              <a:srgbClr val="000000">
                <a:alpha val="0"/>
              </a:srgbClr>
            </a:solidFill>
            <a:prstDash val="solid"/>
          </a:ln>
        </p:spPr>
      </p:sp>
      <p:sp>
        <p:nvSpPr>
          <p:cNvPr id="3" name="kicker-2-label">
            <a:extLst>
              <a:ext uri="{FF2B5EF4-FFF2-40B4-BE49-F238E27FC236}">
                <a16:creationId xmlns:a16="http://schemas.microsoft.com/office/drawing/2014/main" id="{1215A233-EC9A-4B73-9DD7-49BF5E2B7872}"/>
              </a:ext>
            </a:extLst>
          </p:cNvPr>
          <p:cNvSpPr>
            <a:spLocks noGrp="1"/>
          </p:cNvSpPr>
          <p:nvPr/>
        </p:nvSpPr>
        <p:spPr>
          <a:xfrm>
            <a:off x="704850" y="323850"/>
            <a:ext cx="495300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38" b="1">
                <a:solidFill>
                  <a:srgbClr val="315C49"/>
                </a:solidFill>
                <a:latin typeface="Aptos"/>
                <a:ea typeface="Aptos"/>
                <a:cs typeface="Aptos"/>
              </a:defRPr>
            </a:pPr>
            <a:r>
              <a:rPr sz="938" b="1">
                <a:solidFill>
                  <a:srgbClr val="315C49"/>
                </a:solidFill>
                <a:latin typeface="Aptos"/>
                <a:ea typeface="Aptos"/>
                <a:cs typeface="Aptos"/>
              </a:rPr>
              <a:t>WORK DONE</a:t>
            </a:r>
          </a:p>
        </p:txBody>
      </p:sp>
      <p:sp>
        <p:nvSpPr>
          <p:cNvPr id="4" name="矩形 3">
            <a:extLst>
              <a:ext uri="{FF2B5EF4-FFF2-40B4-BE49-F238E27FC236}">
                <a16:creationId xmlns:a16="http://schemas.microsoft.com/office/drawing/2014/main" id="{CE4B04BB-9AF0-4208-B234-E072C133252B}"/>
              </a:ext>
            </a:extLst>
          </p:cNvPr>
          <p:cNvSpPr>
            <a:spLocks noGrp="1"/>
          </p:cNvSpPr>
          <p:nvPr/>
        </p:nvSpPr>
        <p:spPr>
          <a:xfrm>
            <a:off x="514350" y="742950"/>
            <a:ext cx="9906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This week I produced four concrete starting points.</a:t>
            </a:r>
          </a:p>
        </p:txBody>
      </p:sp>
      <p:sp>
        <p:nvSpPr>
          <p:cNvPr id="5" name="矩形 4">
            <a:extLst>
              <a:ext uri="{FF2B5EF4-FFF2-40B4-BE49-F238E27FC236}">
                <a16:creationId xmlns:a16="http://schemas.microsoft.com/office/drawing/2014/main" id="{79DCF76F-F8BF-40C4-8642-343BC589B3AB}"/>
              </a:ext>
            </a:extLst>
          </p:cNvPr>
          <p:cNvSpPr>
            <a:spLocks noGrp="1"/>
          </p:cNvSpPr>
          <p:nvPr/>
        </p:nvSpPr>
        <p:spPr>
          <a:xfrm>
            <a:off x="514350" y="6153150"/>
            <a:ext cx="9620250" cy="11430"/>
          </a:xfrm>
          <a:prstGeom prst="rect">
            <a:avLst/>
          </a:prstGeom>
          <a:solidFill>
            <a:srgbClr val="D8D1C3"/>
          </a:solidFill>
          <a:ln w="0">
            <a:solidFill>
              <a:srgbClr val="000000">
                <a:alpha val="0"/>
              </a:srgbClr>
            </a:solidFill>
            <a:prstDash val="solid"/>
          </a:ln>
        </p:spPr>
      </p:sp>
      <p:sp>
        <p:nvSpPr>
          <p:cNvPr id="6" name="矩形 5">
            <a:extLst>
              <a:ext uri="{FF2B5EF4-FFF2-40B4-BE49-F238E27FC236}">
                <a16:creationId xmlns:a16="http://schemas.microsoft.com/office/drawing/2014/main" id="{DD7F2AB0-20BB-404C-A9B9-48621C6EBDE3}"/>
              </a:ext>
            </a:extLst>
          </p:cNvPr>
          <p:cNvSpPr>
            <a:spLocks noGrp="1"/>
          </p:cNvSpPr>
          <p:nvPr/>
        </p:nvSpPr>
        <p:spPr>
          <a:xfrm>
            <a:off x="514350" y="6257925"/>
            <a:ext cx="6858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5E625D"/>
                </a:solidFill>
                <a:latin typeface="Aptos"/>
                <a:ea typeface="Aptos"/>
                <a:cs typeface="Aptos"/>
              </a:defRPr>
            </a:pPr>
            <a:r>
              <a:rPr sz="713" b="0">
                <a:solidFill>
                  <a:srgbClr val="5E625D"/>
                </a:solidFill>
                <a:latin typeface="Aptos"/>
                <a:ea typeface="Aptos"/>
                <a:cs typeface="Aptos"/>
              </a:rPr>
              <a:t>Week 01 group meeting | Robotic systems in battery manufacturing</a:t>
            </a:r>
          </a:p>
        </p:txBody>
      </p:sp>
      <p:sp>
        <p:nvSpPr>
          <p:cNvPr id="7" name="矩形 6">
            <a:extLst>
              <a:ext uri="{FF2B5EF4-FFF2-40B4-BE49-F238E27FC236}">
                <a16:creationId xmlns:a16="http://schemas.microsoft.com/office/drawing/2014/main" id="{A7E8BA48-1577-48AB-92FE-283166ADE5DF}"/>
              </a:ext>
            </a:extLst>
          </p:cNvPr>
          <p:cNvSpPr>
            <a:spLocks noGrp="1"/>
          </p:cNvSpPr>
          <p:nvPr/>
        </p:nvSpPr>
        <p:spPr>
          <a:xfrm>
            <a:off x="11049000" y="6229350"/>
            <a:ext cx="666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315C49"/>
                </a:solidFill>
                <a:latin typeface="Aptos"/>
                <a:ea typeface="Aptos"/>
                <a:cs typeface="Aptos"/>
              </a:defRPr>
            </a:pPr>
            <a:r>
              <a:rPr sz="900" b="1">
                <a:solidFill>
                  <a:srgbClr val="315C49"/>
                </a:solidFill>
                <a:latin typeface="Aptos"/>
                <a:ea typeface="Aptos"/>
                <a:cs typeface="Aptos"/>
              </a:rPr>
              <a:t>02</a:t>
            </a:r>
          </a:p>
        </p:txBody>
      </p:sp>
      <p:sp>
        <p:nvSpPr>
          <p:cNvPr id="8" name="矩形 7">
            <a:extLst>
              <a:ext uri="{FF2B5EF4-FFF2-40B4-BE49-F238E27FC236}">
                <a16:creationId xmlns:a16="http://schemas.microsoft.com/office/drawing/2014/main" id="{4445A0D0-7355-4409-8D55-FE2ACB6BF856}"/>
              </a:ext>
            </a:extLst>
          </p:cNvPr>
          <p:cNvSpPr>
            <a:spLocks noGrp="1"/>
          </p:cNvSpPr>
          <p:nvPr/>
        </p:nvSpPr>
        <p:spPr>
          <a:xfrm>
            <a:off x="857250" y="1809750"/>
            <a:ext cx="2095500" cy="457200"/>
          </a:xfrm>
          <a:prstGeom prst="rect">
            <a:avLst/>
          </a:prstGeom>
          <a:solidFill>
            <a:srgbClr val="315C49"/>
          </a:solidFill>
          <a:ln w="7620">
            <a:solidFill>
              <a:srgbClr val="D8D1C3"/>
            </a:solidFill>
            <a:prstDash val="solid"/>
          </a:ln>
        </p:spPr>
      </p:sp>
      <p:sp>
        <p:nvSpPr>
          <p:cNvPr id="9" name="矩形 8">
            <a:extLst>
              <a:ext uri="{FF2B5EF4-FFF2-40B4-BE49-F238E27FC236}">
                <a16:creationId xmlns:a16="http://schemas.microsoft.com/office/drawing/2014/main" id="{09F86C95-080F-47CC-9C10-B104EB79AB6D}"/>
              </a:ext>
            </a:extLst>
          </p:cNvPr>
          <p:cNvSpPr>
            <a:spLocks noGrp="1"/>
          </p:cNvSpPr>
          <p:nvPr/>
        </p:nvSpPr>
        <p:spPr>
          <a:xfrm>
            <a:off x="952500" y="1885950"/>
            <a:ext cx="1905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Aptos"/>
                <a:ea typeface="Aptos"/>
                <a:cs typeface="Aptos"/>
              </a:defRPr>
            </a:pPr>
            <a:r>
              <a:rPr sz="1125" b="1">
                <a:solidFill>
                  <a:srgbClr val="FFFFFF"/>
                </a:solidFill>
                <a:latin typeface="Aptos"/>
                <a:ea typeface="Aptos"/>
                <a:cs typeface="Aptos"/>
              </a:rPr>
              <a:t>Output</a:t>
            </a:r>
          </a:p>
        </p:txBody>
      </p:sp>
      <p:sp>
        <p:nvSpPr>
          <p:cNvPr id="10" name="矩形 9">
            <a:extLst>
              <a:ext uri="{FF2B5EF4-FFF2-40B4-BE49-F238E27FC236}">
                <a16:creationId xmlns:a16="http://schemas.microsoft.com/office/drawing/2014/main" id="{6C815F98-63B9-4E83-A792-E5E3B9064426}"/>
              </a:ext>
            </a:extLst>
          </p:cNvPr>
          <p:cNvSpPr>
            <a:spLocks noGrp="1"/>
          </p:cNvSpPr>
          <p:nvPr/>
        </p:nvSpPr>
        <p:spPr>
          <a:xfrm>
            <a:off x="2952750" y="1809750"/>
            <a:ext cx="4095750" cy="457200"/>
          </a:xfrm>
          <a:prstGeom prst="rect">
            <a:avLst/>
          </a:prstGeom>
          <a:solidFill>
            <a:srgbClr val="315C49"/>
          </a:solidFill>
          <a:ln w="7620">
            <a:solidFill>
              <a:srgbClr val="D8D1C3"/>
            </a:solidFill>
            <a:prstDash val="solid"/>
          </a:ln>
        </p:spPr>
      </p:sp>
      <p:sp>
        <p:nvSpPr>
          <p:cNvPr id="11" name="矩形 10">
            <a:extLst>
              <a:ext uri="{FF2B5EF4-FFF2-40B4-BE49-F238E27FC236}">
                <a16:creationId xmlns:a16="http://schemas.microsoft.com/office/drawing/2014/main" id="{EAB2AA8A-AF68-420C-AA40-22690792D5EE}"/>
              </a:ext>
            </a:extLst>
          </p:cNvPr>
          <p:cNvSpPr>
            <a:spLocks noGrp="1"/>
          </p:cNvSpPr>
          <p:nvPr/>
        </p:nvSpPr>
        <p:spPr>
          <a:xfrm>
            <a:off x="3048000" y="1885950"/>
            <a:ext cx="3905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Aptos"/>
                <a:ea typeface="Aptos"/>
                <a:cs typeface="Aptos"/>
              </a:defRPr>
            </a:pPr>
            <a:r>
              <a:rPr sz="1125" b="1">
                <a:solidFill>
                  <a:srgbClr val="FFFFFF"/>
                </a:solidFill>
                <a:latin typeface="Aptos"/>
                <a:ea typeface="Aptos"/>
                <a:cs typeface="Aptos"/>
              </a:rPr>
              <a:t>What I did</a:t>
            </a:r>
          </a:p>
        </p:txBody>
      </p:sp>
      <p:sp>
        <p:nvSpPr>
          <p:cNvPr id="12" name="矩形 11">
            <a:extLst>
              <a:ext uri="{FF2B5EF4-FFF2-40B4-BE49-F238E27FC236}">
                <a16:creationId xmlns:a16="http://schemas.microsoft.com/office/drawing/2014/main" id="{67966F74-ECC5-478E-9359-23F3A50A50C3}"/>
              </a:ext>
            </a:extLst>
          </p:cNvPr>
          <p:cNvSpPr>
            <a:spLocks noGrp="1"/>
          </p:cNvSpPr>
          <p:nvPr/>
        </p:nvSpPr>
        <p:spPr>
          <a:xfrm>
            <a:off x="7048500" y="1809750"/>
            <a:ext cx="3714750" cy="457200"/>
          </a:xfrm>
          <a:prstGeom prst="rect">
            <a:avLst/>
          </a:prstGeom>
          <a:solidFill>
            <a:srgbClr val="315C49"/>
          </a:solidFill>
          <a:ln w="7620">
            <a:solidFill>
              <a:srgbClr val="D8D1C3"/>
            </a:solidFill>
            <a:prstDash val="solid"/>
          </a:ln>
        </p:spPr>
      </p:sp>
      <p:sp>
        <p:nvSpPr>
          <p:cNvPr id="13" name="矩形 12">
            <a:extLst>
              <a:ext uri="{FF2B5EF4-FFF2-40B4-BE49-F238E27FC236}">
                <a16:creationId xmlns:a16="http://schemas.microsoft.com/office/drawing/2014/main" id="{E9C64017-1033-4C5E-9C2F-6ACE0E506335}"/>
              </a:ext>
            </a:extLst>
          </p:cNvPr>
          <p:cNvSpPr>
            <a:spLocks noGrp="1"/>
          </p:cNvSpPr>
          <p:nvPr/>
        </p:nvSpPr>
        <p:spPr>
          <a:xfrm>
            <a:off x="7143750" y="1885950"/>
            <a:ext cx="3524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Aptos"/>
                <a:ea typeface="Aptos"/>
                <a:cs typeface="Aptos"/>
              </a:defRPr>
            </a:pPr>
            <a:r>
              <a:rPr sz="1125" b="1">
                <a:solidFill>
                  <a:srgbClr val="FFFFFF"/>
                </a:solidFill>
                <a:latin typeface="Aptos"/>
                <a:ea typeface="Aptos"/>
                <a:cs typeface="Aptos"/>
              </a:rPr>
              <a:t>Why it matters</a:t>
            </a:r>
          </a:p>
        </p:txBody>
      </p:sp>
      <p:sp>
        <p:nvSpPr>
          <p:cNvPr id="14" name="矩形 13">
            <a:extLst>
              <a:ext uri="{FF2B5EF4-FFF2-40B4-BE49-F238E27FC236}">
                <a16:creationId xmlns:a16="http://schemas.microsoft.com/office/drawing/2014/main" id="{D5B095CD-5DC3-4341-9E23-99C512DE8F53}"/>
              </a:ext>
            </a:extLst>
          </p:cNvPr>
          <p:cNvSpPr>
            <a:spLocks noGrp="1"/>
          </p:cNvSpPr>
          <p:nvPr/>
        </p:nvSpPr>
        <p:spPr>
          <a:xfrm>
            <a:off x="857250" y="2266950"/>
            <a:ext cx="2095500" cy="742950"/>
          </a:xfrm>
          <a:prstGeom prst="rect">
            <a:avLst/>
          </a:prstGeom>
          <a:solidFill>
            <a:srgbClr val="FBF8F1"/>
          </a:solidFill>
          <a:ln w="7620">
            <a:solidFill>
              <a:srgbClr val="D8D1C3"/>
            </a:solidFill>
            <a:prstDash val="solid"/>
          </a:ln>
        </p:spPr>
      </p:sp>
      <p:sp>
        <p:nvSpPr>
          <p:cNvPr id="15" name="矩形 14">
            <a:extLst>
              <a:ext uri="{FF2B5EF4-FFF2-40B4-BE49-F238E27FC236}">
                <a16:creationId xmlns:a16="http://schemas.microsoft.com/office/drawing/2014/main" id="{3AE4D640-38B5-4469-9424-901CD4624788}"/>
              </a:ext>
            </a:extLst>
          </p:cNvPr>
          <p:cNvSpPr>
            <a:spLocks noGrp="1"/>
          </p:cNvSpPr>
          <p:nvPr/>
        </p:nvSpPr>
        <p:spPr>
          <a:xfrm>
            <a:off x="952500" y="2343150"/>
            <a:ext cx="1905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01C"/>
                </a:solidFill>
                <a:latin typeface="Aptos"/>
                <a:ea typeface="Aptos"/>
                <a:cs typeface="Aptos"/>
              </a:defRPr>
            </a:pPr>
            <a:r>
              <a:rPr sz="1125" b="1">
                <a:solidFill>
                  <a:srgbClr val="17201C"/>
                </a:solidFill>
                <a:latin typeface="Aptos"/>
                <a:ea typeface="Aptos"/>
                <a:cs typeface="Aptos"/>
              </a:rPr>
              <a:t>Topic boundary</a:t>
            </a:r>
          </a:p>
        </p:txBody>
      </p:sp>
      <p:sp>
        <p:nvSpPr>
          <p:cNvPr id="16" name="矩形 15">
            <a:extLst>
              <a:ext uri="{FF2B5EF4-FFF2-40B4-BE49-F238E27FC236}">
                <a16:creationId xmlns:a16="http://schemas.microsoft.com/office/drawing/2014/main" id="{C3361C8F-F913-4995-AC7B-91F83AD9E021}"/>
              </a:ext>
            </a:extLst>
          </p:cNvPr>
          <p:cNvSpPr>
            <a:spLocks noGrp="1"/>
          </p:cNvSpPr>
          <p:nvPr/>
        </p:nvSpPr>
        <p:spPr>
          <a:xfrm>
            <a:off x="2952750" y="2266950"/>
            <a:ext cx="4095750" cy="742950"/>
          </a:xfrm>
          <a:prstGeom prst="rect">
            <a:avLst/>
          </a:prstGeom>
          <a:solidFill>
            <a:srgbClr val="FBF8F1"/>
          </a:solidFill>
          <a:ln w="7620">
            <a:solidFill>
              <a:srgbClr val="D8D1C3"/>
            </a:solidFill>
            <a:prstDash val="solid"/>
          </a:ln>
        </p:spPr>
      </p:sp>
      <p:sp>
        <p:nvSpPr>
          <p:cNvPr id="17" name="矩形 16">
            <a:extLst>
              <a:ext uri="{FF2B5EF4-FFF2-40B4-BE49-F238E27FC236}">
                <a16:creationId xmlns:a16="http://schemas.microsoft.com/office/drawing/2014/main" id="{D47E5C3B-0873-4736-B1A4-346392FF162D}"/>
              </a:ext>
            </a:extLst>
          </p:cNvPr>
          <p:cNvSpPr>
            <a:spLocks noGrp="1"/>
          </p:cNvSpPr>
          <p:nvPr/>
        </p:nvSpPr>
        <p:spPr>
          <a:xfrm>
            <a:off x="3048000" y="2343150"/>
            <a:ext cx="3905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Defined cell manufacturing as the main scope.</a:t>
            </a:r>
          </a:p>
        </p:txBody>
      </p:sp>
      <p:sp>
        <p:nvSpPr>
          <p:cNvPr id="18" name="矩形 17">
            <a:extLst>
              <a:ext uri="{FF2B5EF4-FFF2-40B4-BE49-F238E27FC236}">
                <a16:creationId xmlns:a16="http://schemas.microsoft.com/office/drawing/2014/main" id="{A703DDBF-B8E9-47B1-9355-2A5D252DB783}"/>
              </a:ext>
            </a:extLst>
          </p:cNvPr>
          <p:cNvSpPr>
            <a:spLocks noGrp="1"/>
          </p:cNvSpPr>
          <p:nvPr/>
        </p:nvSpPr>
        <p:spPr>
          <a:xfrm>
            <a:off x="7048500" y="2266950"/>
            <a:ext cx="3714750" cy="742950"/>
          </a:xfrm>
          <a:prstGeom prst="rect">
            <a:avLst/>
          </a:prstGeom>
          <a:solidFill>
            <a:srgbClr val="FBF8F1"/>
          </a:solidFill>
          <a:ln w="7620">
            <a:solidFill>
              <a:srgbClr val="D8D1C3"/>
            </a:solidFill>
            <a:prstDash val="solid"/>
          </a:ln>
        </p:spPr>
      </p:sp>
      <p:sp>
        <p:nvSpPr>
          <p:cNvPr id="19" name="矩形 18">
            <a:extLst>
              <a:ext uri="{FF2B5EF4-FFF2-40B4-BE49-F238E27FC236}">
                <a16:creationId xmlns:a16="http://schemas.microsoft.com/office/drawing/2014/main" id="{B18AEFF3-779D-4C80-8B0A-1D7C675BF2F8}"/>
              </a:ext>
            </a:extLst>
          </p:cNvPr>
          <p:cNvSpPr>
            <a:spLocks noGrp="1"/>
          </p:cNvSpPr>
          <p:nvPr/>
        </p:nvSpPr>
        <p:spPr>
          <a:xfrm>
            <a:off x="7143750" y="2343150"/>
            <a:ext cx="3524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Avoids the thesis becoming too broad.</a:t>
            </a:r>
          </a:p>
        </p:txBody>
      </p:sp>
      <p:sp>
        <p:nvSpPr>
          <p:cNvPr id="20" name="矩形 19">
            <a:extLst>
              <a:ext uri="{FF2B5EF4-FFF2-40B4-BE49-F238E27FC236}">
                <a16:creationId xmlns:a16="http://schemas.microsoft.com/office/drawing/2014/main" id="{D28D5AA5-E361-4C4D-BFCC-52C0446A2B18}"/>
              </a:ext>
            </a:extLst>
          </p:cNvPr>
          <p:cNvSpPr>
            <a:spLocks noGrp="1"/>
          </p:cNvSpPr>
          <p:nvPr/>
        </p:nvSpPr>
        <p:spPr>
          <a:xfrm>
            <a:off x="857250" y="3009900"/>
            <a:ext cx="2095500" cy="742950"/>
          </a:xfrm>
          <a:prstGeom prst="rect">
            <a:avLst/>
          </a:prstGeom>
          <a:solidFill>
            <a:srgbClr val="FFFFFF"/>
          </a:solidFill>
          <a:ln w="7620">
            <a:solidFill>
              <a:srgbClr val="D8D1C3"/>
            </a:solidFill>
            <a:prstDash val="solid"/>
          </a:ln>
        </p:spPr>
      </p:sp>
      <p:sp>
        <p:nvSpPr>
          <p:cNvPr id="21" name="矩形 20">
            <a:extLst>
              <a:ext uri="{FF2B5EF4-FFF2-40B4-BE49-F238E27FC236}">
                <a16:creationId xmlns:a16="http://schemas.microsoft.com/office/drawing/2014/main" id="{7D7C2C81-CF3A-4ADF-9410-9DC6DE0B8CF2}"/>
              </a:ext>
            </a:extLst>
          </p:cNvPr>
          <p:cNvSpPr>
            <a:spLocks noGrp="1"/>
          </p:cNvSpPr>
          <p:nvPr/>
        </p:nvSpPr>
        <p:spPr>
          <a:xfrm>
            <a:off x="952500" y="3086100"/>
            <a:ext cx="1905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01C"/>
                </a:solidFill>
                <a:latin typeface="Aptos"/>
                <a:ea typeface="Aptos"/>
                <a:cs typeface="Aptos"/>
              </a:defRPr>
            </a:pPr>
            <a:r>
              <a:rPr sz="1125" b="1">
                <a:solidFill>
                  <a:srgbClr val="17201C"/>
                </a:solidFill>
                <a:latin typeface="Aptos"/>
                <a:ea typeface="Aptos"/>
                <a:cs typeface="Aptos"/>
              </a:rPr>
              <a:t>Battery basics</a:t>
            </a:r>
          </a:p>
        </p:txBody>
      </p:sp>
      <p:sp>
        <p:nvSpPr>
          <p:cNvPr id="22" name="矩形 21">
            <a:extLst>
              <a:ext uri="{FF2B5EF4-FFF2-40B4-BE49-F238E27FC236}">
                <a16:creationId xmlns:a16="http://schemas.microsoft.com/office/drawing/2014/main" id="{14FEBE67-61B3-4A42-BC56-A888C47E78D2}"/>
              </a:ext>
            </a:extLst>
          </p:cNvPr>
          <p:cNvSpPr>
            <a:spLocks noGrp="1"/>
          </p:cNvSpPr>
          <p:nvPr/>
        </p:nvSpPr>
        <p:spPr>
          <a:xfrm>
            <a:off x="2952750" y="3009900"/>
            <a:ext cx="4095750" cy="742950"/>
          </a:xfrm>
          <a:prstGeom prst="rect">
            <a:avLst/>
          </a:prstGeom>
          <a:solidFill>
            <a:srgbClr val="FFFFFF"/>
          </a:solidFill>
          <a:ln w="7620">
            <a:solidFill>
              <a:srgbClr val="D8D1C3"/>
            </a:solidFill>
            <a:prstDash val="solid"/>
          </a:ln>
        </p:spPr>
      </p:sp>
      <p:sp>
        <p:nvSpPr>
          <p:cNvPr id="23" name="矩形 22">
            <a:extLst>
              <a:ext uri="{FF2B5EF4-FFF2-40B4-BE49-F238E27FC236}">
                <a16:creationId xmlns:a16="http://schemas.microsoft.com/office/drawing/2014/main" id="{97B7A232-009A-4411-A6AF-C34391D84245}"/>
              </a:ext>
            </a:extLst>
          </p:cNvPr>
          <p:cNvSpPr>
            <a:spLocks noGrp="1"/>
          </p:cNvSpPr>
          <p:nvPr/>
        </p:nvSpPr>
        <p:spPr>
          <a:xfrm>
            <a:off x="3048000" y="3086100"/>
            <a:ext cx="3905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Read Li-ion fundamentals and made notes.</a:t>
            </a:r>
          </a:p>
        </p:txBody>
      </p:sp>
      <p:sp>
        <p:nvSpPr>
          <p:cNvPr id="24" name="矩形 23">
            <a:extLst>
              <a:ext uri="{FF2B5EF4-FFF2-40B4-BE49-F238E27FC236}">
                <a16:creationId xmlns:a16="http://schemas.microsoft.com/office/drawing/2014/main" id="{FC0DF377-59F5-402E-B3CC-860087AED504}"/>
              </a:ext>
            </a:extLst>
          </p:cNvPr>
          <p:cNvSpPr>
            <a:spLocks noGrp="1"/>
          </p:cNvSpPr>
          <p:nvPr/>
        </p:nvSpPr>
        <p:spPr>
          <a:xfrm>
            <a:off x="7048500" y="3009900"/>
            <a:ext cx="3714750" cy="742950"/>
          </a:xfrm>
          <a:prstGeom prst="rect">
            <a:avLst/>
          </a:prstGeom>
          <a:solidFill>
            <a:srgbClr val="FFFFFF"/>
          </a:solidFill>
          <a:ln w="7620">
            <a:solidFill>
              <a:srgbClr val="D8D1C3"/>
            </a:solidFill>
            <a:prstDash val="solid"/>
          </a:ln>
        </p:spPr>
      </p:sp>
      <p:sp>
        <p:nvSpPr>
          <p:cNvPr id="25" name="矩形 24">
            <a:extLst>
              <a:ext uri="{FF2B5EF4-FFF2-40B4-BE49-F238E27FC236}">
                <a16:creationId xmlns:a16="http://schemas.microsoft.com/office/drawing/2014/main" id="{C3F9C5D7-21D8-45D8-965F-20B11A127692}"/>
              </a:ext>
            </a:extLst>
          </p:cNvPr>
          <p:cNvSpPr>
            <a:spLocks noGrp="1"/>
          </p:cNvSpPr>
          <p:nvPr/>
        </p:nvSpPr>
        <p:spPr>
          <a:xfrm>
            <a:off x="7143750" y="3086100"/>
            <a:ext cx="3524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Explains dry room, safety, and quality constraints.</a:t>
            </a:r>
          </a:p>
        </p:txBody>
      </p:sp>
      <p:sp>
        <p:nvSpPr>
          <p:cNvPr id="26" name="矩形 25">
            <a:extLst>
              <a:ext uri="{FF2B5EF4-FFF2-40B4-BE49-F238E27FC236}">
                <a16:creationId xmlns:a16="http://schemas.microsoft.com/office/drawing/2014/main" id="{F2CE93A6-F89F-4880-816D-E2F157F13E21}"/>
              </a:ext>
            </a:extLst>
          </p:cNvPr>
          <p:cNvSpPr>
            <a:spLocks noGrp="1"/>
          </p:cNvSpPr>
          <p:nvPr/>
        </p:nvSpPr>
        <p:spPr>
          <a:xfrm>
            <a:off x="857250" y="3752850"/>
            <a:ext cx="2095500" cy="742950"/>
          </a:xfrm>
          <a:prstGeom prst="rect">
            <a:avLst/>
          </a:prstGeom>
          <a:solidFill>
            <a:srgbClr val="FBF8F1"/>
          </a:solidFill>
          <a:ln w="7620">
            <a:solidFill>
              <a:srgbClr val="D8D1C3"/>
            </a:solidFill>
            <a:prstDash val="solid"/>
          </a:ln>
        </p:spPr>
      </p:sp>
      <p:sp>
        <p:nvSpPr>
          <p:cNvPr id="27" name="矩形 26">
            <a:extLst>
              <a:ext uri="{FF2B5EF4-FFF2-40B4-BE49-F238E27FC236}">
                <a16:creationId xmlns:a16="http://schemas.microsoft.com/office/drawing/2014/main" id="{784E4208-32C4-4180-A659-EC747DB7E493}"/>
              </a:ext>
            </a:extLst>
          </p:cNvPr>
          <p:cNvSpPr>
            <a:spLocks noGrp="1"/>
          </p:cNvSpPr>
          <p:nvPr/>
        </p:nvSpPr>
        <p:spPr>
          <a:xfrm>
            <a:off x="952500" y="3829050"/>
            <a:ext cx="1905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01C"/>
                </a:solidFill>
                <a:latin typeface="Aptos"/>
                <a:ea typeface="Aptos"/>
                <a:cs typeface="Aptos"/>
              </a:defRPr>
            </a:pPr>
            <a:r>
              <a:rPr sz="1125" b="1">
                <a:solidFill>
                  <a:srgbClr val="17201C"/>
                </a:solidFill>
                <a:latin typeface="Aptos"/>
                <a:ea typeface="Aptos"/>
                <a:cs typeface="Aptos"/>
              </a:rPr>
              <a:t>Process map</a:t>
            </a:r>
          </a:p>
        </p:txBody>
      </p:sp>
      <p:sp>
        <p:nvSpPr>
          <p:cNvPr id="28" name="矩形 27">
            <a:extLst>
              <a:ext uri="{FF2B5EF4-FFF2-40B4-BE49-F238E27FC236}">
                <a16:creationId xmlns:a16="http://schemas.microsoft.com/office/drawing/2014/main" id="{F9AAEFEF-9483-4C92-8632-A4C69B27964F}"/>
              </a:ext>
            </a:extLst>
          </p:cNvPr>
          <p:cNvSpPr>
            <a:spLocks noGrp="1"/>
          </p:cNvSpPr>
          <p:nvPr/>
        </p:nvSpPr>
        <p:spPr>
          <a:xfrm>
            <a:off x="2952750" y="3752850"/>
            <a:ext cx="4095750" cy="742950"/>
          </a:xfrm>
          <a:prstGeom prst="rect">
            <a:avLst/>
          </a:prstGeom>
          <a:solidFill>
            <a:srgbClr val="FBF8F1"/>
          </a:solidFill>
          <a:ln w="7620">
            <a:solidFill>
              <a:srgbClr val="D8D1C3"/>
            </a:solidFill>
            <a:prstDash val="solid"/>
          </a:ln>
        </p:spPr>
      </p:sp>
      <p:sp>
        <p:nvSpPr>
          <p:cNvPr id="29" name="矩形 28">
            <a:extLst>
              <a:ext uri="{FF2B5EF4-FFF2-40B4-BE49-F238E27FC236}">
                <a16:creationId xmlns:a16="http://schemas.microsoft.com/office/drawing/2014/main" id="{B3C05742-D5E5-499D-9947-93506835180D}"/>
              </a:ext>
            </a:extLst>
          </p:cNvPr>
          <p:cNvSpPr>
            <a:spLocks noGrp="1"/>
          </p:cNvSpPr>
          <p:nvPr/>
        </p:nvSpPr>
        <p:spPr>
          <a:xfrm>
            <a:off x="3048000" y="3829050"/>
            <a:ext cx="3905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Mapped electrode, assembly, finishing, and logistics steps.</a:t>
            </a:r>
          </a:p>
        </p:txBody>
      </p:sp>
      <p:sp>
        <p:nvSpPr>
          <p:cNvPr id="30" name="矩形 29">
            <a:extLst>
              <a:ext uri="{FF2B5EF4-FFF2-40B4-BE49-F238E27FC236}">
                <a16:creationId xmlns:a16="http://schemas.microsoft.com/office/drawing/2014/main" id="{1C0834C7-2039-472C-BEC0-87466C2E11C9}"/>
              </a:ext>
            </a:extLst>
          </p:cNvPr>
          <p:cNvSpPr>
            <a:spLocks noGrp="1"/>
          </p:cNvSpPr>
          <p:nvPr/>
        </p:nvSpPr>
        <p:spPr>
          <a:xfrm>
            <a:off x="7048500" y="3752850"/>
            <a:ext cx="3714750" cy="742950"/>
          </a:xfrm>
          <a:prstGeom prst="rect">
            <a:avLst/>
          </a:prstGeom>
          <a:solidFill>
            <a:srgbClr val="FBF8F1"/>
          </a:solidFill>
          <a:ln w="7620">
            <a:solidFill>
              <a:srgbClr val="D8D1C3"/>
            </a:solidFill>
            <a:prstDash val="solid"/>
          </a:ln>
        </p:spPr>
      </p:sp>
      <p:sp>
        <p:nvSpPr>
          <p:cNvPr id="31" name="矩形 30">
            <a:extLst>
              <a:ext uri="{FF2B5EF4-FFF2-40B4-BE49-F238E27FC236}">
                <a16:creationId xmlns:a16="http://schemas.microsoft.com/office/drawing/2014/main" id="{EAC9261E-2D22-4B2A-B760-D3331EA7CAD3}"/>
              </a:ext>
            </a:extLst>
          </p:cNvPr>
          <p:cNvSpPr>
            <a:spLocks noGrp="1"/>
          </p:cNvSpPr>
          <p:nvPr/>
        </p:nvSpPr>
        <p:spPr>
          <a:xfrm>
            <a:off x="7143750" y="3829050"/>
            <a:ext cx="3524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Creates the structure for robotic application screening.</a:t>
            </a:r>
          </a:p>
        </p:txBody>
      </p:sp>
      <p:sp>
        <p:nvSpPr>
          <p:cNvPr id="32" name="矩形 31">
            <a:extLst>
              <a:ext uri="{FF2B5EF4-FFF2-40B4-BE49-F238E27FC236}">
                <a16:creationId xmlns:a16="http://schemas.microsoft.com/office/drawing/2014/main" id="{7E6BA80B-C869-40BB-B3C0-C58BEA2EDC0E}"/>
              </a:ext>
            </a:extLst>
          </p:cNvPr>
          <p:cNvSpPr>
            <a:spLocks noGrp="1"/>
          </p:cNvSpPr>
          <p:nvPr/>
        </p:nvSpPr>
        <p:spPr>
          <a:xfrm>
            <a:off x="857250" y="4495800"/>
            <a:ext cx="2095500" cy="742950"/>
          </a:xfrm>
          <a:prstGeom prst="rect">
            <a:avLst/>
          </a:prstGeom>
          <a:solidFill>
            <a:srgbClr val="FFFFFF"/>
          </a:solidFill>
          <a:ln w="7620">
            <a:solidFill>
              <a:srgbClr val="D8D1C3"/>
            </a:solidFill>
            <a:prstDash val="solid"/>
          </a:ln>
        </p:spPr>
      </p:sp>
      <p:sp>
        <p:nvSpPr>
          <p:cNvPr id="33" name="矩形 32">
            <a:extLst>
              <a:ext uri="{FF2B5EF4-FFF2-40B4-BE49-F238E27FC236}">
                <a16:creationId xmlns:a16="http://schemas.microsoft.com/office/drawing/2014/main" id="{C7BFE6E3-3186-4246-94E8-439B9BA71C99}"/>
              </a:ext>
            </a:extLst>
          </p:cNvPr>
          <p:cNvSpPr>
            <a:spLocks noGrp="1"/>
          </p:cNvSpPr>
          <p:nvPr/>
        </p:nvSpPr>
        <p:spPr>
          <a:xfrm>
            <a:off x="952500" y="4572000"/>
            <a:ext cx="1905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01C"/>
                </a:solidFill>
                <a:latin typeface="Aptos"/>
                <a:ea typeface="Aptos"/>
                <a:cs typeface="Aptos"/>
              </a:defRPr>
            </a:pPr>
            <a:r>
              <a:rPr sz="1125" b="1">
                <a:solidFill>
                  <a:srgbClr val="17201C"/>
                </a:solidFill>
                <a:latin typeface="Aptos"/>
                <a:ea typeface="Aptos"/>
                <a:cs typeface="Aptos"/>
              </a:rPr>
              <a:t>Use-case shortlist</a:t>
            </a:r>
          </a:p>
        </p:txBody>
      </p:sp>
      <p:sp>
        <p:nvSpPr>
          <p:cNvPr id="34" name="矩形 33">
            <a:extLst>
              <a:ext uri="{FF2B5EF4-FFF2-40B4-BE49-F238E27FC236}">
                <a16:creationId xmlns:a16="http://schemas.microsoft.com/office/drawing/2014/main" id="{606AF5A6-A76A-4917-8852-E524D6C1D7C3}"/>
              </a:ext>
            </a:extLst>
          </p:cNvPr>
          <p:cNvSpPr>
            <a:spLocks noGrp="1"/>
          </p:cNvSpPr>
          <p:nvPr/>
        </p:nvSpPr>
        <p:spPr>
          <a:xfrm>
            <a:off x="2952750" y="4495800"/>
            <a:ext cx="4095750" cy="742950"/>
          </a:xfrm>
          <a:prstGeom prst="rect">
            <a:avLst/>
          </a:prstGeom>
          <a:solidFill>
            <a:srgbClr val="FFFFFF"/>
          </a:solidFill>
          <a:ln w="7620">
            <a:solidFill>
              <a:srgbClr val="D8D1C3"/>
            </a:solidFill>
            <a:prstDash val="solid"/>
          </a:ln>
        </p:spPr>
      </p:sp>
      <p:sp>
        <p:nvSpPr>
          <p:cNvPr id="35" name="矩形 34">
            <a:extLst>
              <a:ext uri="{FF2B5EF4-FFF2-40B4-BE49-F238E27FC236}">
                <a16:creationId xmlns:a16="http://schemas.microsoft.com/office/drawing/2014/main" id="{61984449-24E8-4D3D-AE06-5519B7F3C218}"/>
              </a:ext>
            </a:extLst>
          </p:cNvPr>
          <p:cNvSpPr>
            <a:spLocks noGrp="1"/>
          </p:cNvSpPr>
          <p:nvPr/>
        </p:nvSpPr>
        <p:spPr>
          <a:xfrm>
            <a:off x="3048000" y="4572000"/>
            <a:ext cx="3905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Selected first candidate robotic applications.</a:t>
            </a:r>
          </a:p>
        </p:txBody>
      </p:sp>
      <p:sp>
        <p:nvSpPr>
          <p:cNvPr id="36" name="矩形 35">
            <a:extLst>
              <a:ext uri="{FF2B5EF4-FFF2-40B4-BE49-F238E27FC236}">
                <a16:creationId xmlns:a16="http://schemas.microsoft.com/office/drawing/2014/main" id="{9548144B-9C7C-497E-9995-DA41D9E4E98E}"/>
              </a:ext>
            </a:extLst>
          </p:cNvPr>
          <p:cNvSpPr>
            <a:spLocks noGrp="1"/>
          </p:cNvSpPr>
          <p:nvPr/>
        </p:nvSpPr>
        <p:spPr>
          <a:xfrm>
            <a:off x="7048500" y="4495800"/>
            <a:ext cx="3714750" cy="742950"/>
          </a:xfrm>
          <a:prstGeom prst="rect">
            <a:avLst/>
          </a:prstGeom>
          <a:solidFill>
            <a:srgbClr val="FFFFFF"/>
          </a:solidFill>
          <a:ln w="7620">
            <a:solidFill>
              <a:srgbClr val="D8D1C3"/>
            </a:solidFill>
            <a:prstDash val="solid"/>
          </a:ln>
        </p:spPr>
      </p:sp>
      <p:sp>
        <p:nvSpPr>
          <p:cNvPr id="37" name="矩形 36">
            <a:extLst>
              <a:ext uri="{FF2B5EF4-FFF2-40B4-BE49-F238E27FC236}">
                <a16:creationId xmlns:a16="http://schemas.microsoft.com/office/drawing/2014/main" id="{D30D8BD5-FD37-41BE-8495-D199CE681CAC}"/>
              </a:ext>
            </a:extLst>
          </p:cNvPr>
          <p:cNvSpPr>
            <a:spLocks noGrp="1"/>
          </p:cNvSpPr>
          <p:nvPr/>
        </p:nvSpPr>
        <p:spPr>
          <a:xfrm>
            <a:off x="7143750" y="4572000"/>
            <a:ext cx="3524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Gives the thesis a possible evaluation direction.</a:t>
            </a:r>
          </a:p>
        </p:txBody>
      </p:sp>
    </p:spTree>
    <p:extLst>
      <p:ext uri="{BB962C8B-B14F-4D97-AF65-F5344CB8AC3E}">
        <p14:creationId xmlns:p14="http://schemas.microsoft.com/office/powerpoint/2010/main" val="673411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04009B3F-0394-406D-B3E6-FF9345F89BEB}"/>
              </a:ext>
            </a:extLst>
          </p:cNvPr>
          <p:cNvSpPr>
            <a:spLocks noGrp="1"/>
          </p:cNvSpPr>
          <p:nvPr/>
        </p:nvSpPr>
        <p:spPr>
          <a:xfrm>
            <a:off x="0" y="0"/>
            <a:ext cx="12192000" cy="6858000"/>
          </a:xfrm>
          <a:prstGeom prst="rect">
            <a:avLst/>
          </a:prstGeom>
          <a:solidFill>
            <a:srgbClr val="F7F3EA"/>
          </a:solidFill>
          <a:ln w="0">
            <a:solidFill>
              <a:srgbClr val="000000">
                <a:alpha val="0"/>
              </a:srgbClr>
            </a:solidFill>
            <a:prstDash val="solid"/>
          </a:ln>
        </p:spPr>
      </p:sp>
      <p:sp>
        <p:nvSpPr>
          <p:cNvPr id="2" name="kicker-3-marker">
            <a:extLst>
              <a:ext uri="{FF2B5EF4-FFF2-40B4-BE49-F238E27FC236}">
                <a16:creationId xmlns:a16="http://schemas.microsoft.com/office/drawing/2014/main" id="{027114A4-FB1C-4609-BBF3-2EFA93BE589B}"/>
              </a:ext>
            </a:extLst>
          </p:cNvPr>
          <p:cNvSpPr>
            <a:spLocks noGrp="1"/>
          </p:cNvSpPr>
          <p:nvPr/>
        </p:nvSpPr>
        <p:spPr>
          <a:xfrm>
            <a:off x="514350" y="400050"/>
            <a:ext cx="95250" cy="95250"/>
          </a:xfrm>
          <a:prstGeom prst="ellipse">
            <a:avLst/>
          </a:prstGeom>
          <a:solidFill>
            <a:srgbClr val="B46B3A"/>
          </a:solidFill>
          <a:ln w="0">
            <a:solidFill>
              <a:srgbClr val="000000">
                <a:alpha val="0"/>
              </a:srgbClr>
            </a:solidFill>
            <a:prstDash val="solid"/>
          </a:ln>
        </p:spPr>
      </p:sp>
      <p:sp>
        <p:nvSpPr>
          <p:cNvPr id="3" name="kicker-3-label">
            <a:extLst>
              <a:ext uri="{FF2B5EF4-FFF2-40B4-BE49-F238E27FC236}">
                <a16:creationId xmlns:a16="http://schemas.microsoft.com/office/drawing/2014/main" id="{C72FA7A0-8D1B-4794-93E5-00F59E6AAF8F}"/>
              </a:ext>
            </a:extLst>
          </p:cNvPr>
          <p:cNvSpPr>
            <a:spLocks noGrp="1"/>
          </p:cNvSpPr>
          <p:nvPr/>
        </p:nvSpPr>
        <p:spPr>
          <a:xfrm>
            <a:off x="704850" y="323850"/>
            <a:ext cx="495300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38" b="1">
                <a:solidFill>
                  <a:srgbClr val="315C49"/>
                </a:solidFill>
                <a:latin typeface="Aptos"/>
                <a:ea typeface="Aptos"/>
                <a:cs typeface="Aptos"/>
              </a:defRPr>
            </a:pPr>
            <a:r>
              <a:rPr sz="938" b="1">
                <a:solidFill>
                  <a:srgbClr val="315C49"/>
                </a:solidFill>
                <a:latin typeface="Aptos"/>
                <a:ea typeface="Aptos"/>
                <a:cs typeface="Aptos"/>
              </a:rPr>
              <a:t>THESIS UNDERSTANDING</a:t>
            </a:r>
          </a:p>
        </p:txBody>
      </p:sp>
      <p:sp>
        <p:nvSpPr>
          <p:cNvPr id="4" name="矩形 3">
            <a:extLst>
              <a:ext uri="{FF2B5EF4-FFF2-40B4-BE49-F238E27FC236}">
                <a16:creationId xmlns:a16="http://schemas.microsoft.com/office/drawing/2014/main" id="{6B9A1956-E685-41A0-895F-033535CA6DC9}"/>
              </a:ext>
            </a:extLst>
          </p:cNvPr>
          <p:cNvSpPr>
            <a:spLocks noGrp="1"/>
          </p:cNvSpPr>
          <p:nvPr/>
        </p:nvSpPr>
        <p:spPr>
          <a:xfrm>
            <a:off x="514350" y="742950"/>
            <a:ext cx="9906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The focus is application evaluation, not robot controller design.</a:t>
            </a:r>
          </a:p>
        </p:txBody>
      </p:sp>
      <p:sp>
        <p:nvSpPr>
          <p:cNvPr id="5" name="矩形 4">
            <a:extLst>
              <a:ext uri="{FF2B5EF4-FFF2-40B4-BE49-F238E27FC236}">
                <a16:creationId xmlns:a16="http://schemas.microsoft.com/office/drawing/2014/main" id="{B7C14A86-2F7B-408F-81C3-1231F62B0E32}"/>
              </a:ext>
            </a:extLst>
          </p:cNvPr>
          <p:cNvSpPr>
            <a:spLocks noGrp="1"/>
          </p:cNvSpPr>
          <p:nvPr/>
        </p:nvSpPr>
        <p:spPr>
          <a:xfrm>
            <a:off x="514350" y="6153150"/>
            <a:ext cx="9620250" cy="11430"/>
          </a:xfrm>
          <a:prstGeom prst="rect">
            <a:avLst/>
          </a:prstGeom>
          <a:solidFill>
            <a:srgbClr val="D8D1C3"/>
          </a:solidFill>
          <a:ln w="0">
            <a:solidFill>
              <a:srgbClr val="000000">
                <a:alpha val="0"/>
              </a:srgbClr>
            </a:solidFill>
            <a:prstDash val="solid"/>
          </a:ln>
        </p:spPr>
      </p:sp>
      <p:sp>
        <p:nvSpPr>
          <p:cNvPr id="6" name="矩形 5">
            <a:extLst>
              <a:ext uri="{FF2B5EF4-FFF2-40B4-BE49-F238E27FC236}">
                <a16:creationId xmlns:a16="http://schemas.microsoft.com/office/drawing/2014/main" id="{8C375972-1DEC-4930-8A32-B13C45A4607E}"/>
              </a:ext>
            </a:extLst>
          </p:cNvPr>
          <p:cNvSpPr>
            <a:spLocks noGrp="1"/>
          </p:cNvSpPr>
          <p:nvPr/>
        </p:nvSpPr>
        <p:spPr>
          <a:xfrm>
            <a:off x="514350" y="6257925"/>
            <a:ext cx="6858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5E625D"/>
                </a:solidFill>
                <a:latin typeface="Aptos"/>
                <a:ea typeface="Aptos"/>
                <a:cs typeface="Aptos"/>
              </a:defRPr>
            </a:pPr>
            <a:r>
              <a:rPr sz="713" b="0">
                <a:solidFill>
                  <a:srgbClr val="5E625D"/>
                </a:solidFill>
                <a:latin typeface="Aptos"/>
                <a:ea typeface="Aptos"/>
                <a:cs typeface="Aptos"/>
              </a:rPr>
              <a:t>Week 01 group meeting | Robotic systems in battery manufacturing</a:t>
            </a:r>
          </a:p>
        </p:txBody>
      </p:sp>
      <p:sp>
        <p:nvSpPr>
          <p:cNvPr id="7" name="矩形 6">
            <a:extLst>
              <a:ext uri="{FF2B5EF4-FFF2-40B4-BE49-F238E27FC236}">
                <a16:creationId xmlns:a16="http://schemas.microsoft.com/office/drawing/2014/main" id="{0CBF286A-4FC2-4D1C-A37C-4B2576B564B6}"/>
              </a:ext>
            </a:extLst>
          </p:cNvPr>
          <p:cNvSpPr>
            <a:spLocks noGrp="1"/>
          </p:cNvSpPr>
          <p:nvPr/>
        </p:nvSpPr>
        <p:spPr>
          <a:xfrm>
            <a:off x="11049000" y="6229350"/>
            <a:ext cx="666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315C49"/>
                </a:solidFill>
                <a:latin typeface="Aptos"/>
                <a:ea typeface="Aptos"/>
                <a:cs typeface="Aptos"/>
              </a:defRPr>
            </a:pPr>
            <a:r>
              <a:rPr sz="900" b="1">
                <a:solidFill>
                  <a:srgbClr val="315C49"/>
                </a:solidFill>
                <a:latin typeface="Aptos"/>
                <a:ea typeface="Aptos"/>
                <a:cs typeface="Aptos"/>
              </a:rPr>
              <a:t>03</a:t>
            </a:r>
          </a:p>
        </p:txBody>
      </p:sp>
      <p:sp>
        <p:nvSpPr>
          <p:cNvPr id="8" name="矩形 7">
            <a:extLst>
              <a:ext uri="{FF2B5EF4-FFF2-40B4-BE49-F238E27FC236}">
                <a16:creationId xmlns:a16="http://schemas.microsoft.com/office/drawing/2014/main" id="{86B0433B-BF1D-4734-85E3-3E75461379E0}"/>
              </a:ext>
            </a:extLst>
          </p:cNvPr>
          <p:cNvSpPr>
            <a:spLocks noGrp="1"/>
          </p:cNvSpPr>
          <p:nvPr/>
        </p:nvSpPr>
        <p:spPr>
          <a:xfrm>
            <a:off x="762000" y="2047875"/>
            <a:ext cx="3238500" cy="2381250"/>
          </a:xfrm>
          <a:prstGeom prst="rect">
            <a:avLst/>
          </a:prstGeom>
          <a:solidFill>
            <a:srgbClr val="DDE8DF"/>
          </a:solidFill>
          <a:ln w="9525">
            <a:solidFill>
              <a:srgbClr val="D8D1C3"/>
            </a:solidFill>
            <a:prstDash val="solid"/>
          </a:ln>
        </p:spPr>
      </p:sp>
      <p:sp>
        <p:nvSpPr>
          <p:cNvPr id="9" name="矩形 8">
            <a:extLst>
              <a:ext uri="{FF2B5EF4-FFF2-40B4-BE49-F238E27FC236}">
                <a16:creationId xmlns:a16="http://schemas.microsoft.com/office/drawing/2014/main" id="{DC2920F7-313B-4341-8FA2-DD46ABEEB93D}"/>
              </a:ext>
            </a:extLst>
          </p:cNvPr>
          <p:cNvSpPr>
            <a:spLocks noGrp="1"/>
          </p:cNvSpPr>
          <p:nvPr/>
        </p:nvSpPr>
        <p:spPr>
          <a:xfrm>
            <a:off x="762000" y="2047875"/>
            <a:ext cx="3238500" cy="66675"/>
          </a:xfrm>
          <a:prstGeom prst="rect">
            <a:avLst/>
          </a:prstGeom>
          <a:solidFill>
            <a:srgbClr val="315C49"/>
          </a:solidFill>
          <a:ln w="0">
            <a:solidFill>
              <a:srgbClr val="000000">
                <a:alpha val="0"/>
              </a:srgbClr>
            </a:solidFill>
            <a:prstDash val="solid"/>
          </a:ln>
        </p:spPr>
      </p:sp>
      <p:sp>
        <p:nvSpPr>
          <p:cNvPr id="10" name="矩形 9">
            <a:extLst>
              <a:ext uri="{FF2B5EF4-FFF2-40B4-BE49-F238E27FC236}">
                <a16:creationId xmlns:a16="http://schemas.microsoft.com/office/drawing/2014/main" id="{A9002106-A485-44FD-8CB2-0A0D0D9F1040}"/>
              </a:ext>
            </a:extLst>
          </p:cNvPr>
          <p:cNvSpPr>
            <a:spLocks noGrp="1"/>
          </p:cNvSpPr>
          <p:nvPr/>
        </p:nvSpPr>
        <p:spPr>
          <a:xfrm>
            <a:off x="952500" y="2286000"/>
            <a:ext cx="2857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Included</a:t>
            </a:r>
          </a:p>
        </p:txBody>
      </p:sp>
      <p:sp>
        <p:nvSpPr>
          <p:cNvPr id="11" name="矩形 10">
            <a:extLst>
              <a:ext uri="{FF2B5EF4-FFF2-40B4-BE49-F238E27FC236}">
                <a16:creationId xmlns:a16="http://schemas.microsoft.com/office/drawing/2014/main" id="{2FE0B75A-EDBE-4B9A-A5D8-BAA98DBBF277}"/>
              </a:ext>
            </a:extLst>
          </p:cNvPr>
          <p:cNvSpPr>
            <a:spLocks noGrp="1"/>
          </p:cNvSpPr>
          <p:nvPr/>
        </p:nvSpPr>
        <p:spPr>
          <a:xfrm>
            <a:off x="952500" y="2714625"/>
            <a:ext cx="2857500" cy="1543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Battery cell manufacturing</a:t>
            </a:r>
          </a:p>
          <a:p>
            <a:endParaRPr sz="1088" b="0">
              <a:solidFill>
                <a:srgbClr val="5E625D"/>
              </a:solidFill>
              <a:latin typeface="Aptos"/>
              <a:ea typeface="Aptos"/>
              <a:cs typeface="Aptos"/>
            </a:endParaRPr>
          </a:p>
          <a:p>
            <a:pPr algn="l">
              <a:defRPr sz="1088" b="0">
                <a:solidFill>
                  <a:srgbClr val="5E625D"/>
                </a:solidFill>
                <a:latin typeface="Aptos"/>
                <a:ea typeface="Aptos"/>
                <a:cs typeface="Aptos"/>
              </a:defRPr>
            </a:pPr>
            <a:r>
              <a:rPr sz="1088" b="0">
                <a:solidFill>
                  <a:srgbClr val="5E625D"/>
                </a:solidFill>
                <a:latin typeface="Aptos"/>
                <a:ea typeface="Aptos"/>
                <a:cs typeface="Aptos"/>
              </a:rPr>
              <a:t>Industrial robots, cobots, AGV/AMR, and vision-guided systems</a:t>
            </a:r>
          </a:p>
          <a:p>
            <a:endParaRPr sz="1088" b="0">
              <a:solidFill>
                <a:srgbClr val="5E625D"/>
              </a:solidFill>
              <a:latin typeface="Aptos"/>
              <a:ea typeface="Aptos"/>
              <a:cs typeface="Aptos"/>
            </a:endParaRPr>
          </a:p>
          <a:p>
            <a:pPr algn="l">
              <a:defRPr sz="1088" b="0">
                <a:solidFill>
                  <a:srgbClr val="5E625D"/>
                </a:solidFill>
                <a:latin typeface="Aptos"/>
                <a:ea typeface="Aptos"/>
                <a:cs typeface="Aptos"/>
              </a:defRPr>
            </a:pPr>
            <a:r>
              <a:rPr sz="1088" b="0">
                <a:solidFill>
                  <a:srgbClr val="5E625D"/>
                </a:solidFill>
                <a:latin typeface="Aptos"/>
                <a:ea typeface="Aptos"/>
                <a:cs typeface="Aptos"/>
              </a:rPr>
              <a:t>Technical and economic evaluation</a:t>
            </a:r>
          </a:p>
        </p:txBody>
      </p:sp>
      <p:sp>
        <p:nvSpPr>
          <p:cNvPr id="12" name="矩形 11">
            <a:extLst>
              <a:ext uri="{FF2B5EF4-FFF2-40B4-BE49-F238E27FC236}">
                <a16:creationId xmlns:a16="http://schemas.microsoft.com/office/drawing/2014/main" id="{6D996DC4-89D4-4139-8EDA-1BDB5631F6C9}"/>
              </a:ext>
            </a:extLst>
          </p:cNvPr>
          <p:cNvSpPr>
            <a:spLocks noGrp="1"/>
          </p:cNvSpPr>
          <p:nvPr/>
        </p:nvSpPr>
        <p:spPr>
          <a:xfrm>
            <a:off x="4476750" y="2047875"/>
            <a:ext cx="3238500" cy="2381250"/>
          </a:xfrm>
          <a:prstGeom prst="rect">
            <a:avLst/>
          </a:prstGeom>
          <a:solidFill>
            <a:srgbClr val="F1DDCF"/>
          </a:solidFill>
          <a:ln w="9525">
            <a:solidFill>
              <a:srgbClr val="D8D1C3"/>
            </a:solidFill>
            <a:prstDash val="solid"/>
          </a:ln>
        </p:spPr>
      </p:sp>
      <p:sp>
        <p:nvSpPr>
          <p:cNvPr id="13" name="矩形 12">
            <a:extLst>
              <a:ext uri="{FF2B5EF4-FFF2-40B4-BE49-F238E27FC236}">
                <a16:creationId xmlns:a16="http://schemas.microsoft.com/office/drawing/2014/main" id="{427F966D-4B5E-4436-97A5-96EF4AB9F488}"/>
              </a:ext>
            </a:extLst>
          </p:cNvPr>
          <p:cNvSpPr>
            <a:spLocks noGrp="1"/>
          </p:cNvSpPr>
          <p:nvPr/>
        </p:nvSpPr>
        <p:spPr>
          <a:xfrm>
            <a:off x="4476750" y="2047875"/>
            <a:ext cx="3238500" cy="66675"/>
          </a:xfrm>
          <a:prstGeom prst="rect">
            <a:avLst/>
          </a:prstGeom>
          <a:solidFill>
            <a:srgbClr val="B46B3A"/>
          </a:solidFill>
          <a:ln w="0">
            <a:solidFill>
              <a:srgbClr val="000000">
                <a:alpha val="0"/>
              </a:srgbClr>
            </a:solidFill>
            <a:prstDash val="solid"/>
          </a:ln>
        </p:spPr>
      </p:sp>
      <p:sp>
        <p:nvSpPr>
          <p:cNvPr id="14" name="矩形 13">
            <a:extLst>
              <a:ext uri="{FF2B5EF4-FFF2-40B4-BE49-F238E27FC236}">
                <a16:creationId xmlns:a16="http://schemas.microsoft.com/office/drawing/2014/main" id="{830C6B59-E67E-4448-9FB1-6B0B3A31B189}"/>
              </a:ext>
            </a:extLst>
          </p:cNvPr>
          <p:cNvSpPr>
            <a:spLocks noGrp="1"/>
          </p:cNvSpPr>
          <p:nvPr/>
        </p:nvSpPr>
        <p:spPr>
          <a:xfrm>
            <a:off x="4667250" y="2286000"/>
            <a:ext cx="2857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Excluded for now</a:t>
            </a:r>
          </a:p>
        </p:txBody>
      </p:sp>
      <p:sp>
        <p:nvSpPr>
          <p:cNvPr id="15" name="矩形 14">
            <a:extLst>
              <a:ext uri="{FF2B5EF4-FFF2-40B4-BE49-F238E27FC236}">
                <a16:creationId xmlns:a16="http://schemas.microsoft.com/office/drawing/2014/main" id="{BF5C4EA4-C233-4B30-8425-2B182E8B4B36}"/>
              </a:ext>
            </a:extLst>
          </p:cNvPr>
          <p:cNvSpPr>
            <a:spLocks noGrp="1"/>
          </p:cNvSpPr>
          <p:nvPr/>
        </p:nvSpPr>
        <p:spPr>
          <a:xfrm>
            <a:off x="4667250" y="2714625"/>
            <a:ext cx="2857500" cy="1543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Detailed robot control algorithms</a:t>
            </a:r>
          </a:p>
          <a:p>
            <a:endParaRPr sz="1088" b="0">
              <a:solidFill>
                <a:srgbClr val="5E625D"/>
              </a:solidFill>
              <a:latin typeface="Aptos"/>
              <a:ea typeface="Aptos"/>
              <a:cs typeface="Aptos"/>
            </a:endParaRPr>
          </a:p>
          <a:p>
            <a:pPr algn="l">
              <a:defRPr sz="1088" b="0">
                <a:solidFill>
                  <a:srgbClr val="5E625D"/>
                </a:solidFill>
                <a:latin typeface="Aptos"/>
                <a:ea typeface="Aptos"/>
                <a:cs typeface="Aptos"/>
              </a:defRPr>
            </a:pPr>
            <a:r>
              <a:rPr sz="1088" b="0">
                <a:solidFill>
                  <a:srgbClr val="5E625D"/>
                </a:solidFill>
                <a:latin typeface="Aptos"/>
                <a:ea typeface="Aptos"/>
                <a:cs typeface="Aptos"/>
              </a:rPr>
              <a:t>Detailed electrochemical cell design</a:t>
            </a:r>
          </a:p>
          <a:p>
            <a:endParaRPr sz="1088" b="0">
              <a:solidFill>
                <a:srgbClr val="5E625D"/>
              </a:solidFill>
              <a:latin typeface="Aptos"/>
              <a:ea typeface="Aptos"/>
              <a:cs typeface="Aptos"/>
            </a:endParaRPr>
          </a:p>
          <a:p>
            <a:pPr algn="l">
              <a:defRPr sz="1088" b="0">
                <a:solidFill>
                  <a:srgbClr val="5E625D"/>
                </a:solidFill>
                <a:latin typeface="Aptos"/>
                <a:ea typeface="Aptos"/>
                <a:cs typeface="Aptos"/>
              </a:defRPr>
            </a:pPr>
            <a:r>
              <a:rPr sz="1088" b="0">
                <a:solidFill>
                  <a:srgbClr val="5E625D"/>
                </a:solidFill>
                <a:latin typeface="Aptos"/>
                <a:ea typeface="Aptos"/>
                <a:cs typeface="Aptos"/>
              </a:rPr>
              <a:t>Pack assembly and recycling as core topics</a:t>
            </a:r>
          </a:p>
        </p:txBody>
      </p:sp>
      <p:sp>
        <p:nvSpPr>
          <p:cNvPr id="16" name="矩形 15">
            <a:extLst>
              <a:ext uri="{FF2B5EF4-FFF2-40B4-BE49-F238E27FC236}">
                <a16:creationId xmlns:a16="http://schemas.microsoft.com/office/drawing/2014/main" id="{E17D8148-A7BC-41DA-8B3D-0EB547505975}"/>
              </a:ext>
            </a:extLst>
          </p:cNvPr>
          <p:cNvSpPr>
            <a:spLocks noGrp="1"/>
          </p:cNvSpPr>
          <p:nvPr/>
        </p:nvSpPr>
        <p:spPr>
          <a:xfrm>
            <a:off x="8191500" y="2047875"/>
            <a:ext cx="3238500" cy="2381250"/>
          </a:xfrm>
          <a:prstGeom prst="rect">
            <a:avLst/>
          </a:prstGeom>
          <a:solidFill>
            <a:srgbClr val="E2E9ED"/>
          </a:solidFill>
          <a:ln w="9525">
            <a:solidFill>
              <a:srgbClr val="D8D1C3"/>
            </a:solidFill>
            <a:prstDash val="solid"/>
          </a:ln>
        </p:spPr>
      </p:sp>
      <p:sp>
        <p:nvSpPr>
          <p:cNvPr id="17" name="矩形 16">
            <a:extLst>
              <a:ext uri="{FF2B5EF4-FFF2-40B4-BE49-F238E27FC236}">
                <a16:creationId xmlns:a16="http://schemas.microsoft.com/office/drawing/2014/main" id="{B1052D8D-FD7B-45BC-94B0-9626D86F9E16}"/>
              </a:ext>
            </a:extLst>
          </p:cNvPr>
          <p:cNvSpPr>
            <a:spLocks noGrp="1"/>
          </p:cNvSpPr>
          <p:nvPr/>
        </p:nvSpPr>
        <p:spPr>
          <a:xfrm>
            <a:off x="8191500" y="2047875"/>
            <a:ext cx="3238500" cy="66675"/>
          </a:xfrm>
          <a:prstGeom prst="rect">
            <a:avLst/>
          </a:prstGeom>
          <a:solidFill>
            <a:srgbClr val="597389"/>
          </a:solidFill>
          <a:ln w="0">
            <a:solidFill>
              <a:srgbClr val="000000">
                <a:alpha val="0"/>
              </a:srgbClr>
            </a:solidFill>
            <a:prstDash val="solid"/>
          </a:ln>
        </p:spPr>
      </p:sp>
      <p:sp>
        <p:nvSpPr>
          <p:cNvPr id="18" name="矩形 17">
            <a:extLst>
              <a:ext uri="{FF2B5EF4-FFF2-40B4-BE49-F238E27FC236}">
                <a16:creationId xmlns:a16="http://schemas.microsoft.com/office/drawing/2014/main" id="{0A80EEDC-AE28-4956-B958-954AFAEAAD88}"/>
              </a:ext>
            </a:extLst>
          </p:cNvPr>
          <p:cNvSpPr>
            <a:spLocks noGrp="1"/>
          </p:cNvSpPr>
          <p:nvPr/>
        </p:nvSpPr>
        <p:spPr>
          <a:xfrm>
            <a:off x="8382000" y="2286000"/>
            <a:ext cx="2857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Working question</a:t>
            </a:r>
          </a:p>
        </p:txBody>
      </p:sp>
      <p:sp>
        <p:nvSpPr>
          <p:cNvPr id="19" name="矩形 18">
            <a:extLst>
              <a:ext uri="{FF2B5EF4-FFF2-40B4-BE49-F238E27FC236}">
                <a16:creationId xmlns:a16="http://schemas.microsoft.com/office/drawing/2014/main" id="{624E7450-2190-4248-9C82-75494B0A2209}"/>
              </a:ext>
            </a:extLst>
          </p:cNvPr>
          <p:cNvSpPr>
            <a:spLocks noGrp="1"/>
          </p:cNvSpPr>
          <p:nvPr/>
        </p:nvSpPr>
        <p:spPr>
          <a:xfrm>
            <a:off x="8382000" y="2714625"/>
            <a:ext cx="2857500" cy="1543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Where can robotic systems create real value in battery cell production, and how can selected use cases be implemented?</a:t>
            </a:r>
          </a:p>
        </p:txBody>
      </p:sp>
      <p:sp>
        <p:nvSpPr>
          <p:cNvPr id="20" name="矩形 19">
            <a:extLst>
              <a:ext uri="{FF2B5EF4-FFF2-40B4-BE49-F238E27FC236}">
                <a16:creationId xmlns:a16="http://schemas.microsoft.com/office/drawing/2014/main" id="{AD7D94D4-032E-4320-9AC9-2C543FC08F3F}"/>
              </a:ext>
            </a:extLst>
          </p:cNvPr>
          <p:cNvSpPr>
            <a:spLocks noGrp="1"/>
          </p:cNvSpPr>
          <p:nvPr/>
        </p:nvSpPr>
        <p:spPr>
          <a:xfrm>
            <a:off x="1143000" y="5067300"/>
            <a:ext cx="9906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315C49"/>
                </a:solidFill>
                <a:latin typeface="Aptos"/>
                <a:ea typeface="Aptos"/>
                <a:cs typeface="Aptos"/>
              </a:defRPr>
            </a:pPr>
            <a:r>
              <a:rPr sz="1575" b="1">
                <a:solidFill>
                  <a:srgbClr val="315C49"/>
                </a:solidFill>
                <a:latin typeface="Aptos"/>
                <a:ea typeface="Aptos"/>
                <a:cs typeface="Aptos"/>
              </a:rPr>
              <a:t>Current logic: process requirements -&gt; robotic opportunities -&gt; use-case evaluation -&gt; implementation strategy</a:t>
            </a:r>
          </a:p>
        </p:txBody>
      </p:sp>
    </p:spTree>
    <p:extLst>
      <p:ext uri="{BB962C8B-B14F-4D97-AF65-F5344CB8AC3E}">
        <p14:creationId xmlns:p14="http://schemas.microsoft.com/office/powerpoint/2010/main" val="1885028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92762D47-0262-492C-96DA-C9EB2A323F22}"/>
              </a:ext>
            </a:extLst>
          </p:cNvPr>
          <p:cNvSpPr>
            <a:spLocks noGrp="1"/>
          </p:cNvSpPr>
          <p:nvPr/>
        </p:nvSpPr>
        <p:spPr>
          <a:xfrm>
            <a:off x="0" y="0"/>
            <a:ext cx="12192000" cy="6858000"/>
          </a:xfrm>
          <a:prstGeom prst="rect">
            <a:avLst/>
          </a:prstGeom>
          <a:solidFill>
            <a:srgbClr val="F7F3EA"/>
          </a:solidFill>
          <a:ln w="0">
            <a:solidFill>
              <a:srgbClr val="000000">
                <a:alpha val="0"/>
              </a:srgbClr>
            </a:solidFill>
            <a:prstDash val="solid"/>
          </a:ln>
        </p:spPr>
      </p:sp>
      <p:sp>
        <p:nvSpPr>
          <p:cNvPr id="2" name="kicker-4-marker">
            <a:extLst>
              <a:ext uri="{FF2B5EF4-FFF2-40B4-BE49-F238E27FC236}">
                <a16:creationId xmlns:a16="http://schemas.microsoft.com/office/drawing/2014/main" id="{F26A1C37-A427-4DB2-BC48-7A67FCB14413}"/>
              </a:ext>
            </a:extLst>
          </p:cNvPr>
          <p:cNvSpPr>
            <a:spLocks noGrp="1"/>
          </p:cNvSpPr>
          <p:nvPr/>
        </p:nvSpPr>
        <p:spPr>
          <a:xfrm>
            <a:off x="514350" y="400050"/>
            <a:ext cx="95250" cy="95250"/>
          </a:xfrm>
          <a:prstGeom prst="ellipse">
            <a:avLst/>
          </a:prstGeom>
          <a:solidFill>
            <a:srgbClr val="B46B3A"/>
          </a:solidFill>
          <a:ln w="0">
            <a:solidFill>
              <a:srgbClr val="000000">
                <a:alpha val="0"/>
              </a:srgbClr>
            </a:solidFill>
            <a:prstDash val="solid"/>
          </a:ln>
        </p:spPr>
      </p:sp>
      <p:sp>
        <p:nvSpPr>
          <p:cNvPr id="3" name="kicker-4-label">
            <a:extLst>
              <a:ext uri="{FF2B5EF4-FFF2-40B4-BE49-F238E27FC236}">
                <a16:creationId xmlns:a16="http://schemas.microsoft.com/office/drawing/2014/main" id="{9FAF9624-C5A6-4ED0-8328-8442CA186875}"/>
              </a:ext>
            </a:extLst>
          </p:cNvPr>
          <p:cNvSpPr>
            <a:spLocks noGrp="1"/>
          </p:cNvSpPr>
          <p:nvPr/>
        </p:nvSpPr>
        <p:spPr>
          <a:xfrm>
            <a:off x="704850" y="323850"/>
            <a:ext cx="495300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38" b="1">
                <a:solidFill>
                  <a:srgbClr val="315C49"/>
                </a:solidFill>
                <a:latin typeface="Aptos"/>
                <a:ea typeface="Aptos"/>
                <a:cs typeface="Aptos"/>
              </a:defRPr>
            </a:pPr>
            <a:r>
              <a:rPr sz="938" b="1">
                <a:solidFill>
                  <a:srgbClr val="315C49"/>
                </a:solidFill>
                <a:latin typeface="Aptos"/>
                <a:ea typeface="Aptos"/>
                <a:cs typeface="Aptos"/>
              </a:rPr>
              <a:t>BATTERY BASICS</a:t>
            </a:r>
          </a:p>
        </p:txBody>
      </p:sp>
      <p:sp>
        <p:nvSpPr>
          <p:cNvPr id="4" name="矩形 3">
            <a:extLst>
              <a:ext uri="{FF2B5EF4-FFF2-40B4-BE49-F238E27FC236}">
                <a16:creationId xmlns:a16="http://schemas.microsoft.com/office/drawing/2014/main" id="{048D9DDF-71DB-4AA7-AF24-E945D0BC98FC}"/>
              </a:ext>
            </a:extLst>
          </p:cNvPr>
          <p:cNvSpPr>
            <a:spLocks noGrp="1"/>
          </p:cNvSpPr>
          <p:nvPr/>
        </p:nvSpPr>
        <p:spPr>
          <a:xfrm>
            <a:off x="514350" y="742950"/>
            <a:ext cx="9906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Battery materials explain many robotics constraints.</a:t>
            </a:r>
          </a:p>
        </p:txBody>
      </p:sp>
      <p:sp>
        <p:nvSpPr>
          <p:cNvPr id="5" name="矩形 4">
            <a:extLst>
              <a:ext uri="{FF2B5EF4-FFF2-40B4-BE49-F238E27FC236}">
                <a16:creationId xmlns:a16="http://schemas.microsoft.com/office/drawing/2014/main" id="{89D765FD-580A-4CE1-87A9-742B2DB990EF}"/>
              </a:ext>
            </a:extLst>
          </p:cNvPr>
          <p:cNvSpPr>
            <a:spLocks noGrp="1"/>
          </p:cNvSpPr>
          <p:nvPr/>
        </p:nvSpPr>
        <p:spPr>
          <a:xfrm>
            <a:off x="514350" y="6153150"/>
            <a:ext cx="9620250" cy="11430"/>
          </a:xfrm>
          <a:prstGeom prst="rect">
            <a:avLst/>
          </a:prstGeom>
          <a:solidFill>
            <a:srgbClr val="D8D1C3"/>
          </a:solidFill>
          <a:ln w="0">
            <a:solidFill>
              <a:srgbClr val="000000">
                <a:alpha val="0"/>
              </a:srgbClr>
            </a:solidFill>
            <a:prstDash val="solid"/>
          </a:ln>
        </p:spPr>
      </p:sp>
      <p:sp>
        <p:nvSpPr>
          <p:cNvPr id="6" name="矩形 5">
            <a:extLst>
              <a:ext uri="{FF2B5EF4-FFF2-40B4-BE49-F238E27FC236}">
                <a16:creationId xmlns:a16="http://schemas.microsoft.com/office/drawing/2014/main" id="{20D8479F-FE3A-47C6-AE79-F2B58370ACF5}"/>
              </a:ext>
            </a:extLst>
          </p:cNvPr>
          <p:cNvSpPr>
            <a:spLocks noGrp="1"/>
          </p:cNvSpPr>
          <p:nvPr/>
        </p:nvSpPr>
        <p:spPr>
          <a:xfrm>
            <a:off x="514350" y="6257925"/>
            <a:ext cx="6858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5E625D"/>
                </a:solidFill>
                <a:latin typeface="Aptos"/>
                <a:ea typeface="Aptos"/>
                <a:cs typeface="Aptos"/>
              </a:defRPr>
            </a:pPr>
            <a:r>
              <a:rPr sz="713" b="0">
                <a:solidFill>
                  <a:srgbClr val="5E625D"/>
                </a:solidFill>
                <a:latin typeface="Aptos"/>
                <a:ea typeface="Aptos"/>
                <a:cs typeface="Aptos"/>
              </a:rPr>
              <a:t>Week 01 group meeting | Robotic systems in battery manufacturing</a:t>
            </a:r>
          </a:p>
        </p:txBody>
      </p:sp>
      <p:sp>
        <p:nvSpPr>
          <p:cNvPr id="7" name="矩形 6">
            <a:extLst>
              <a:ext uri="{FF2B5EF4-FFF2-40B4-BE49-F238E27FC236}">
                <a16:creationId xmlns:a16="http://schemas.microsoft.com/office/drawing/2014/main" id="{3BC69419-64D4-4758-8A2F-08512E31D588}"/>
              </a:ext>
            </a:extLst>
          </p:cNvPr>
          <p:cNvSpPr>
            <a:spLocks noGrp="1"/>
          </p:cNvSpPr>
          <p:nvPr/>
        </p:nvSpPr>
        <p:spPr>
          <a:xfrm>
            <a:off x="11049000" y="6229350"/>
            <a:ext cx="666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315C49"/>
                </a:solidFill>
                <a:latin typeface="Aptos"/>
                <a:ea typeface="Aptos"/>
                <a:cs typeface="Aptos"/>
              </a:defRPr>
            </a:pPr>
            <a:r>
              <a:rPr sz="900" b="1">
                <a:solidFill>
                  <a:srgbClr val="315C49"/>
                </a:solidFill>
                <a:latin typeface="Aptos"/>
                <a:ea typeface="Aptos"/>
                <a:cs typeface="Aptos"/>
              </a:rPr>
              <a:t>04</a:t>
            </a:r>
          </a:p>
        </p:txBody>
      </p:sp>
      <p:sp>
        <p:nvSpPr>
          <p:cNvPr id="8" name="矩形 7">
            <a:extLst>
              <a:ext uri="{FF2B5EF4-FFF2-40B4-BE49-F238E27FC236}">
                <a16:creationId xmlns:a16="http://schemas.microsoft.com/office/drawing/2014/main" id="{43936753-73EA-45FC-90CC-29FF3BEDE1CB}"/>
              </a:ext>
            </a:extLst>
          </p:cNvPr>
          <p:cNvSpPr>
            <a:spLocks noGrp="1"/>
          </p:cNvSpPr>
          <p:nvPr/>
        </p:nvSpPr>
        <p:spPr>
          <a:xfrm>
            <a:off x="714375" y="1790700"/>
            <a:ext cx="2571750" cy="438150"/>
          </a:xfrm>
          <a:prstGeom prst="rect">
            <a:avLst/>
          </a:prstGeom>
          <a:solidFill>
            <a:srgbClr val="315C49"/>
          </a:solidFill>
          <a:ln w="7620">
            <a:solidFill>
              <a:srgbClr val="D8D1C3"/>
            </a:solidFill>
            <a:prstDash val="solid"/>
          </a:ln>
        </p:spPr>
      </p:sp>
      <p:sp>
        <p:nvSpPr>
          <p:cNvPr id="9" name="矩形 8">
            <a:extLst>
              <a:ext uri="{FF2B5EF4-FFF2-40B4-BE49-F238E27FC236}">
                <a16:creationId xmlns:a16="http://schemas.microsoft.com/office/drawing/2014/main" id="{42BF5B7F-5506-4AB2-A656-5817BAFEED24}"/>
              </a:ext>
            </a:extLst>
          </p:cNvPr>
          <p:cNvSpPr>
            <a:spLocks noGrp="1"/>
          </p:cNvSpPr>
          <p:nvPr/>
        </p:nvSpPr>
        <p:spPr>
          <a:xfrm>
            <a:off x="809625" y="1866900"/>
            <a:ext cx="23812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Aptos"/>
                <a:ea typeface="Aptos"/>
                <a:cs typeface="Aptos"/>
              </a:defRPr>
            </a:pPr>
            <a:r>
              <a:rPr sz="1125" b="1">
                <a:solidFill>
                  <a:srgbClr val="FFFFFF"/>
                </a:solidFill>
                <a:latin typeface="Aptos"/>
                <a:ea typeface="Aptos"/>
                <a:cs typeface="Aptos"/>
              </a:rPr>
              <a:t>Battery concept</a:t>
            </a:r>
          </a:p>
        </p:txBody>
      </p:sp>
      <p:sp>
        <p:nvSpPr>
          <p:cNvPr id="10" name="矩形 9">
            <a:extLst>
              <a:ext uri="{FF2B5EF4-FFF2-40B4-BE49-F238E27FC236}">
                <a16:creationId xmlns:a16="http://schemas.microsoft.com/office/drawing/2014/main" id="{3F0D96E4-1E01-404C-A733-7E5614F7411A}"/>
              </a:ext>
            </a:extLst>
          </p:cNvPr>
          <p:cNvSpPr>
            <a:spLocks noGrp="1"/>
          </p:cNvSpPr>
          <p:nvPr/>
        </p:nvSpPr>
        <p:spPr>
          <a:xfrm>
            <a:off x="3286125" y="1790700"/>
            <a:ext cx="3714750" cy="438150"/>
          </a:xfrm>
          <a:prstGeom prst="rect">
            <a:avLst/>
          </a:prstGeom>
          <a:solidFill>
            <a:srgbClr val="B46B3A"/>
          </a:solidFill>
          <a:ln w="7620">
            <a:solidFill>
              <a:srgbClr val="D8D1C3"/>
            </a:solidFill>
            <a:prstDash val="solid"/>
          </a:ln>
        </p:spPr>
      </p:sp>
      <p:sp>
        <p:nvSpPr>
          <p:cNvPr id="11" name="矩形 10">
            <a:extLst>
              <a:ext uri="{FF2B5EF4-FFF2-40B4-BE49-F238E27FC236}">
                <a16:creationId xmlns:a16="http://schemas.microsoft.com/office/drawing/2014/main" id="{1008293F-142C-4D84-80F9-B1D24C207C4C}"/>
              </a:ext>
            </a:extLst>
          </p:cNvPr>
          <p:cNvSpPr>
            <a:spLocks noGrp="1"/>
          </p:cNvSpPr>
          <p:nvPr/>
        </p:nvSpPr>
        <p:spPr>
          <a:xfrm>
            <a:off x="3381375" y="1866900"/>
            <a:ext cx="35242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Aptos"/>
                <a:ea typeface="Aptos"/>
                <a:cs typeface="Aptos"/>
              </a:defRPr>
            </a:pPr>
            <a:r>
              <a:rPr sz="1125" b="1">
                <a:solidFill>
                  <a:srgbClr val="FFFFFF"/>
                </a:solidFill>
                <a:latin typeface="Aptos"/>
                <a:ea typeface="Aptos"/>
                <a:cs typeface="Aptos"/>
              </a:rPr>
              <a:t>Manufacturing requirement</a:t>
            </a:r>
          </a:p>
        </p:txBody>
      </p:sp>
      <p:sp>
        <p:nvSpPr>
          <p:cNvPr id="12" name="矩形 11">
            <a:extLst>
              <a:ext uri="{FF2B5EF4-FFF2-40B4-BE49-F238E27FC236}">
                <a16:creationId xmlns:a16="http://schemas.microsoft.com/office/drawing/2014/main" id="{2B6FC280-166E-4FFA-BEFA-D6C503C826D5}"/>
              </a:ext>
            </a:extLst>
          </p:cNvPr>
          <p:cNvSpPr>
            <a:spLocks noGrp="1"/>
          </p:cNvSpPr>
          <p:nvPr/>
        </p:nvSpPr>
        <p:spPr>
          <a:xfrm>
            <a:off x="7000875" y="1790700"/>
            <a:ext cx="4191000" cy="438150"/>
          </a:xfrm>
          <a:prstGeom prst="rect">
            <a:avLst/>
          </a:prstGeom>
          <a:solidFill>
            <a:srgbClr val="597389"/>
          </a:solidFill>
          <a:ln w="7620">
            <a:solidFill>
              <a:srgbClr val="D8D1C3"/>
            </a:solidFill>
            <a:prstDash val="solid"/>
          </a:ln>
        </p:spPr>
      </p:sp>
      <p:sp>
        <p:nvSpPr>
          <p:cNvPr id="13" name="矩形 12">
            <a:extLst>
              <a:ext uri="{FF2B5EF4-FFF2-40B4-BE49-F238E27FC236}">
                <a16:creationId xmlns:a16="http://schemas.microsoft.com/office/drawing/2014/main" id="{AE4E1F38-5587-4E27-A96C-1DD4688A492D}"/>
              </a:ext>
            </a:extLst>
          </p:cNvPr>
          <p:cNvSpPr>
            <a:spLocks noGrp="1"/>
          </p:cNvSpPr>
          <p:nvPr/>
        </p:nvSpPr>
        <p:spPr>
          <a:xfrm>
            <a:off x="7096125" y="1866900"/>
            <a:ext cx="4000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Aptos"/>
                <a:ea typeface="Aptos"/>
                <a:cs typeface="Aptos"/>
              </a:defRPr>
            </a:pPr>
            <a:r>
              <a:rPr sz="1125" b="1">
                <a:solidFill>
                  <a:srgbClr val="FFFFFF"/>
                </a:solidFill>
                <a:latin typeface="Aptos"/>
                <a:ea typeface="Aptos"/>
                <a:cs typeface="Aptos"/>
              </a:rPr>
              <a:t>Robotics implication</a:t>
            </a:r>
          </a:p>
        </p:txBody>
      </p:sp>
      <p:sp>
        <p:nvSpPr>
          <p:cNvPr id="14" name="矩形 13">
            <a:extLst>
              <a:ext uri="{FF2B5EF4-FFF2-40B4-BE49-F238E27FC236}">
                <a16:creationId xmlns:a16="http://schemas.microsoft.com/office/drawing/2014/main" id="{20674456-7C25-4969-B889-DB10F3111A13}"/>
              </a:ext>
            </a:extLst>
          </p:cNvPr>
          <p:cNvSpPr>
            <a:spLocks noGrp="1"/>
          </p:cNvSpPr>
          <p:nvPr/>
        </p:nvSpPr>
        <p:spPr>
          <a:xfrm>
            <a:off x="714375" y="2228850"/>
            <a:ext cx="2571750" cy="742950"/>
          </a:xfrm>
          <a:prstGeom prst="rect">
            <a:avLst/>
          </a:prstGeom>
          <a:solidFill>
            <a:srgbClr val="FBF8F1"/>
          </a:solidFill>
          <a:ln w="7620">
            <a:solidFill>
              <a:srgbClr val="D8D1C3"/>
            </a:solidFill>
            <a:prstDash val="solid"/>
          </a:ln>
        </p:spPr>
      </p:sp>
      <p:sp>
        <p:nvSpPr>
          <p:cNvPr id="15" name="矩形 14">
            <a:extLst>
              <a:ext uri="{FF2B5EF4-FFF2-40B4-BE49-F238E27FC236}">
                <a16:creationId xmlns:a16="http://schemas.microsoft.com/office/drawing/2014/main" id="{EA46E776-8764-4AE5-A180-0486BA763CCB}"/>
              </a:ext>
            </a:extLst>
          </p:cNvPr>
          <p:cNvSpPr>
            <a:spLocks noGrp="1"/>
          </p:cNvSpPr>
          <p:nvPr/>
        </p:nvSpPr>
        <p:spPr>
          <a:xfrm>
            <a:off x="809625" y="2305050"/>
            <a:ext cx="2381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1">
                <a:solidFill>
                  <a:srgbClr val="17201C"/>
                </a:solidFill>
                <a:latin typeface="Aptos"/>
                <a:ea typeface="Aptos"/>
                <a:cs typeface="Aptos"/>
              </a:defRPr>
            </a:pPr>
            <a:r>
              <a:rPr sz="1088" b="1">
                <a:solidFill>
                  <a:srgbClr val="17201C"/>
                </a:solidFill>
                <a:latin typeface="Aptos"/>
                <a:ea typeface="Aptos"/>
                <a:cs typeface="Aptos"/>
              </a:rPr>
              <a:t>Electrolyte is moisture-sensitive</a:t>
            </a:r>
          </a:p>
        </p:txBody>
      </p:sp>
      <p:sp>
        <p:nvSpPr>
          <p:cNvPr id="16" name="矩形 15">
            <a:extLst>
              <a:ext uri="{FF2B5EF4-FFF2-40B4-BE49-F238E27FC236}">
                <a16:creationId xmlns:a16="http://schemas.microsoft.com/office/drawing/2014/main" id="{0006993C-F62C-4A33-9C14-EDF25F81A018}"/>
              </a:ext>
            </a:extLst>
          </p:cNvPr>
          <p:cNvSpPr>
            <a:spLocks noGrp="1"/>
          </p:cNvSpPr>
          <p:nvPr/>
        </p:nvSpPr>
        <p:spPr>
          <a:xfrm>
            <a:off x="3286125" y="2228850"/>
            <a:ext cx="3714750" cy="742950"/>
          </a:xfrm>
          <a:prstGeom prst="rect">
            <a:avLst/>
          </a:prstGeom>
          <a:solidFill>
            <a:srgbClr val="FBF8F1"/>
          </a:solidFill>
          <a:ln w="7620">
            <a:solidFill>
              <a:srgbClr val="D8D1C3"/>
            </a:solidFill>
            <a:prstDash val="solid"/>
          </a:ln>
        </p:spPr>
      </p:sp>
      <p:sp>
        <p:nvSpPr>
          <p:cNvPr id="17" name="矩形 16">
            <a:extLst>
              <a:ext uri="{FF2B5EF4-FFF2-40B4-BE49-F238E27FC236}">
                <a16:creationId xmlns:a16="http://schemas.microsoft.com/office/drawing/2014/main" id="{1391E84E-19E2-44B1-AE95-7FA428791CBB}"/>
              </a:ext>
            </a:extLst>
          </p:cNvPr>
          <p:cNvSpPr>
            <a:spLocks noGrp="1"/>
          </p:cNvSpPr>
          <p:nvPr/>
        </p:nvSpPr>
        <p:spPr>
          <a:xfrm>
            <a:off x="3381375" y="2305050"/>
            <a:ext cx="3524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5E625D"/>
                </a:solidFill>
                <a:latin typeface="Aptos"/>
                <a:ea typeface="Aptos"/>
                <a:cs typeface="Aptos"/>
              </a:defRPr>
            </a:pPr>
            <a:r>
              <a:rPr sz="1065" b="0">
                <a:solidFill>
                  <a:srgbClr val="5E625D"/>
                </a:solidFill>
                <a:latin typeface="Aptos"/>
                <a:ea typeface="Aptos"/>
                <a:cs typeface="Aptos"/>
              </a:rPr>
              <a:t>Dry room and safe filling are needed.</a:t>
            </a:r>
          </a:p>
        </p:txBody>
      </p:sp>
      <p:sp>
        <p:nvSpPr>
          <p:cNvPr id="18" name="矩形 17">
            <a:extLst>
              <a:ext uri="{FF2B5EF4-FFF2-40B4-BE49-F238E27FC236}">
                <a16:creationId xmlns:a16="http://schemas.microsoft.com/office/drawing/2014/main" id="{69FAEFED-8872-4C8F-873B-00E5D513866E}"/>
              </a:ext>
            </a:extLst>
          </p:cNvPr>
          <p:cNvSpPr>
            <a:spLocks noGrp="1"/>
          </p:cNvSpPr>
          <p:nvPr/>
        </p:nvSpPr>
        <p:spPr>
          <a:xfrm>
            <a:off x="7000875" y="2228850"/>
            <a:ext cx="4191000" cy="742950"/>
          </a:xfrm>
          <a:prstGeom prst="rect">
            <a:avLst/>
          </a:prstGeom>
          <a:solidFill>
            <a:srgbClr val="FBF8F1"/>
          </a:solidFill>
          <a:ln w="7620">
            <a:solidFill>
              <a:srgbClr val="D8D1C3"/>
            </a:solidFill>
            <a:prstDash val="solid"/>
          </a:ln>
        </p:spPr>
      </p:sp>
      <p:sp>
        <p:nvSpPr>
          <p:cNvPr id="19" name="矩形 18">
            <a:extLst>
              <a:ext uri="{FF2B5EF4-FFF2-40B4-BE49-F238E27FC236}">
                <a16:creationId xmlns:a16="http://schemas.microsoft.com/office/drawing/2014/main" id="{D09E96FB-12EB-45C3-BF8C-18B5816375C8}"/>
              </a:ext>
            </a:extLst>
          </p:cNvPr>
          <p:cNvSpPr>
            <a:spLocks noGrp="1"/>
          </p:cNvSpPr>
          <p:nvPr/>
        </p:nvSpPr>
        <p:spPr>
          <a:xfrm>
            <a:off x="7096125" y="2305050"/>
            <a:ext cx="40005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5E625D"/>
                </a:solidFill>
                <a:latin typeface="Aptos"/>
                <a:ea typeface="Aptos"/>
                <a:cs typeface="Aptos"/>
              </a:defRPr>
            </a:pPr>
            <a:r>
              <a:rPr sz="1065" b="0">
                <a:solidFill>
                  <a:srgbClr val="5E625D"/>
                </a:solidFill>
                <a:latin typeface="Aptos"/>
                <a:ea typeface="Aptos"/>
                <a:cs typeface="Aptos"/>
              </a:rPr>
              <a:t>Robots and AMRs must work in dry-room conditions.</a:t>
            </a:r>
          </a:p>
        </p:txBody>
      </p:sp>
      <p:sp>
        <p:nvSpPr>
          <p:cNvPr id="20" name="矩形 19">
            <a:extLst>
              <a:ext uri="{FF2B5EF4-FFF2-40B4-BE49-F238E27FC236}">
                <a16:creationId xmlns:a16="http://schemas.microsoft.com/office/drawing/2014/main" id="{F7CD6AEC-CAD0-433F-BB9B-67617D44FD6F}"/>
              </a:ext>
            </a:extLst>
          </p:cNvPr>
          <p:cNvSpPr>
            <a:spLocks noGrp="1"/>
          </p:cNvSpPr>
          <p:nvPr/>
        </p:nvSpPr>
        <p:spPr>
          <a:xfrm>
            <a:off x="714375" y="2971800"/>
            <a:ext cx="2571750" cy="742950"/>
          </a:xfrm>
          <a:prstGeom prst="rect">
            <a:avLst/>
          </a:prstGeom>
          <a:solidFill>
            <a:srgbClr val="FFFFFF"/>
          </a:solidFill>
          <a:ln w="7620">
            <a:solidFill>
              <a:srgbClr val="D8D1C3"/>
            </a:solidFill>
            <a:prstDash val="solid"/>
          </a:ln>
        </p:spPr>
      </p:sp>
      <p:sp>
        <p:nvSpPr>
          <p:cNvPr id="21" name="矩形 20">
            <a:extLst>
              <a:ext uri="{FF2B5EF4-FFF2-40B4-BE49-F238E27FC236}">
                <a16:creationId xmlns:a16="http://schemas.microsoft.com/office/drawing/2014/main" id="{F48CBFE4-BDC0-484F-9DB0-6188045ADA33}"/>
              </a:ext>
            </a:extLst>
          </p:cNvPr>
          <p:cNvSpPr>
            <a:spLocks noGrp="1"/>
          </p:cNvSpPr>
          <p:nvPr/>
        </p:nvSpPr>
        <p:spPr>
          <a:xfrm>
            <a:off x="809625" y="3048000"/>
            <a:ext cx="2381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1">
                <a:solidFill>
                  <a:srgbClr val="17201C"/>
                </a:solidFill>
                <a:latin typeface="Aptos"/>
                <a:ea typeface="Aptos"/>
                <a:cs typeface="Aptos"/>
              </a:defRPr>
            </a:pPr>
            <a:r>
              <a:rPr sz="1088" b="1">
                <a:solidFill>
                  <a:srgbClr val="17201C"/>
                </a:solidFill>
                <a:latin typeface="Aptos"/>
                <a:ea typeface="Aptos"/>
                <a:cs typeface="Aptos"/>
              </a:rPr>
              <a:t>Separator and electrodes are thin</a:t>
            </a:r>
          </a:p>
        </p:txBody>
      </p:sp>
      <p:sp>
        <p:nvSpPr>
          <p:cNvPr id="22" name="矩形 21">
            <a:extLst>
              <a:ext uri="{FF2B5EF4-FFF2-40B4-BE49-F238E27FC236}">
                <a16:creationId xmlns:a16="http://schemas.microsoft.com/office/drawing/2014/main" id="{671AADDD-D1CB-4D57-BF82-FFD19BF80148}"/>
              </a:ext>
            </a:extLst>
          </p:cNvPr>
          <p:cNvSpPr>
            <a:spLocks noGrp="1"/>
          </p:cNvSpPr>
          <p:nvPr/>
        </p:nvSpPr>
        <p:spPr>
          <a:xfrm>
            <a:off x="3286125" y="2971800"/>
            <a:ext cx="3714750" cy="742950"/>
          </a:xfrm>
          <a:prstGeom prst="rect">
            <a:avLst/>
          </a:prstGeom>
          <a:solidFill>
            <a:srgbClr val="FFFFFF"/>
          </a:solidFill>
          <a:ln w="7620">
            <a:solidFill>
              <a:srgbClr val="D8D1C3"/>
            </a:solidFill>
            <a:prstDash val="solid"/>
          </a:ln>
        </p:spPr>
      </p:sp>
      <p:sp>
        <p:nvSpPr>
          <p:cNvPr id="23" name="矩形 22">
            <a:extLst>
              <a:ext uri="{FF2B5EF4-FFF2-40B4-BE49-F238E27FC236}">
                <a16:creationId xmlns:a16="http://schemas.microsoft.com/office/drawing/2014/main" id="{FDA0F42A-E8F6-4344-B348-75A971F0A5DD}"/>
              </a:ext>
            </a:extLst>
          </p:cNvPr>
          <p:cNvSpPr>
            <a:spLocks noGrp="1"/>
          </p:cNvSpPr>
          <p:nvPr/>
        </p:nvSpPr>
        <p:spPr>
          <a:xfrm>
            <a:off x="3381375" y="3048000"/>
            <a:ext cx="3524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5E625D"/>
                </a:solidFill>
                <a:latin typeface="Aptos"/>
                <a:ea typeface="Aptos"/>
                <a:cs typeface="Aptos"/>
              </a:defRPr>
            </a:pPr>
            <a:r>
              <a:rPr sz="1065" b="0">
                <a:solidFill>
                  <a:srgbClr val="5E625D"/>
                </a:solidFill>
                <a:latin typeface="Aptos"/>
                <a:ea typeface="Aptos"/>
                <a:cs typeface="Aptos"/>
              </a:rPr>
              <a:t>Handling must be gentle and accurate.</a:t>
            </a:r>
          </a:p>
        </p:txBody>
      </p:sp>
      <p:sp>
        <p:nvSpPr>
          <p:cNvPr id="24" name="矩形 23">
            <a:extLst>
              <a:ext uri="{FF2B5EF4-FFF2-40B4-BE49-F238E27FC236}">
                <a16:creationId xmlns:a16="http://schemas.microsoft.com/office/drawing/2014/main" id="{B2E10815-2340-4584-B870-52C4FFB43BA1}"/>
              </a:ext>
            </a:extLst>
          </p:cNvPr>
          <p:cNvSpPr>
            <a:spLocks noGrp="1"/>
          </p:cNvSpPr>
          <p:nvPr/>
        </p:nvSpPr>
        <p:spPr>
          <a:xfrm>
            <a:off x="7000875" y="2971800"/>
            <a:ext cx="4191000" cy="742950"/>
          </a:xfrm>
          <a:prstGeom prst="rect">
            <a:avLst/>
          </a:prstGeom>
          <a:solidFill>
            <a:srgbClr val="FFFFFF"/>
          </a:solidFill>
          <a:ln w="7620">
            <a:solidFill>
              <a:srgbClr val="D8D1C3"/>
            </a:solidFill>
            <a:prstDash val="solid"/>
          </a:ln>
        </p:spPr>
      </p:sp>
      <p:sp>
        <p:nvSpPr>
          <p:cNvPr id="25" name="矩形 24">
            <a:extLst>
              <a:ext uri="{FF2B5EF4-FFF2-40B4-BE49-F238E27FC236}">
                <a16:creationId xmlns:a16="http://schemas.microsoft.com/office/drawing/2014/main" id="{6BE5D7DF-B1AD-4B79-B16B-7E67979BC9D7}"/>
              </a:ext>
            </a:extLst>
          </p:cNvPr>
          <p:cNvSpPr>
            <a:spLocks noGrp="1"/>
          </p:cNvSpPr>
          <p:nvPr/>
        </p:nvSpPr>
        <p:spPr>
          <a:xfrm>
            <a:off x="7096125" y="3048000"/>
            <a:ext cx="40005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5E625D"/>
                </a:solidFill>
                <a:latin typeface="Aptos"/>
                <a:ea typeface="Aptos"/>
                <a:cs typeface="Aptos"/>
              </a:defRPr>
            </a:pPr>
            <a:r>
              <a:rPr sz="1065" b="0">
                <a:solidFill>
                  <a:srgbClr val="5E625D"/>
                </a:solidFill>
                <a:latin typeface="Aptos"/>
                <a:ea typeface="Aptos"/>
                <a:cs typeface="Aptos"/>
              </a:rPr>
              <a:t>Vision guidance and special grippers may be needed.</a:t>
            </a:r>
          </a:p>
        </p:txBody>
      </p:sp>
      <p:sp>
        <p:nvSpPr>
          <p:cNvPr id="26" name="矩形 25">
            <a:extLst>
              <a:ext uri="{FF2B5EF4-FFF2-40B4-BE49-F238E27FC236}">
                <a16:creationId xmlns:a16="http://schemas.microsoft.com/office/drawing/2014/main" id="{F4D09FC8-E899-4B9F-B01F-B0B379F32AE2}"/>
              </a:ext>
            </a:extLst>
          </p:cNvPr>
          <p:cNvSpPr>
            <a:spLocks noGrp="1"/>
          </p:cNvSpPr>
          <p:nvPr/>
        </p:nvSpPr>
        <p:spPr>
          <a:xfrm>
            <a:off x="714375" y="3714750"/>
            <a:ext cx="2571750" cy="742950"/>
          </a:xfrm>
          <a:prstGeom prst="rect">
            <a:avLst/>
          </a:prstGeom>
          <a:solidFill>
            <a:srgbClr val="FBF8F1"/>
          </a:solidFill>
          <a:ln w="7620">
            <a:solidFill>
              <a:srgbClr val="D8D1C3"/>
            </a:solidFill>
            <a:prstDash val="solid"/>
          </a:ln>
        </p:spPr>
      </p:sp>
      <p:sp>
        <p:nvSpPr>
          <p:cNvPr id="27" name="矩形 26">
            <a:extLst>
              <a:ext uri="{FF2B5EF4-FFF2-40B4-BE49-F238E27FC236}">
                <a16:creationId xmlns:a16="http://schemas.microsoft.com/office/drawing/2014/main" id="{B3D8809F-0C02-468B-9071-208182B0DBF0}"/>
              </a:ext>
            </a:extLst>
          </p:cNvPr>
          <p:cNvSpPr>
            <a:spLocks noGrp="1"/>
          </p:cNvSpPr>
          <p:nvPr/>
        </p:nvSpPr>
        <p:spPr>
          <a:xfrm>
            <a:off x="809625" y="3790950"/>
            <a:ext cx="2381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1">
                <a:solidFill>
                  <a:srgbClr val="17201C"/>
                </a:solidFill>
                <a:latin typeface="Aptos"/>
                <a:ea typeface="Aptos"/>
                <a:cs typeface="Aptos"/>
              </a:defRPr>
            </a:pPr>
            <a:r>
              <a:rPr sz="1088" b="1">
                <a:solidFill>
                  <a:srgbClr val="17201C"/>
                </a:solidFill>
                <a:latin typeface="Aptos"/>
                <a:ea typeface="Aptos"/>
                <a:cs typeface="Aptos"/>
              </a:rPr>
              <a:t>Formation affects lifetime</a:t>
            </a:r>
          </a:p>
        </p:txBody>
      </p:sp>
      <p:sp>
        <p:nvSpPr>
          <p:cNvPr id="28" name="矩形 27">
            <a:extLst>
              <a:ext uri="{FF2B5EF4-FFF2-40B4-BE49-F238E27FC236}">
                <a16:creationId xmlns:a16="http://schemas.microsoft.com/office/drawing/2014/main" id="{30FE421D-5AA1-4EBA-B6BE-7D9128A187C7}"/>
              </a:ext>
            </a:extLst>
          </p:cNvPr>
          <p:cNvSpPr>
            <a:spLocks noGrp="1"/>
          </p:cNvSpPr>
          <p:nvPr/>
        </p:nvSpPr>
        <p:spPr>
          <a:xfrm>
            <a:off x="3286125" y="3714750"/>
            <a:ext cx="3714750" cy="742950"/>
          </a:xfrm>
          <a:prstGeom prst="rect">
            <a:avLst/>
          </a:prstGeom>
          <a:solidFill>
            <a:srgbClr val="FBF8F1"/>
          </a:solidFill>
          <a:ln w="7620">
            <a:solidFill>
              <a:srgbClr val="D8D1C3"/>
            </a:solidFill>
            <a:prstDash val="solid"/>
          </a:ln>
        </p:spPr>
      </p:sp>
      <p:sp>
        <p:nvSpPr>
          <p:cNvPr id="29" name="矩形 28">
            <a:extLst>
              <a:ext uri="{FF2B5EF4-FFF2-40B4-BE49-F238E27FC236}">
                <a16:creationId xmlns:a16="http://schemas.microsoft.com/office/drawing/2014/main" id="{C2383744-3CCD-411B-84F1-FFE93EF0B751}"/>
              </a:ext>
            </a:extLst>
          </p:cNvPr>
          <p:cNvSpPr>
            <a:spLocks noGrp="1"/>
          </p:cNvSpPr>
          <p:nvPr/>
        </p:nvSpPr>
        <p:spPr>
          <a:xfrm>
            <a:off x="3381375" y="3790950"/>
            <a:ext cx="3524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5E625D"/>
                </a:solidFill>
                <a:latin typeface="Aptos"/>
                <a:ea typeface="Aptos"/>
                <a:cs typeface="Aptos"/>
              </a:defRPr>
            </a:pPr>
            <a:r>
              <a:rPr sz="1065" b="0">
                <a:solidFill>
                  <a:srgbClr val="5E625D"/>
                </a:solidFill>
                <a:latin typeface="Aptos"/>
                <a:ea typeface="Aptos"/>
                <a:cs typeface="Aptos"/>
              </a:rPr>
              <a:t>Cells need controlled charging, aging, and testing.</a:t>
            </a:r>
          </a:p>
        </p:txBody>
      </p:sp>
      <p:sp>
        <p:nvSpPr>
          <p:cNvPr id="30" name="矩形 29">
            <a:extLst>
              <a:ext uri="{FF2B5EF4-FFF2-40B4-BE49-F238E27FC236}">
                <a16:creationId xmlns:a16="http://schemas.microsoft.com/office/drawing/2014/main" id="{7736D157-FE11-499B-B2A8-C8EF19F07925}"/>
              </a:ext>
            </a:extLst>
          </p:cNvPr>
          <p:cNvSpPr>
            <a:spLocks noGrp="1"/>
          </p:cNvSpPr>
          <p:nvPr/>
        </p:nvSpPr>
        <p:spPr>
          <a:xfrm>
            <a:off x="7000875" y="3714750"/>
            <a:ext cx="4191000" cy="742950"/>
          </a:xfrm>
          <a:prstGeom prst="rect">
            <a:avLst/>
          </a:prstGeom>
          <a:solidFill>
            <a:srgbClr val="FBF8F1"/>
          </a:solidFill>
          <a:ln w="7620">
            <a:solidFill>
              <a:srgbClr val="D8D1C3"/>
            </a:solidFill>
            <a:prstDash val="solid"/>
          </a:ln>
        </p:spPr>
      </p:sp>
      <p:sp>
        <p:nvSpPr>
          <p:cNvPr id="31" name="矩形 30">
            <a:extLst>
              <a:ext uri="{FF2B5EF4-FFF2-40B4-BE49-F238E27FC236}">
                <a16:creationId xmlns:a16="http://schemas.microsoft.com/office/drawing/2014/main" id="{2627E9E3-ED16-4590-9DFB-FDD091E81741}"/>
              </a:ext>
            </a:extLst>
          </p:cNvPr>
          <p:cNvSpPr>
            <a:spLocks noGrp="1"/>
          </p:cNvSpPr>
          <p:nvPr/>
        </p:nvSpPr>
        <p:spPr>
          <a:xfrm>
            <a:off x="7096125" y="3790950"/>
            <a:ext cx="40005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5E625D"/>
                </a:solidFill>
                <a:latin typeface="Aptos"/>
                <a:ea typeface="Aptos"/>
                <a:cs typeface="Aptos"/>
              </a:defRPr>
            </a:pPr>
            <a:r>
              <a:rPr sz="1065" b="0">
                <a:solidFill>
                  <a:srgbClr val="5E625D"/>
                </a:solidFill>
                <a:latin typeface="Aptos"/>
                <a:ea typeface="Aptos"/>
                <a:cs typeface="Aptos"/>
              </a:rPr>
              <a:t>Tray handling and traceability become important.</a:t>
            </a:r>
          </a:p>
        </p:txBody>
      </p:sp>
      <p:sp>
        <p:nvSpPr>
          <p:cNvPr id="32" name="矩形 31">
            <a:extLst>
              <a:ext uri="{FF2B5EF4-FFF2-40B4-BE49-F238E27FC236}">
                <a16:creationId xmlns:a16="http://schemas.microsoft.com/office/drawing/2014/main" id="{A1CAFCFE-9195-4878-B995-F34AEF20F9BB}"/>
              </a:ext>
            </a:extLst>
          </p:cNvPr>
          <p:cNvSpPr>
            <a:spLocks noGrp="1"/>
          </p:cNvSpPr>
          <p:nvPr/>
        </p:nvSpPr>
        <p:spPr>
          <a:xfrm>
            <a:off x="714375" y="4457700"/>
            <a:ext cx="2571750" cy="742950"/>
          </a:xfrm>
          <a:prstGeom prst="rect">
            <a:avLst/>
          </a:prstGeom>
          <a:solidFill>
            <a:srgbClr val="FFFFFF"/>
          </a:solidFill>
          <a:ln w="7620">
            <a:solidFill>
              <a:srgbClr val="D8D1C3"/>
            </a:solidFill>
            <a:prstDash val="solid"/>
          </a:ln>
        </p:spPr>
      </p:sp>
      <p:sp>
        <p:nvSpPr>
          <p:cNvPr id="33" name="矩形 32">
            <a:extLst>
              <a:ext uri="{FF2B5EF4-FFF2-40B4-BE49-F238E27FC236}">
                <a16:creationId xmlns:a16="http://schemas.microsoft.com/office/drawing/2014/main" id="{A5C22129-DB79-4CD5-8AC3-1157D67B8EBC}"/>
              </a:ext>
            </a:extLst>
          </p:cNvPr>
          <p:cNvSpPr>
            <a:spLocks noGrp="1"/>
          </p:cNvSpPr>
          <p:nvPr/>
        </p:nvSpPr>
        <p:spPr>
          <a:xfrm>
            <a:off x="809625" y="4533900"/>
            <a:ext cx="2381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1">
                <a:solidFill>
                  <a:srgbClr val="17201C"/>
                </a:solidFill>
                <a:latin typeface="Aptos"/>
                <a:ea typeface="Aptos"/>
                <a:cs typeface="Aptos"/>
              </a:defRPr>
            </a:pPr>
            <a:r>
              <a:rPr sz="1088" b="1">
                <a:solidFill>
                  <a:srgbClr val="17201C"/>
                </a:solidFill>
                <a:latin typeface="Aptos"/>
                <a:ea typeface="Aptos"/>
                <a:cs typeface="Aptos"/>
              </a:rPr>
              <a:t>Defects affect safety</a:t>
            </a:r>
          </a:p>
        </p:txBody>
      </p:sp>
      <p:sp>
        <p:nvSpPr>
          <p:cNvPr id="34" name="矩形 33">
            <a:extLst>
              <a:ext uri="{FF2B5EF4-FFF2-40B4-BE49-F238E27FC236}">
                <a16:creationId xmlns:a16="http://schemas.microsoft.com/office/drawing/2014/main" id="{0B49D445-4759-4DD0-97AC-2EB5E1EA814F}"/>
              </a:ext>
            </a:extLst>
          </p:cNvPr>
          <p:cNvSpPr>
            <a:spLocks noGrp="1"/>
          </p:cNvSpPr>
          <p:nvPr/>
        </p:nvSpPr>
        <p:spPr>
          <a:xfrm>
            <a:off x="3286125" y="4457700"/>
            <a:ext cx="3714750" cy="742950"/>
          </a:xfrm>
          <a:prstGeom prst="rect">
            <a:avLst/>
          </a:prstGeom>
          <a:solidFill>
            <a:srgbClr val="FFFFFF"/>
          </a:solidFill>
          <a:ln w="7620">
            <a:solidFill>
              <a:srgbClr val="D8D1C3"/>
            </a:solidFill>
            <a:prstDash val="solid"/>
          </a:ln>
        </p:spPr>
      </p:sp>
      <p:sp>
        <p:nvSpPr>
          <p:cNvPr id="35" name="矩形 34">
            <a:extLst>
              <a:ext uri="{FF2B5EF4-FFF2-40B4-BE49-F238E27FC236}">
                <a16:creationId xmlns:a16="http://schemas.microsoft.com/office/drawing/2014/main" id="{6335BE60-7175-4737-8AD4-E1747894DBB1}"/>
              </a:ext>
            </a:extLst>
          </p:cNvPr>
          <p:cNvSpPr>
            <a:spLocks noGrp="1"/>
          </p:cNvSpPr>
          <p:nvPr/>
        </p:nvSpPr>
        <p:spPr>
          <a:xfrm>
            <a:off x="3381375" y="4533900"/>
            <a:ext cx="3524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5E625D"/>
                </a:solidFill>
                <a:latin typeface="Aptos"/>
                <a:ea typeface="Aptos"/>
                <a:cs typeface="Aptos"/>
              </a:defRPr>
            </a:pPr>
            <a:r>
              <a:rPr sz="1065" b="0">
                <a:solidFill>
                  <a:srgbClr val="5E625D"/>
                </a:solidFill>
                <a:latin typeface="Aptos"/>
                <a:ea typeface="Aptos"/>
                <a:cs typeface="Aptos"/>
              </a:rPr>
              <a:t>Inspection and sorting are critical.</a:t>
            </a:r>
          </a:p>
        </p:txBody>
      </p:sp>
      <p:sp>
        <p:nvSpPr>
          <p:cNvPr id="36" name="矩形 35">
            <a:extLst>
              <a:ext uri="{FF2B5EF4-FFF2-40B4-BE49-F238E27FC236}">
                <a16:creationId xmlns:a16="http://schemas.microsoft.com/office/drawing/2014/main" id="{CFB88F74-6F4C-400F-8401-F29080CE6F31}"/>
              </a:ext>
            </a:extLst>
          </p:cNvPr>
          <p:cNvSpPr>
            <a:spLocks noGrp="1"/>
          </p:cNvSpPr>
          <p:nvPr/>
        </p:nvSpPr>
        <p:spPr>
          <a:xfrm>
            <a:off x="7000875" y="4457700"/>
            <a:ext cx="4191000" cy="742950"/>
          </a:xfrm>
          <a:prstGeom prst="rect">
            <a:avLst/>
          </a:prstGeom>
          <a:solidFill>
            <a:srgbClr val="FFFFFF"/>
          </a:solidFill>
          <a:ln w="7620">
            <a:solidFill>
              <a:srgbClr val="D8D1C3"/>
            </a:solidFill>
            <a:prstDash val="solid"/>
          </a:ln>
        </p:spPr>
      </p:sp>
      <p:sp>
        <p:nvSpPr>
          <p:cNvPr id="37" name="矩形 36">
            <a:extLst>
              <a:ext uri="{FF2B5EF4-FFF2-40B4-BE49-F238E27FC236}">
                <a16:creationId xmlns:a16="http://schemas.microsoft.com/office/drawing/2014/main" id="{231CCFE4-788F-4DF5-9888-9ADCBEFBBBA3}"/>
              </a:ext>
            </a:extLst>
          </p:cNvPr>
          <p:cNvSpPr>
            <a:spLocks noGrp="1"/>
          </p:cNvSpPr>
          <p:nvPr/>
        </p:nvSpPr>
        <p:spPr>
          <a:xfrm>
            <a:off x="7096125" y="4533900"/>
            <a:ext cx="40005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5E625D"/>
                </a:solidFill>
                <a:latin typeface="Aptos"/>
                <a:ea typeface="Aptos"/>
                <a:cs typeface="Aptos"/>
              </a:defRPr>
            </a:pPr>
            <a:r>
              <a:rPr sz="1065" b="0">
                <a:solidFill>
                  <a:srgbClr val="5E625D"/>
                </a:solidFill>
                <a:latin typeface="Aptos"/>
                <a:ea typeface="Aptos"/>
                <a:cs typeface="Aptos"/>
              </a:rPr>
              <a:t>Robots can support safe reject flow and quality data.</a:t>
            </a:r>
          </a:p>
        </p:txBody>
      </p:sp>
    </p:spTree>
    <p:extLst>
      <p:ext uri="{BB962C8B-B14F-4D97-AF65-F5344CB8AC3E}">
        <p14:creationId xmlns:p14="http://schemas.microsoft.com/office/powerpoint/2010/main" val="1230299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C8CD10F4-E482-475D-937D-400679B03006}"/>
              </a:ext>
            </a:extLst>
          </p:cNvPr>
          <p:cNvSpPr>
            <a:spLocks noGrp="1"/>
          </p:cNvSpPr>
          <p:nvPr/>
        </p:nvSpPr>
        <p:spPr>
          <a:xfrm>
            <a:off x="0" y="0"/>
            <a:ext cx="12192000" cy="6858000"/>
          </a:xfrm>
          <a:prstGeom prst="rect">
            <a:avLst/>
          </a:prstGeom>
          <a:solidFill>
            <a:srgbClr val="F7F3EA"/>
          </a:solidFill>
          <a:ln w="0">
            <a:solidFill>
              <a:srgbClr val="000000">
                <a:alpha val="0"/>
              </a:srgbClr>
            </a:solidFill>
            <a:prstDash val="solid"/>
          </a:ln>
        </p:spPr>
      </p:sp>
      <p:sp>
        <p:nvSpPr>
          <p:cNvPr id="2" name="kicker-5-marker">
            <a:extLst>
              <a:ext uri="{FF2B5EF4-FFF2-40B4-BE49-F238E27FC236}">
                <a16:creationId xmlns:a16="http://schemas.microsoft.com/office/drawing/2014/main" id="{63C30FAA-40F3-4AA3-A9AE-962BACE479E7}"/>
              </a:ext>
            </a:extLst>
          </p:cNvPr>
          <p:cNvSpPr>
            <a:spLocks noGrp="1"/>
          </p:cNvSpPr>
          <p:nvPr/>
        </p:nvSpPr>
        <p:spPr>
          <a:xfrm>
            <a:off x="514350" y="400050"/>
            <a:ext cx="95250" cy="95250"/>
          </a:xfrm>
          <a:prstGeom prst="ellipse">
            <a:avLst/>
          </a:prstGeom>
          <a:solidFill>
            <a:srgbClr val="B46B3A"/>
          </a:solidFill>
          <a:ln w="0">
            <a:solidFill>
              <a:srgbClr val="000000">
                <a:alpha val="0"/>
              </a:srgbClr>
            </a:solidFill>
            <a:prstDash val="solid"/>
          </a:ln>
        </p:spPr>
      </p:sp>
      <p:sp>
        <p:nvSpPr>
          <p:cNvPr id="3" name="kicker-5-label">
            <a:extLst>
              <a:ext uri="{FF2B5EF4-FFF2-40B4-BE49-F238E27FC236}">
                <a16:creationId xmlns:a16="http://schemas.microsoft.com/office/drawing/2014/main" id="{D67F532F-1B89-4E15-B090-50A0AD8D5159}"/>
              </a:ext>
            </a:extLst>
          </p:cNvPr>
          <p:cNvSpPr>
            <a:spLocks noGrp="1"/>
          </p:cNvSpPr>
          <p:nvPr/>
        </p:nvSpPr>
        <p:spPr>
          <a:xfrm>
            <a:off x="704850" y="323850"/>
            <a:ext cx="495300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38" b="1">
                <a:solidFill>
                  <a:srgbClr val="315C49"/>
                </a:solidFill>
                <a:latin typeface="Aptos"/>
                <a:ea typeface="Aptos"/>
                <a:cs typeface="Aptos"/>
              </a:defRPr>
            </a:pPr>
            <a:r>
              <a:rPr sz="938" b="1">
                <a:solidFill>
                  <a:srgbClr val="315C49"/>
                </a:solidFill>
                <a:latin typeface="Aptos"/>
                <a:ea typeface="Aptos"/>
                <a:cs typeface="Aptos"/>
              </a:rPr>
              <a:t>PROCESS MAP</a:t>
            </a:r>
          </a:p>
        </p:txBody>
      </p:sp>
      <p:sp>
        <p:nvSpPr>
          <p:cNvPr id="4" name="矩形 3">
            <a:extLst>
              <a:ext uri="{FF2B5EF4-FFF2-40B4-BE49-F238E27FC236}">
                <a16:creationId xmlns:a16="http://schemas.microsoft.com/office/drawing/2014/main" id="{8ECC49A7-01B0-4E79-A4C3-3E9765B503FD}"/>
              </a:ext>
            </a:extLst>
          </p:cNvPr>
          <p:cNvSpPr>
            <a:spLocks noGrp="1"/>
          </p:cNvSpPr>
          <p:nvPr/>
        </p:nvSpPr>
        <p:spPr>
          <a:xfrm>
            <a:off x="514350" y="742950"/>
            <a:ext cx="9906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Different stages have different robotic potential and difficulty.</a:t>
            </a:r>
          </a:p>
        </p:txBody>
      </p:sp>
      <p:sp>
        <p:nvSpPr>
          <p:cNvPr id="5" name="矩形 4">
            <a:extLst>
              <a:ext uri="{FF2B5EF4-FFF2-40B4-BE49-F238E27FC236}">
                <a16:creationId xmlns:a16="http://schemas.microsoft.com/office/drawing/2014/main" id="{E6EAD11E-BE2C-41D4-AA37-C17118AF8E72}"/>
              </a:ext>
            </a:extLst>
          </p:cNvPr>
          <p:cNvSpPr>
            <a:spLocks noGrp="1"/>
          </p:cNvSpPr>
          <p:nvPr/>
        </p:nvSpPr>
        <p:spPr>
          <a:xfrm>
            <a:off x="514350" y="6153150"/>
            <a:ext cx="9620250" cy="11430"/>
          </a:xfrm>
          <a:prstGeom prst="rect">
            <a:avLst/>
          </a:prstGeom>
          <a:solidFill>
            <a:srgbClr val="D8D1C3"/>
          </a:solidFill>
          <a:ln w="0">
            <a:solidFill>
              <a:srgbClr val="000000">
                <a:alpha val="0"/>
              </a:srgbClr>
            </a:solidFill>
            <a:prstDash val="solid"/>
          </a:ln>
        </p:spPr>
      </p:sp>
      <p:sp>
        <p:nvSpPr>
          <p:cNvPr id="6" name="矩形 5">
            <a:extLst>
              <a:ext uri="{FF2B5EF4-FFF2-40B4-BE49-F238E27FC236}">
                <a16:creationId xmlns:a16="http://schemas.microsoft.com/office/drawing/2014/main" id="{3AA60F74-8C0F-4973-B394-AB6316298B72}"/>
              </a:ext>
            </a:extLst>
          </p:cNvPr>
          <p:cNvSpPr>
            <a:spLocks noGrp="1"/>
          </p:cNvSpPr>
          <p:nvPr/>
        </p:nvSpPr>
        <p:spPr>
          <a:xfrm>
            <a:off x="514350" y="6257925"/>
            <a:ext cx="6858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5E625D"/>
                </a:solidFill>
                <a:latin typeface="Aptos"/>
                <a:ea typeface="Aptos"/>
                <a:cs typeface="Aptos"/>
              </a:defRPr>
            </a:pPr>
            <a:r>
              <a:rPr sz="713" b="0">
                <a:solidFill>
                  <a:srgbClr val="5E625D"/>
                </a:solidFill>
                <a:latin typeface="Aptos"/>
                <a:ea typeface="Aptos"/>
                <a:cs typeface="Aptos"/>
              </a:rPr>
              <a:t>Week 01 group meeting | Robotic systems in battery manufacturing</a:t>
            </a:r>
          </a:p>
        </p:txBody>
      </p:sp>
      <p:sp>
        <p:nvSpPr>
          <p:cNvPr id="7" name="矩形 6">
            <a:extLst>
              <a:ext uri="{FF2B5EF4-FFF2-40B4-BE49-F238E27FC236}">
                <a16:creationId xmlns:a16="http://schemas.microsoft.com/office/drawing/2014/main" id="{A1CE26EC-70B0-453B-88F1-07A87BE55F33}"/>
              </a:ext>
            </a:extLst>
          </p:cNvPr>
          <p:cNvSpPr>
            <a:spLocks noGrp="1"/>
          </p:cNvSpPr>
          <p:nvPr/>
        </p:nvSpPr>
        <p:spPr>
          <a:xfrm>
            <a:off x="11049000" y="6229350"/>
            <a:ext cx="666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315C49"/>
                </a:solidFill>
                <a:latin typeface="Aptos"/>
                <a:ea typeface="Aptos"/>
                <a:cs typeface="Aptos"/>
              </a:defRPr>
            </a:pPr>
            <a:r>
              <a:rPr sz="900" b="1">
                <a:solidFill>
                  <a:srgbClr val="315C49"/>
                </a:solidFill>
                <a:latin typeface="Aptos"/>
                <a:ea typeface="Aptos"/>
                <a:cs typeface="Aptos"/>
              </a:rPr>
              <a:t>05</a:t>
            </a:r>
          </a:p>
        </p:txBody>
      </p:sp>
      <p:sp>
        <p:nvSpPr>
          <p:cNvPr id="8" name="矩形 7">
            <a:extLst>
              <a:ext uri="{FF2B5EF4-FFF2-40B4-BE49-F238E27FC236}">
                <a16:creationId xmlns:a16="http://schemas.microsoft.com/office/drawing/2014/main" id="{5B255AAE-F081-4962-9CB7-59334E13D464}"/>
              </a:ext>
            </a:extLst>
          </p:cNvPr>
          <p:cNvSpPr>
            <a:spLocks noGrp="1"/>
          </p:cNvSpPr>
          <p:nvPr/>
        </p:nvSpPr>
        <p:spPr>
          <a:xfrm>
            <a:off x="685800" y="1952625"/>
            <a:ext cx="3190875" cy="2333625"/>
          </a:xfrm>
          <a:prstGeom prst="rect">
            <a:avLst/>
          </a:prstGeom>
          <a:solidFill>
            <a:srgbClr val="FFFFFF"/>
          </a:solidFill>
          <a:ln w="9525">
            <a:solidFill>
              <a:srgbClr val="D8D1C3"/>
            </a:solidFill>
            <a:prstDash val="solid"/>
          </a:ln>
        </p:spPr>
      </p:sp>
      <p:sp>
        <p:nvSpPr>
          <p:cNvPr id="9" name="矩形 8">
            <a:extLst>
              <a:ext uri="{FF2B5EF4-FFF2-40B4-BE49-F238E27FC236}">
                <a16:creationId xmlns:a16="http://schemas.microsoft.com/office/drawing/2014/main" id="{068BEA1D-F9B5-465B-A018-56C952544DBC}"/>
              </a:ext>
            </a:extLst>
          </p:cNvPr>
          <p:cNvSpPr>
            <a:spLocks noGrp="1"/>
          </p:cNvSpPr>
          <p:nvPr/>
        </p:nvSpPr>
        <p:spPr>
          <a:xfrm>
            <a:off x="685800" y="1952625"/>
            <a:ext cx="3190875" cy="66675"/>
          </a:xfrm>
          <a:prstGeom prst="rect">
            <a:avLst/>
          </a:prstGeom>
          <a:solidFill>
            <a:srgbClr val="315C49"/>
          </a:solidFill>
          <a:ln w="0">
            <a:solidFill>
              <a:srgbClr val="000000">
                <a:alpha val="0"/>
              </a:srgbClr>
            </a:solidFill>
            <a:prstDash val="solid"/>
          </a:ln>
        </p:spPr>
      </p:sp>
      <p:sp>
        <p:nvSpPr>
          <p:cNvPr id="10" name="矩形 9">
            <a:extLst>
              <a:ext uri="{FF2B5EF4-FFF2-40B4-BE49-F238E27FC236}">
                <a16:creationId xmlns:a16="http://schemas.microsoft.com/office/drawing/2014/main" id="{7B8A6173-F37E-4E7D-8523-64548DFB875A}"/>
              </a:ext>
            </a:extLst>
          </p:cNvPr>
          <p:cNvSpPr>
            <a:spLocks noGrp="1"/>
          </p:cNvSpPr>
          <p:nvPr/>
        </p:nvSpPr>
        <p:spPr>
          <a:xfrm>
            <a:off x="876300" y="2190750"/>
            <a:ext cx="2809875"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Electrode manufacturing</a:t>
            </a:r>
          </a:p>
        </p:txBody>
      </p:sp>
      <p:sp>
        <p:nvSpPr>
          <p:cNvPr id="11" name="矩形 10">
            <a:extLst>
              <a:ext uri="{FF2B5EF4-FFF2-40B4-BE49-F238E27FC236}">
                <a16:creationId xmlns:a16="http://schemas.microsoft.com/office/drawing/2014/main" id="{0909B475-0F05-4863-AE50-61BC4A463E59}"/>
              </a:ext>
            </a:extLst>
          </p:cNvPr>
          <p:cNvSpPr>
            <a:spLocks noGrp="1"/>
          </p:cNvSpPr>
          <p:nvPr/>
        </p:nvSpPr>
        <p:spPr>
          <a:xfrm>
            <a:off x="876300" y="2619375"/>
            <a:ext cx="2809875" cy="14954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Mixing, coating, drying, calendering, slitting</a:t>
            </a:r>
          </a:p>
          <a:p>
            <a:endParaRPr sz="1088" b="0">
              <a:solidFill>
                <a:srgbClr val="5E625D"/>
              </a:solidFill>
              <a:latin typeface="Aptos"/>
              <a:ea typeface="Aptos"/>
              <a:cs typeface="Aptos"/>
            </a:endParaRPr>
          </a:p>
          <a:p>
            <a:pPr algn="l">
              <a:defRPr sz="1088" b="0">
                <a:solidFill>
                  <a:srgbClr val="5E625D"/>
                </a:solidFill>
                <a:latin typeface="Aptos"/>
                <a:ea typeface="Aptos"/>
                <a:cs typeface="Aptos"/>
              </a:defRPr>
            </a:pPr>
            <a:r>
              <a:rPr sz="1088" b="0">
                <a:solidFill>
                  <a:srgbClr val="5E625D"/>
                </a:solidFill>
                <a:latin typeface="Aptos"/>
                <a:ea typeface="Aptos"/>
                <a:cs typeface="Aptos"/>
              </a:rPr>
              <a:t>Robots mainly support roll handling, sampling, inspection, and logistics.</a:t>
            </a:r>
          </a:p>
        </p:txBody>
      </p:sp>
      <p:sp>
        <p:nvSpPr>
          <p:cNvPr id="12" name="矩形 11">
            <a:extLst>
              <a:ext uri="{FF2B5EF4-FFF2-40B4-BE49-F238E27FC236}">
                <a16:creationId xmlns:a16="http://schemas.microsoft.com/office/drawing/2014/main" id="{3F95733E-3F1B-4F91-8AEA-CF80455BB6A2}"/>
              </a:ext>
            </a:extLst>
          </p:cNvPr>
          <p:cNvSpPr>
            <a:spLocks noGrp="1"/>
          </p:cNvSpPr>
          <p:nvPr/>
        </p:nvSpPr>
        <p:spPr>
          <a:xfrm>
            <a:off x="1333500" y="4524375"/>
            <a:ext cx="1905000" cy="304800"/>
          </a:xfrm>
          <a:prstGeom prst="rect">
            <a:avLst/>
          </a:prstGeom>
          <a:solidFill>
            <a:srgbClr val="DDE8DF"/>
          </a:solidFill>
          <a:ln w="0">
            <a:solidFill>
              <a:srgbClr val="000000">
                <a:alpha val="0"/>
              </a:srgbClr>
            </a:solidFill>
            <a:prstDash val="solid"/>
          </a:ln>
        </p:spPr>
      </p:sp>
      <p:sp>
        <p:nvSpPr>
          <p:cNvPr id="13" name="矩形 12">
            <a:extLst>
              <a:ext uri="{FF2B5EF4-FFF2-40B4-BE49-F238E27FC236}">
                <a16:creationId xmlns:a16="http://schemas.microsoft.com/office/drawing/2014/main" id="{293FBCB0-9638-4111-A761-6A11F45F0AA6}"/>
              </a:ext>
            </a:extLst>
          </p:cNvPr>
          <p:cNvSpPr>
            <a:spLocks noGrp="1"/>
          </p:cNvSpPr>
          <p:nvPr/>
        </p:nvSpPr>
        <p:spPr>
          <a:xfrm>
            <a:off x="1409700" y="4572000"/>
            <a:ext cx="17526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38" b="1">
                <a:solidFill>
                  <a:srgbClr val="315C49"/>
                </a:solidFill>
                <a:latin typeface="Aptos"/>
                <a:ea typeface="Aptos"/>
                <a:cs typeface="Aptos"/>
              </a:defRPr>
            </a:pPr>
            <a:r>
              <a:rPr sz="938" b="1">
                <a:solidFill>
                  <a:srgbClr val="315C49"/>
                </a:solidFill>
                <a:latin typeface="Aptos"/>
                <a:ea typeface="Aptos"/>
                <a:cs typeface="Aptos"/>
              </a:rPr>
              <a:t>Medium priority</a:t>
            </a:r>
          </a:p>
        </p:txBody>
      </p:sp>
      <p:sp>
        <p:nvSpPr>
          <p:cNvPr id="14" name="矩形 13">
            <a:extLst>
              <a:ext uri="{FF2B5EF4-FFF2-40B4-BE49-F238E27FC236}">
                <a16:creationId xmlns:a16="http://schemas.microsoft.com/office/drawing/2014/main" id="{2F6A1DCB-59F8-4582-AF1F-FE80A00D4D29}"/>
              </a:ext>
            </a:extLst>
          </p:cNvPr>
          <p:cNvSpPr>
            <a:spLocks noGrp="1"/>
          </p:cNvSpPr>
          <p:nvPr/>
        </p:nvSpPr>
        <p:spPr>
          <a:xfrm>
            <a:off x="4495800" y="1952625"/>
            <a:ext cx="3190875" cy="2333625"/>
          </a:xfrm>
          <a:prstGeom prst="rect">
            <a:avLst/>
          </a:prstGeom>
          <a:solidFill>
            <a:srgbClr val="FFFFFF"/>
          </a:solidFill>
          <a:ln w="9525">
            <a:solidFill>
              <a:srgbClr val="D8D1C3"/>
            </a:solidFill>
            <a:prstDash val="solid"/>
          </a:ln>
        </p:spPr>
      </p:sp>
      <p:sp>
        <p:nvSpPr>
          <p:cNvPr id="15" name="矩形 14">
            <a:extLst>
              <a:ext uri="{FF2B5EF4-FFF2-40B4-BE49-F238E27FC236}">
                <a16:creationId xmlns:a16="http://schemas.microsoft.com/office/drawing/2014/main" id="{AE1FCEE6-2655-43A4-8AF0-947BD2605CF8}"/>
              </a:ext>
            </a:extLst>
          </p:cNvPr>
          <p:cNvSpPr>
            <a:spLocks noGrp="1"/>
          </p:cNvSpPr>
          <p:nvPr/>
        </p:nvSpPr>
        <p:spPr>
          <a:xfrm>
            <a:off x="4495800" y="1952625"/>
            <a:ext cx="3190875" cy="66675"/>
          </a:xfrm>
          <a:prstGeom prst="rect">
            <a:avLst/>
          </a:prstGeom>
          <a:solidFill>
            <a:srgbClr val="B46B3A"/>
          </a:solidFill>
          <a:ln w="0">
            <a:solidFill>
              <a:srgbClr val="000000">
                <a:alpha val="0"/>
              </a:srgbClr>
            </a:solidFill>
            <a:prstDash val="solid"/>
          </a:ln>
        </p:spPr>
      </p:sp>
      <p:sp>
        <p:nvSpPr>
          <p:cNvPr id="16" name="矩形 15">
            <a:extLst>
              <a:ext uri="{FF2B5EF4-FFF2-40B4-BE49-F238E27FC236}">
                <a16:creationId xmlns:a16="http://schemas.microsoft.com/office/drawing/2014/main" id="{EFEC5772-FF10-4196-B255-A7A1549B1798}"/>
              </a:ext>
            </a:extLst>
          </p:cNvPr>
          <p:cNvSpPr>
            <a:spLocks noGrp="1"/>
          </p:cNvSpPr>
          <p:nvPr/>
        </p:nvSpPr>
        <p:spPr>
          <a:xfrm>
            <a:off x="4686300" y="2190750"/>
            <a:ext cx="2809875"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Cell assembly</a:t>
            </a:r>
          </a:p>
        </p:txBody>
      </p:sp>
      <p:sp>
        <p:nvSpPr>
          <p:cNvPr id="17" name="矩形 16">
            <a:extLst>
              <a:ext uri="{FF2B5EF4-FFF2-40B4-BE49-F238E27FC236}">
                <a16:creationId xmlns:a16="http://schemas.microsoft.com/office/drawing/2014/main" id="{6CEA8F51-AA59-461B-BA8A-7D001B0059E9}"/>
              </a:ext>
            </a:extLst>
          </p:cNvPr>
          <p:cNvSpPr>
            <a:spLocks noGrp="1"/>
          </p:cNvSpPr>
          <p:nvPr/>
        </p:nvSpPr>
        <p:spPr>
          <a:xfrm>
            <a:off x="4686300" y="2619375"/>
            <a:ext cx="2809875" cy="14954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Cutting, stacking/winding, welding, filling, sealing</a:t>
            </a:r>
          </a:p>
          <a:p>
            <a:endParaRPr sz="1088" b="0">
              <a:solidFill>
                <a:srgbClr val="5E625D"/>
              </a:solidFill>
              <a:latin typeface="Aptos"/>
              <a:ea typeface="Aptos"/>
              <a:cs typeface="Aptos"/>
            </a:endParaRPr>
          </a:p>
          <a:p>
            <a:pPr algn="l">
              <a:defRPr sz="1088" b="0">
                <a:solidFill>
                  <a:srgbClr val="5E625D"/>
                </a:solidFill>
                <a:latin typeface="Aptos"/>
                <a:ea typeface="Aptos"/>
                <a:cs typeface="Aptos"/>
              </a:defRPr>
            </a:pPr>
            <a:r>
              <a:rPr sz="1088" b="0">
                <a:solidFill>
                  <a:srgbClr val="5E625D"/>
                </a:solidFill>
                <a:latin typeface="Aptos"/>
                <a:ea typeface="Aptos"/>
                <a:cs typeface="Aptos"/>
              </a:rPr>
              <a:t>High potential, but difficult because materials are thin and precise.</a:t>
            </a:r>
          </a:p>
        </p:txBody>
      </p:sp>
      <p:sp>
        <p:nvSpPr>
          <p:cNvPr id="18" name="矩形 17">
            <a:extLst>
              <a:ext uri="{FF2B5EF4-FFF2-40B4-BE49-F238E27FC236}">
                <a16:creationId xmlns:a16="http://schemas.microsoft.com/office/drawing/2014/main" id="{B8DA2B8D-FF9E-4A8D-85A8-A1B5CE93EFAB}"/>
              </a:ext>
            </a:extLst>
          </p:cNvPr>
          <p:cNvSpPr>
            <a:spLocks noGrp="1"/>
          </p:cNvSpPr>
          <p:nvPr/>
        </p:nvSpPr>
        <p:spPr>
          <a:xfrm>
            <a:off x="5143500" y="4524375"/>
            <a:ext cx="1905000" cy="304800"/>
          </a:xfrm>
          <a:prstGeom prst="rect">
            <a:avLst/>
          </a:prstGeom>
          <a:solidFill>
            <a:srgbClr val="F1DDCF"/>
          </a:solidFill>
          <a:ln w="0">
            <a:solidFill>
              <a:srgbClr val="000000">
                <a:alpha val="0"/>
              </a:srgbClr>
            </a:solidFill>
            <a:prstDash val="solid"/>
          </a:ln>
        </p:spPr>
      </p:sp>
      <p:sp>
        <p:nvSpPr>
          <p:cNvPr id="19" name="矩形 18">
            <a:extLst>
              <a:ext uri="{FF2B5EF4-FFF2-40B4-BE49-F238E27FC236}">
                <a16:creationId xmlns:a16="http://schemas.microsoft.com/office/drawing/2014/main" id="{6A0DDB4D-FAB9-4B80-AF16-289E2A46E642}"/>
              </a:ext>
            </a:extLst>
          </p:cNvPr>
          <p:cNvSpPr>
            <a:spLocks noGrp="1"/>
          </p:cNvSpPr>
          <p:nvPr/>
        </p:nvSpPr>
        <p:spPr>
          <a:xfrm>
            <a:off x="5219700" y="4572000"/>
            <a:ext cx="17526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38" b="1">
                <a:solidFill>
                  <a:srgbClr val="B46B3A"/>
                </a:solidFill>
                <a:latin typeface="Aptos"/>
                <a:ea typeface="Aptos"/>
                <a:cs typeface="Aptos"/>
              </a:defRPr>
            </a:pPr>
            <a:r>
              <a:rPr sz="938" b="1">
                <a:solidFill>
                  <a:srgbClr val="B46B3A"/>
                </a:solidFill>
                <a:latin typeface="Aptos"/>
                <a:ea typeface="Aptos"/>
                <a:cs typeface="Aptos"/>
              </a:rPr>
              <a:t>High but difficult</a:t>
            </a:r>
          </a:p>
        </p:txBody>
      </p:sp>
      <p:sp>
        <p:nvSpPr>
          <p:cNvPr id="20" name="矩形 19">
            <a:extLst>
              <a:ext uri="{FF2B5EF4-FFF2-40B4-BE49-F238E27FC236}">
                <a16:creationId xmlns:a16="http://schemas.microsoft.com/office/drawing/2014/main" id="{1BF41D8E-1ED4-4CA0-896F-CCCA5C416811}"/>
              </a:ext>
            </a:extLst>
          </p:cNvPr>
          <p:cNvSpPr>
            <a:spLocks noGrp="1"/>
          </p:cNvSpPr>
          <p:nvPr/>
        </p:nvSpPr>
        <p:spPr>
          <a:xfrm>
            <a:off x="8305800" y="1952625"/>
            <a:ext cx="3190875" cy="2333625"/>
          </a:xfrm>
          <a:prstGeom prst="rect">
            <a:avLst/>
          </a:prstGeom>
          <a:solidFill>
            <a:srgbClr val="FFFFFF"/>
          </a:solidFill>
          <a:ln w="9525">
            <a:solidFill>
              <a:srgbClr val="D8D1C3"/>
            </a:solidFill>
            <a:prstDash val="solid"/>
          </a:ln>
        </p:spPr>
      </p:sp>
      <p:sp>
        <p:nvSpPr>
          <p:cNvPr id="21" name="矩形 20">
            <a:extLst>
              <a:ext uri="{FF2B5EF4-FFF2-40B4-BE49-F238E27FC236}">
                <a16:creationId xmlns:a16="http://schemas.microsoft.com/office/drawing/2014/main" id="{7DFA5472-0477-4574-A99E-BA897E1E4EBD}"/>
              </a:ext>
            </a:extLst>
          </p:cNvPr>
          <p:cNvSpPr>
            <a:spLocks noGrp="1"/>
          </p:cNvSpPr>
          <p:nvPr/>
        </p:nvSpPr>
        <p:spPr>
          <a:xfrm>
            <a:off x="8305800" y="1952625"/>
            <a:ext cx="3190875" cy="66675"/>
          </a:xfrm>
          <a:prstGeom prst="rect">
            <a:avLst/>
          </a:prstGeom>
          <a:solidFill>
            <a:srgbClr val="597389"/>
          </a:solidFill>
          <a:ln w="0">
            <a:solidFill>
              <a:srgbClr val="000000">
                <a:alpha val="0"/>
              </a:srgbClr>
            </a:solidFill>
            <a:prstDash val="solid"/>
          </a:ln>
        </p:spPr>
      </p:sp>
      <p:sp>
        <p:nvSpPr>
          <p:cNvPr id="22" name="矩形 21">
            <a:extLst>
              <a:ext uri="{FF2B5EF4-FFF2-40B4-BE49-F238E27FC236}">
                <a16:creationId xmlns:a16="http://schemas.microsoft.com/office/drawing/2014/main" id="{2AE841EA-4FF3-4E9F-84C1-6F4CF60F071B}"/>
              </a:ext>
            </a:extLst>
          </p:cNvPr>
          <p:cNvSpPr>
            <a:spLocks noGrp="1"/>
          </p:cNvSpPr>
          <p:nvPr/>
        </p:nvSpPr>
        <p:spPr>
          <a:xfrm>
            <a:off x="8496300" y="2190750"/>
            <a:ext cx="2809875"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Cell finishing</a:t>
            </a:r>
          </a:p>
        </p:txBody>
      </p:sp>
      <p:sp>
        <p:nvSpPr>
          <p:cNvPr id="23" name="矩形 22">
            <a:extLst>
              <a:ext uri="{FF2B5EF4-FFF2-40B4-BE49-F238E27FC236}">
                <a16:creationId xmlns:a16="http://schemas.microsoft.com/office/drawing/2014/main" id="{E642F8A4-172D-4956-9298-4E9D0FAECC48}"/>
              </a:ext>
            </a:extLst>
          </p:cNvPr>
          <p:cNvSpPr>
            <a:spLocks noGrp="1"/>
          </p:cNvSpPr>
          <p:nvPr/>
        </p:nvSpPr>
        <p:spPr>
          <a:xfrm>
            <a:off x="8496300" y="2619375"/>
            <a:ext cx="2809875" cy="14954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Formation, aging, testing, sorting, logistics</a:t>
            </a:r>
          </a:p>
          <a:p>
            <a:endParaRPr sz="1088" b="0">
              <a:solidFill>
                <a:srgbClr val="5E625D"/>
              </a:solidFill>
              <a:latin typeface="Aptos"/>
              <a:ea typeface="Aptos"/>
              <a:cs typeface="Aptos"/>
            </a:endParaRPr>
          </a:p>
          <a:p>
            <a:pPr algn="l">
              <a:defRPr sz="1088" b="0">
                <a:solidFill>
                  <a:srgbClr val="5E625D"/>
                </a:solidFill>
                <a:latin typeface="Aptos"/>
                <a:ea typeface="Aptos"/>
                <a:cs typeface="Aptos"/>
              </a:defRPr>
            </a:pPr>
            <a:r>
              <a:rPr sz="1088" b="0">
                <a:solidFill>
                  <a:srgbClr val="5E625D"/>
                </a:solidFill>
                <a:latin typeface="Aptos"/>
                <a:ea typeface="Aptos"/>
                <a:cs typeface="Aptos"/>
              </a:rPr>
              <a:t>Strong near-term potential: sealed cells, trays, repeated handling.</a:t>
            </a:r>
          </a:p>
        </p:txBody>
      </p:sp>
      <p:sp>
        <p:nvSpPr>
          <p:cNvPr id="24" name="矩形 23">
            <a:extLst>
              <a:ext uri="{FF2B5EF4-FFF2-40B4-BE49-F238E27FC236}">
                <a16:creationId xmlns:a16="http://schemas.microsoft.com/office/drawing/2014/main" id="{C47A4A78-5257-4EE8-AC04-7F45686B58B1}"/>
              </a:ext>
            </a:extLst>
          </p:cNvPr>
          <p:cNvSpPr>
            <a:spLocks noGrp="1"/>
          </p:cNvSpPr>
          <p:nvPr/>
        </p:nvSpPr>
        <p:spPr>
          <a:xfrm>
            <a:off x="8953500" y="4524375"/>
            <a:ext cx="1905000" cy="304800"/>
          </a:xfrm>
          <a:prstGeom prst="rect">
            <a:avLst/>
          </a:prstGeom>
          <a:solidFill>
            <a:srgbClr val="E2E9ED"/>
          </a:solidFill>
          <a:ln w="0">
            <a:solidFill>
              <a:srgbClr val="000000">
                <a:alpha val="0"/>
              </a:srgbClr>
            </a:solidFill>
            <a:prstDash val="solid"/>
          </a:ln>
        </p:spPr>
      </p:sp>
      <p:sp>
        <p:nvSpPr>
          <p:cNvPr id="25" name="矩形 24">
            <a:extLst>
              <a:ext uri="{FF2B5EF4-FFF2-40B4-BE49-F238E27FC236}">
                <a16:creationId xmlns:a16="http://schemas.microsoft.com/office/drawing/2014/main" id="{6E14F1CC-4D4C-4C41-B143-73705C95271D}"/>
              </a:ext>
            </a:extLst>
          </p:cNvPr>
          <p:cNvSpPr>
            <a:spLocks noGrp="1"/>
          </p:cNvSpPr>
          <p:nvPr/>
        </p:nvSpPr>
        <p:spPr>
          <a:xfrm>
            <a:off x="9029700" y="4572000"/>
            <a:ext cx="17526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38" b="1">
                <a:solidFill>
                  <a:srgbClr val="597389"/>
                </a:solidFill>
                <a:latin typeface="Aptos"/>
                <a:ea typeface="Aptos"/>
                <a:cs typeface="Aptos"/>
              </a:defRPr>
            </a:pPr>
            <a:r>
              <a:rPr sz="938" b="1">
                <a:solidFill>
                  <a:srgbClr val="597389"/>
                </a:solidFill>
                <a:latin typeface="Aptos"/>
                <a:ea typeface="Aptos"/>
                <a:cs typeface="Aptos"/>
              </a:rPr>
              <a:t>High priority</a:t>
            </a:r>
          </a:p>
        </p:txBody>
      </p:sp>
      <p:sp>
        <p:nvSpPr>
          <p:cNvPr id="26" name="矩形 25">
            <a:extLst>
              <a:ext uri="{FF2B5EF4-FFF2-40B4-BE49-F238E27FC236}">
                <a16:creationId xmlns:a16="http://schemas.microsoft.com/office/drawing/2014/main" id="{426C46B3-D347-4AF9-A5EA-F6AF4F202552}"/>
              </a:ext>
            </a:extLst>
          </p:cNvPr>
          <p:cNvSpPr>
            <a:spLocks noGrp="1"/>
          </p:cNvSpPr>
          <p:nvPr/>
        </p:nvSpPr>
        <p:spPr>
          <a:xfrm>
            <a:off x="1238250" y="5286375"/>
            <a:ext cx="97155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315C49"/>
                </a:solidFill>
                <a:latin typeface="Aptos"/>
                <a:ea typeface="Aptos"/>
                <a:cs typeface="Aptos"/>
              </a:defRPr>
            </a:pPr>
            <a:r>
              <a:rPr sz="1650" b="1">
                <a:solidFill>
                  <a:srgbClr val="315C49"/>
                </a:solidFill>
                <a:latin typeface="Aptos"/>
                <a:ea typeface="Aptos"/>
                <a:cs typeface="Aptos"/>
              </a:rPr>
              <a:t>First conclusion: cell finishing and intralogistics are the most realistic starting points.</a:t>
            </a:r>
          </a:p>
        </p:txBody>
      </p:sp>
    </p:spTree>
    <p:extLst>
      <p:ext uri="{BB962C8B-B14F-4D97-AF65-F5344CB8AC3E}">
        <p14:creationId xmlns:p14="http://schemas.microsoft.com/office/powerpoint/2010/main" val="409072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a:extLst>
              <a:ext uri="{FF2B5EF4-FFF2-40B4-BE49-F238E27FC236}">
                <a16:creationId xmlns:a16="http://schemas.microsoft.com/office/drawing/2014/main" id="{B4499B8C-0297-4989-811F-73E8AD9FC1C7}"/>
              </a:ext>
            </a:extLst>
          </p:cNvPr>
          <p:cNvSpPr>
            <a:spLocks noGrp="1"/>
          </p:cNvSpPr>
          <p:nvPr/>
        </p:nvSpPr>
        <p:spPr>
          <a:xfrm>
            <a:off x="0" y="0"/>
            <a:ext cx="12192000" cy="6858000"/>
          </a:xfrm>
          <a:prstGeom prst="rect">
            <a:avLst/>
          </a:prstGeom>
          <a:solidFill>
            <a:srgbClr val="F7F3EA"/>
          </a:solidFill>
          <a:ln w="0">
            <a:solidFill>
              <a:srgbClr val="000000">
                <a:alpha val="0"/>
              </a:srgbClr>
            </a:solidFill>
            <a:prstDash val="solid"/>
          </a:ln>
        </p:spPr>
      </p:sp>
      <p:sp>
        <p:nvSpPr>
          <p:cNvPr id="2" name="kicker-6-marker">
            <a:extLst>
              <a:ext uri="{FF2B5EF4-FFF2-40B4-BE49-F238E27FC236}">
                <a16:creationId xmlns:a16="http://schemas.microsoft.com/office/drawing/2014/main" id="{ECCAA5DD-4920-4401-B51E-F91B134EF17C}"/>
              </a:ext>
            </a:extLst>
          </p:cNvPr>
          <p:cNvSpPr>
            <a:spLocks noGrp="1"/>
          </p:cNvSpPr>
          <p:nvPr/>
        </p:nvSpPr>
        <p:spPr>
          <a:xfrm>
            <a:off x="514350" y="400050"/>
            <a:ext cx="95250" cy="95250"/>
          </a:xfrm>
          <a:prstGeom prst="ellipse">
            <a:avLst/>
          </a:prstGeom>
          <a:solidFill>
            <a:srgbClr val="B46B3A"/>
          </a:solidFill>
          <a:ln w="0">
            <a:solidFill>
              <a:srgbClr val="000000">
                <a:alpha val="0"/>
              </a:srgbClr>
            </a:solidFill>
            <a:prstDash val="solid"/>
          </a:ln>
        </p:spPr>
      </p:sp>
      <p:sp>
        <p:nvSpPr>
          <p:cNvPr id="3" name="kicker-6-label">
            <a:extLst>
              <a:ext uri="{FF2B5EF4-FFF2-40B4-BE49-F238E27FC236}">
                <a16:creationId xmlns:a16="http://schemas.microsoft.com/office/drawing/2014/main" id="{687FA0FE-61DA-4C2E-85F4-41B84533F7F2}"/>
              </a:ext>
            </a:extLst>
          </p:cNvPr>
          <p:cNvSpPr>
            <a:spLocks noGrp="1"/>
          </p:cNvSpPr>
          <p:nvPr/>
        </p:nvSpPr>
        <p:spPr>
          <a:xfrm>
            <a:off x="704850" y="323850"/>
            <a:ext cx="495300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38" b="1">
                <a:solidFill>
                  <a:srgbClr val="315C49"/>
                </a:solidFill>
                <a:latin typeface="Aptos"/>
                <a:ea typeface="Aptos"/>
                <a:cs typeface="Aptos"/>
              </a:defRPr>
            </a:pPr>
            <a:r>
              <a:rPr sz="938" b="1">
                <a:solidFill>
                  <a:srgbClr val="315C49"/>
                </a:solidFill>
                <a:latin typeface="Aptos"/>
                <a:ea typeface="Aptos"/>
                <a:cs typeface="Aptos"/>
              </a:rPr>
              <a:t>CANDIDATE USE CASES</a:t>
            </a:r>
          </a:p>
        </p:txBody>
      </p:sp>
      <p:sp>
        <p:nvSpPr>
          <p:cNvPr id="4" name="矩形 3">
            <a:extLst>
              <a:ext uri="{FF2B5EF4-FFF2-40B4-BE49-F238E27FC236}">
                <a16:creationId xmlns:a16="http://schemas.microsoft.com/office/drawing/2014/main" id="{6DF1496C-481C-4923-9949-C6A683DF7081}"/>
              </a:ext>
            </a:extLst>
          </p:cNvPr>
          <p:cNvSpPr>
            <a:spLocks noGrp="1"/>
          </p:cNvSpPr>
          <p:nvPr/>
        </p:nvSpPr>
        <p:spPr>
          <a:xfrm>
            <a:off x="514350" y="742950"/>
            <a:ext cx="9906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I currently recommend three main directions for deeper study.</a:t>
            </a:r>
          </a:p>
        </p:txBody>
      </p:sp>
      <p:sp>
        <p:nvSpPr>
          <p:cNvPr id="5" name="矩形 4">
            <a:extLst>
              <a:ext uri="{FF2B5EF4-FFF2-40B4-BE49-F238E27FC236}">
                <a16:creationId xmlns:a16="http://schemas.microsoft.com/office/drawing/2014/main" id="{A4EDCD89-5EAA-4D83-80B4-F9845FEBA160}"/>
              </a:ext>
            </a:extLst>
          </p:cNvPr>
          <p:cNvSpPr>
            <a:spLocks noGrp="1"/>
          </p:cNvSpPr>
          <p:nvPr/>
        </p:nvSpPr>
        <p:spPr>
          <a:xfrm>
            <a:off x="514350" y="6153150"/>
            <a:ext cx="9620250" cy="11430"/>
          </a:xfrm>
          <a:prstGeom prst="rect">
            <a:avLst/>
          </a:prstGeom>
          <a:solidFill>
            <a:srgbClr val="D8D1C3"/>
          </a:solidFill>
          <a:ln w="0">
            <a:solidFill>
              <a:srgbClr val="000000">
                <a:alpha val="0"/>
              </a:srgbClr>
            </a:solidFill>
            <a:prstDash val="solid"/>
          </a:ln>
        </p:spPr>
      </p:sp>
      <p:sp>
        <p:nvSpPr>
          <p:cNvPr id="6" name="矩形 5">
            <a:extLst>
              <a:ext uri="{FF2B5EF4-FFF2-40B4-BE49-F238E27FC236}">
                <a16:creationId xmlns:a16="http://schemas.microsoft.com/office/drawing/2014/main" id="{5381D605-9490-4BDF-AE2B-78753B12B2ED}"/>
              </a:ext>
            </a:extLst>
          </p:cNvPr>
          <p:cNvSpPr>
            <a:spLocks noGrp="1"/>
          </p:cNvSpPr>
          <p:nvPr/>
        </p:nvSpPr>
        <p:spPr>
          <a:xfrm>
            <a:off x="514350" y="6257925"/>
            <a:ext cx="6858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5E625D"/>
                </a:solidFill>
                <a:latin typeface="Aptos"/>
                <a:ea typeface="Aptos"/>
                <a:cs typeface="Aptos"/>
              </a:defRPr>
            </a:pPr>
            <a:r>
              <a:rPr sz="713" b="0">
                <a:solidFill>
                  <a:srgbClr val="5E625D"/>
                </a:solidFill>
                <a:latin typeface="Aptos"/>
                <a:ea typeface="Aptos"/>
                <a:cs typeface="Aptos"/>
              </a:rPr>
              <a:t>Week 01 group meeting | Robotic systems in battery manufacturing</a:t>
            </a:r>
          </a:p>
        </p:txBody>
      </p:sp>
      <p:sp>
        <p:nvSpPr>
          <p:cNvPr id="7" name="矩形 6">
            <a:extLst>
              <a:ext uri="{FF2B5EF4-FFF2-40B4-BE49-F238E27FC236}">
                <a16:creationId xmlns:a16="http://schemas.microsoft.com/office/drawing/2014/main" id="{E0D4CBC5-4697-4525-96A1-06C0EAF6C424}"/>
              </a:ext>
            </a:extLst>
          </p:cNvPr>
          <p:cNvSpPr>
            <a:spLocks noGrp="1"/>
          </p:cNvSpPr>
          <p:nvPr/>
        </p:nvSpPr>
        <p:spPr>
          <a:xfrm>
            <a:off x="11049000" y="6229350"/>
            <a:ext cx="666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315C49"/>
                </a:solidFill>
                <a:latin typeface="Aptos"/>
                <a:ea typeface="Aptos"/>
                <a:cs typeface="Aptos"/>
              </a:defRPr>
            </a:pPr>
            <a:r>
              <a:rPr sz="900" b="1">
                <a:solidFill>
                  <a:srgbClr val="315C49"/>
                </a:solidFill>
                <a:latin typeface="Aptos"/>
                <a:ea typeface="Aptos"/>
                <a:cs typeface="Aptos"/>
              </a:rPr>
              <a:t>06</a:t>
            </a:r>
          </a:p>
        </p:txBody>
      </p:sp>
      <p:sp>
        <p:nvSpPr>
          <p:cNvPr id="8" name="矩形 7">
            <a:extLst>
              <a:ext uri="{FF2B5EF4-FFF2-40B4-BE49-F238E27FC236}">
                <a16:creationId xmlns:a16="http://schemas.microsoft.com/office/drawing/2014/main" id="{D935F3AC-3AB0-4DAA-8F88-CE458E42663C}"/>
              </a:ext>
            </a:extLst>
          </p:cNvPr>
          <p:cNvSpPr>
            <a:spLocks noGrp="1"/>
          </p:cNvSpPr>
          <p:nvPr/>
        </p:nvSpPr>
        <p:spPr>
          <a:xfrm>
            <a:off x="714375" y="1762125"/>
            <a:ext cx="714375" cy="428625"/>
          </a:xfrm>
          <a:prstGeom prst="rect">
            <a:avLst/>
          </a:prstGeom>
          <a:solidFill>
            <a:srgbClr val="315C49"/>
          </a:solidFill>
          <a:ln w="7620">
            <a:solidFill>
              <a:srgbClr val="D8D1C3"/>
            </a:solidFill>
            <a:prstDash val="solid"/>
          </a:ln>
        </p:spPr>
      </p:sp>
      <p:sp>
        <p:nvSpPr>
          <p:cNvPr id="9" name="矩形 8">
            <a:extLst>
              <a:ext uri="{FF2B5EF4-FFF2-40B4-BE49-F238E27FC236}">
                <a16:creationId xmlns:a16="http://schemas.microsoft.com/office/drawing/2014/main" id="{AC873FE0-C778-48EF-9C96-EC5C3FC2CBA9}"/>
              </a:ext>
            </a:extLst>
          </p:cNvPr>
          <p:cNvSpPr>
            <a:spLocks noGrp="1"/>
          </p:cNvSpPr>
          <p:nvPr/>
        </p:nvSpPr>
        <p:spPr>
          <a:xfrm>
            <a:off x="809625" y="1838325"/>
            <a:ext cx="523875" cy="2762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FFFFF"/>
                </a:solidFill>
                <a:latin typeface="Aptos"/>
                <a:ea typeface="Aptos"/>
                <a:cs typeface="Aptos"/>
              </a:defRPr>
            </a:pPr>
            <a:r>
              <a:rPr sz="1050" b="1">
                <a:solidFill>
                  <a:srgbClr val="FFFFFF"/>
                </a:solidFill>
                <a:latin typeface="Aptos"/>
                <a:ea typeface="Aptos"/>
                <a:cs typeface="Aptos"/>
              </a:rPr>
              <a:t>Rank</a:t>
            </a:r>
          </a:p>
        </p:txBody>
      </p:sp>
      <p:sp>
        <p:nvSpPr>
          <p:cNvPr id="10" name="矩形 9">
            <a:extLst>
              <a:ext uri="{FF2B5EF4-FFF2-40B4-BE49-F238E27FC236}">
                <a16:creationId xmlns:a16="http://schemas.microsoft.com/office/drawing/2014/main" id="{9C0406CA-3624-4ECD-AF6F-9754439949EC}"/>
              </a:ext>
            </a:extLst>
          </p:cNvPr>
          <p:cNvSpPr>
            <a:spLocks noGrp="1"/>
          </p:cNvSpPr>
          <p:nvPr/>
        </p:nvSpPr>
        <p:spPr>
          <a:xfrm>
            <a:off x="1428750" y="1762125"/>
            <a:ext cx="3048000" cy="428625"/>
          </a:xfrm>
          <a:prstGeom prst="rect">
            <a:avLst/>
          </a:prstGeom>
          <a:solidFill>
            <a:srgbClr val="315C49"/>
          </a:solidFill>
          <a:ln w="7620">
            <a:solidFill>
              <a:srgbClr val="D8D1C3"/>
            </a:solidFill>
            <a:prstDash val="solid"/>
          </a:ln>
        </p:spPr>
      </p:sp>
      <p:sp>
        <p:nvSpPr>
          <p:cNvPr id="11" name="矩形 10">
            <a:extLst>
              <a:ext uri="{FF2B5EF4-FFF2-40B4-BE49-F238E27FC236}">
                <a16:creationId xmlns:a16="http://schemas.microsoft.com/office/drawing/2014/main" id="{3B43BC70-8DF5-42BB-8BC4-919EECBFE309}"/>
              </a:ext>
            </a:extLst>
          </p:cNvPr>
          <p:cNvSpPr>
            <a:spLocks noGrp="1"/>
          </p:cNvSpPr>
          <p:nvPr/>
        </p:nvSpPr>
        <p:spPr>
          <a:xfrm>
            <a:off x="1524000" y="1838325"/>
            <a:ext cx="2857500" cy="2762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FFFFF"/>
                </a:solidFill>
                <a:latin typeface="Aptos"/>
                <a:ea typeface="Aptos"/>
                <a:cs typeface="Aptos"/>
              </a:defRPr>
            </a:pPr>
            <a:r>
              <a:rPr sz="1050" b="1">
                <a:solidFill>
                  <a:srgbClr val="FFFFFF"/>
                </a:solidFill>
                <a:latin typeface="Aptos"/>
                <a:ea typeface="Aptos"/>
                <a:cs typeface="Aptos"/>
              </a:rPr>
              <a:t>Use case</a:t>
            </a:r>
          </a:p>
        </p:txBody>
      </p:sp>
      <p:sp>
        <p:nvSpPr>
          <p:cNvPr id="12" name="矩形 11">
            <a:extLst>
              <a:ext uri="{FF2B5EF4-FFF2-40B4-BE49-F238E27FC236}">
                <a16:creationId xmlns:a16="http://schemas.microsoft.com/office/drawing/2014/main" id="{88D63489-181E-41F2-8C09-59A84DF583DB}"/>
              </a:ext>
            </a:extLst>
          </p:cNvPr>
          <p:cNvSpPr>
            <a:spLocks noGrp="1"/>
          </p:cNvSpPr>
          <p:nvPr/>
        </p:nvSpPr>
        <p:spPr>
          <a:xfrm>
            <a:off x="4476750" y="1762125"/>
            <a:ext cx="3905250" cy="428625"/>
          </a:xfrm>
          <a:prstGeom prst="rect">
            <a:avLst/>
          </a:prstGeom>
          <a:solidFill>
            <a:srgbClr val="315C49"/>
          </a:solidFill>
          <a:ln w="7620">
            <a:solidFill>
              <a:srgbClr val="D8D1C3"/>
            </a:solidFill>
            <a:prstDash val="solid"/>
          </a:ln>
        </p:spPr>
      </p:sp>
      <p:sp>
        <p:nvSpPr>
          <p:cNvPr id="13" name="矩形 12">
            <a:extLst>
              <a:ext uri="{FF2B5EF4-FFF2-40B4-BE49-F238E27FC236}">
                <a16:creationId xmlns:a16="http://schemas.microsoft.com/office/drawing/2014/main" id="{BFF56DCD-94B4-40FB-B05A-3A11C7F42414}"/>
              </a:ext>
            </a:extLst>
          </p:cNvPr>
          <p:cNvSpPr>
            <a:spLocks noGrp="1"/>
          </p:cNvSpPr>
          <p:nvPr/>
        </p:nvSpPr>
        <p:spPr>
          <a:xfrm>
            <a:off x="4572000" y="1838325"/>
            <a:ext cx="3714750" cy="2762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FFFFF"/>
                </a:solidFill>
                <a:latin typeface="Aptos"/>
                <a:ea typeface="Aptos"/>
                <a:cs typeface="Aptos"/>
              </a:defRPr>
            </a:pPr>
            <a:r>
              <a:rPr sz="1050" b="1">
                <a:solidFill>
                  <a:srgbClr val="FFFFFF"/>
                </a:solidFill>
                <a:latin typeface="Aptos"/>
                <a:ea typeface="Aptos"/>
                <a:cs typeface="Aptos"/>
              </a:rPr>
              <a:t>Why it is promising</a:t>
            </a:r>
          </a:p>
        </p:txBody>
      </p:sp>
      <p:sp>
        <p:nvSpPr>
          <p:cNvPr id="14" name="矩形 13">
            <a:extLst>
              <a:ext uri="{FF2B5EF4-FFF2-40B4-BE49-F238E27FC236}">
                <a16:creationId xmlns:a16="http://schemas.microsoft.com/office/drawing/2014/main" id="{54D6B3EF-AD54-4BAE-886F-171F45816941}"/>
              </a:ext>
            </a:extLst>
          </p:cNvPr>
          <p:cNvSpPr>
            <a:spLocks noGrp="1"/>
          </p:cNvSpPr>
          <p:nvPr/>
        </p:nvSpPr>
        <p:spPr>
          <a:xfrm>
            <a:off x="8382000" y="1762125"/>
            <a:ext cx="2857500" cy="428625"/>
          </a:xfrm>
          <a:prstGeom prst="rect">
            <a:avLst/>
          </a:prstGeom>
          <a:solidFill>
            <a:srgbClr val="315C49"/>
          </a:solidFill>
          <a:ln w="7620">
            <a:solidFill>
              <a:srgbClr val="D8D1C3"/>
            </a:solidFill>
            <a:prstDash val="solid"/>
          </a:ln>
        </p:spPr>
      </p:sp>
      <p:sp>
        <p:nvSpPr>
          <p:cNvPr id="15" name="矩形 14">
            <a:extLst>
              <a:ext uri="{FF2B5EF4-FFF2-40B4-BE49-F238E27FC236}">
                <a16:creationId xmlns:a16="http://schemas.microsoft.com/office/drawing/2014/main" id="{5CA0B7E4-920C-44C7-BD57-07D50A8035AD}"/>
              </a:ext>
            </a:extLst>
          </p:cNvPr>
          <p:cNvSpPr>
            <a:spLocks noGrp="1"/>
          </p:cNvSpPr>
          <p:nvPr/>
        </p:nvSpPr>
        <p:spPr>
          <a:xfrm>
            <a:off x="8477250" y="1838325"/>
            <a:ext cx="2667000" cy="2762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FFFFF"/>
                </a:solidFill>
                <a:latin typeface="Aptos"/>
                <a:ea typeface="Aptos"/>
                <a:cs typeface="Aptos"/>
              </a:defRPr>
            </a:pPr>
            <a:r>
              <a:rPr sz="1050" b="1">
                <a:solidFill>
                  <a:srgbClr val="FFFFFF"/>
                </a:solidFill>
                <a:latin typeface="Aptos"/>
                <a:ea typeface="Aptos"/>
                <a:cs typeface="Aptos"/>
              </a:rPr>
              <a:t>Main risk / question</a:t>
            </a:r>
          </a:p>
        </p:txBody>
      </p:sp>
      <p:sp>
        <p:nvSpPr>
          <p:cNvPr id="16" name="矩形 15">
            <a:extLst>
              <a:ext uri="{FF2B5EF4-FFF2-40B4-BE49-F238E27FC236}">
                <a16:creationId xmlns:a16="http://schemas.microsoft.com/office/drawing/2014/main" id="{97F9941F-63EC-48B3-B512-2F3D6A08CAD2}"/>
              </a:ext>
            </a:extLst>
          </p:cNvPr>
          <p:cNvSpPr>
            <a:spLocks noGrp="1"/>
          </p:cNvSpPr>
          <p:nvPr/>
        </p:nvSpPr>
        <p:spPr>
          <a:xfrm>
            <a:off x="714375" y="2190750"/>
            <a:ext cx="714375" cy="933450"/>
          </a:xfrm>
          <a:prstGeom prst="rect">
            <a:avLst/>
          </a:prstGeom>
          <a:solidFill>
            <a:srgbClr val="FBF8F1"/>
          </a:solidFill>
          <a:ln w="7620">
            <a:solidFill>
              <a:srgbClr val="D8D1C3"/>
            </a:solidFill>
            <a:prstDash val="solid"/>
          </a:ln>
        </p:spPr>
      </p:sp>
      <p:sp>
        <p:nvSpPr>
          <p:cNvPr id="17" name="矩形 16">
            <a:extLst>
              <a:ext uri="{FF2B5EF4-FFF2-40B4-BE49-F238E27FC236}">
                <a16:creationId xmlns:a16="http://schemas.microsoft.com/office/drawing/2014/main" id="{7ACF9921-7202-48D4-8114-488F14459908}"/>
              </a:ext>
            </a:extLst>
          </p:cNvPr>
          <p:cNvSpPr>
            <a:spLocks noGrp="1"/>
          </p:cNvSpPr>
          <p:nvPr/>
        </p:nvSpPr>
        <p:spPr>
          <a:xfrm>
            <a:off x="809625" y="2266950"/>
            <a:ext cx="523875"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B46B3A"/>
                </a:solidFill>
                <a:latin typeface="Aptos"/>
                <a:ea typeface="Aptos"/>
                <a:cs typeface="Aptos"/>
              </a:defRPr>
            </a:pPr>
            <a:r>
              <a:rPr sz="1650" b="1">
                <a:solidFill>
                  <a:srgbClr val="B46B3A"/>
                </a:solidFill>
                <a:latin typeface="Aptos"/>
                <a:ea typeface="Aptos"/>
                <a:cs typeface="Aptos"/>
              </a:rPr>
              <a:t>1</a:t>
            </a:r>
          </a:p>
        </p:txBody>
      </p:sp>
      <p:sp>
        <p:nvSpPr>
          <p:cNvPr id="18" name="矩形 17">
            <a:extLst>
              <a:ext uri="{FF2B5EF4-FFF2-40B4-BE49-F238E27FC236}">
                <a16:creationId xmlns:a16="http://schemas.microsoft.com/office/drawing/2014/main" id="{C0FCBB51-3A29-4F94-97AB-039732B15AE2}"/>
              </a:ext>
            </a:extLst>
          </p:cNvPr>
          <p:cNvSpPr>
            <a:spLocks noGrp="1"/>
          </p:cNvSpPr>
          <p:nvPr/>
        </p:nvSpPr>
        <p:spPr>
          <a:xfrm>
            <a:off x="1428750" y="2190750"/>
            <a:ext cx="3048000" cy="933450"/>
          </a:xfrm>
          <a:prstGeom prst="rect">
            <a:avLst/>
          </a:prstGeom>
          <a:solidFill>
            <a:srgbClr val="FBF8F1"/>
          </a:solidFill>
          <a:ln w="7620">
            <a:solidFill>
              <a:srgbClr val="D8D1C3"/>
            </a:solidFill>
            <a:prstDash val="solid"/>
          </a:ln>
        </p:spPr>
      </p:sp>
      <p:sp>
        <p:nvSpPr>
          <p:cNvPr id="19" name="矩形 18">
            <a:extLst>
              <a:ext uri="{FF2B5EF4-FFF2-40B4-BE49-F238E27FC236}">
                <a16:creationId xmlns:a16="http://schemas.microsoft.com/office/drawing/2014/main" id="{8291B132-88E4-44DA-BE67-B1E686EBE7E6}"/>
              </a:ext>
            </a:extLst>
          </p:cNvPr>
          <p:cNvSpPr>
            <a:spLocks noGrp="1"/>
          </p:cNvSpPr>
          <p:nvPr/>
        </p:nvSpPr>
        <p:spPr>
          <a:xfrm>
            <a:off x="1524000" y="2266950"/>
            <a:ext cx="28575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01C"/>
                </a:solidFill>
                <a:latin typeface="Aptos"/>
                <a:ea typeface="Aptos"/>
                <a:cs typeface="Aptos"/>
              </a:defRPr>
            </a:pPr>
            <a:r>
              <a:rPr sz="1125" b="1">
                <a:solidFill>
                  <a:srgbClr val="17201C"/>
                </a:solidFill>
                <a:latin typeface="Aptos"/>
                <a:ea typeface="Aptos"/>
                <a:cs typeface="Aptos"/>
              </a:rPr>
              <a:t>AMR / AGV intralogistics</a:t>
            </a:r>
          </a:p>
        </p:txBody>
      </p:sp>
      <p:sp>
        <p:nvSpPr>
          <p:cNvPr id="20" name="矩形 19">
            <a:extLst>
              <a:ext uri="{FF2B5EF4-FFF2-40B4-BE49-F238E27FC236}">
                <a16:creationId xmlns:a16="http://schemas.microsoft.com/office/drawing/2014/main" id="{CD1AC61D-EF7A-4A6F-B07E-F6887B82DAC5}"/>
              </a:ext>
            </a:extLst>
          </p:cNvPr>
          <p:cNvSpPr>
            <a:spLocks noGrp="1"/>
          </p:cNvSpPr>
          <p:nvPr/>
        </p:nvSpPr>
        <p:spPr>
          <a:xfrm>
            <a:off x="4476750" y="2190750"/>
            <a:ext cx="3905250" cy="933450"/>
          </a:xfrm>
          <a:prstGeom prst="rect">
            <a:avLst/>
          </a:prstGeom>
          <a:solidFill>
            <a:srgbClr val="FBF8F1"/>
          </a:solidFill>
          <a:ln w="7620">
            <a:solidFill>
              <a:srgbClr val="D8D1C3"/>
            </a:solidFill>
            <a:prstDash val="solid"/>
          </a:ln>
        </p:spPr>
      </p:sp>
      <p:sp>
        <p:nvSpPr>
          <p:cNvPr id="21" name="矩形 20">
            <a:extLst>
              <a:ext uri="{FF2B5EF4-FFF2-40B4-BE49-F238E27FC236}">
                <a16:creationId xmlns:a16="http://schemas.microsoft.com/office/drawing/2014/main" id="{244701AF-9CFE-4F39-82DA-20EF847B1734}"/>
              </a:ext>
            </a:extLst>
          </p:cNvPr>
          <p:cNvSpPr>
            <a:spLocks noGrp="1"/>
          </p:cNvSpPr>
          <p:nvPr/>
        </p:nvSpPr>
        <p:spPr>
          <a:xfrm>
            <a:off x="4572000" y="2266950"/>
            <a:ext cx="371475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5E625D"/>
                </a:solidFill>
                <a:latin typeface="Aptos"/>
                <a:ea typeface="Aptos"/>
                <a:cs typeface="Aptos"/>
              </a:defRPr>
            </a:pPr>
            <a:r>
              <a:rPr sz="1065" b="0">
                <a:solidFill>
                  <a:srgbClr val="5E625D"/>
                </a:solidFill>
                <a:latin typeface="Aptos"/>
                <a:ea typeface="Aptos"/>
                <a:cs typeface="Aptos"/>
              </a:rPr>
              <a:t>Supports material flow, reduces manual transport, links to traceability.</a:t>
            </a:r>
          </a:p>
        </p:txBody>
      </p:sp>
      <p:sp>
        <p:nvSpPr>
          <p:cNvPr id="22" name="矩形 21">
            <a:extLst>
              <a:ext uri="{FF2B5EF4-FFF2-40B4-BE49-F238E27FC236}">
                <a16:creationId xmlns:a16="http://schemas.microsoft.com/office/drawing/2014/main" id="{B56C6DAE-5E4A-4FF6-9062-F0DB3F7D4E12}"/>
              </a:ext>
            </a:extLst>
          </p:cNvPr>
          <p:cNvSpPr>
            <a:spLocks noGrp="1"/>
          </p:cNvSpPr>
          <p:nvPr/>
        </p:nvSpPr>
        <p:spPr>
          <a:xfrm>
            <a:off x="8382000" y="2190750"/>
            <a:ext cx="2857500" cy="933450"/>
          </a:xfrm>
          <a:prstGeom prst="rect">
            <a:avLst/>
          </a:prstGeom>
          <a:solidFill>
            <a:srgbClr val="FBF8F1"/>
          </a:solidFill>
          <a:ln w="7620">
            <a:solidFill>
              <a:srgbClr val="D8D1C3"/>
            </a:solidFill>
            <a:prstDash val="solid"/>
          </a:ln>
        </p:spPr>
      </p:sp>
      <p:sp>
        <p:nvSpPr>
          <p:cNvPr id="23" name="矩形 22">
            <a:extLst>
              <a:ext uri="{FF2B5EF4-FFF2-40B4-BE49-F238E27FC236}">
                <a16:creationId xmlns:a16="http://schemas.microsoft.com/office/drawing/2014/main" id="{E3742B11-B900-415A-B0BF-A0F69F6707AF}"/>
              </a:ext>
            </a:extLst>
          </p:cNvPr>
          <p:cNvSpPr>
            <a:spLocks noGrp="1"/>
          </p:cNvSpPr>
          <p:nvPr/>
        </p:nvSpPr>
        <p:spPr>
          <a:xfrm>
            <a:off x="8477250" y="2266950"/>
            <a:ext cx="26670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5E625D"/>
                </a:solidFill>
                <a:latin typeface="Aptos"/>
                <a:ea typeface="Aptos"/>
                <a:cs typeface="Aptos"/>
              </a:defRPr>
            </a:pPr>
            <a:r>
              <a:rPr sz="1065" b="0">
                <a:solidFill>
                  <a:srgbClr val="5E625D"/>
                </a:solidFill>
                <a:latin typeface="Aptos"/>
                <a:ea typeface="Aptos"/>
                <a:cs typeface="Aptos"/>
              </a:rPr>
              <a:t>Dry-room compatibility and MES integration.</a:t>
            </a:r>
          </a:p>
        </p:txBody>
      </p:sp>
      <p:sp>
        <p:nvSpPr>
          <p:cNvPr id="24" name="矩形 23">
            <a:extLst>
              <a:ext uri="{FF2B5EF4-FFF2-40B4-BE49-F238E27FC236}">
                <a16:creationId xmlns:a16="http://schemas.microsoft.com/office/drawing/2014/main" id="{FA66EA2A-95DD-4A83-B7D8-0987057AC97B}"/>
              </a:ext>
            </a:extLst>
          </p:cNvPr>
          <p:cNvSpPr>
            <a:spLocks noGrp="1"/>
          </p:cNvSpPr>
          <p:nvPr/>
        </p:nvSpPr>
        <p:spPr>
          <a:xfrm>
            <a:off x="714375" y="3124200"/>
            <a:ext cx="714375" cy="933450"/>
          </a:xfrm>
          <a:prstGeom prst="rect">
            <a:avLst/>
          </a:prstGeom>
          <a:solidFill>
            <a:srgbClr val="FFFFFF"/>
          </a:solidFill>
          <a:ln w="7620">
            <a:solidFill>
              <a:srgbClr val="D8D1C3"/>
            </a:solidFill>
            <a:prstDash val="solid"/>
          </a:ln>
        </p:spPr>
      </p:sp>
      <p:sp>
        <p:nvSpPr>
          <p:cNvPr id="25" name="矩形 24">
            <a:extLst>
              <a:ext uri="{FF2B5EF4-FFF2-40B4-BE49-F238E27FC236}">
                <a16:creationId xmlns:a16="http://schemas.microsoft.com/office/drawing/2014/main" id="{EC85A3C7-B011-4602-814F-CD1B5B045F14}"/>
              </a:ext>
            </a:extLst>
          </p:cNvPr>
          <p:cNvSpPr>
            <a:spLocks noGrp="1"/>
          </p:cNvSpPr>
          <p:nvPr/>
        </p:nvSpPr>
        <p:spPr>
          <a:xfrm>
            <a:off x="809625" y="3200400"/>
            <a:ext cx="523875"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B46B3A"/>
                </a:solidFill>
                <a:latin typeface="Aptos"/>
                <a:ea typeface="Aptos"/>
                <a:cs typeface="Aptos"/>
              </a:defRPr>
            </a:pPr>
            <a:r>
              <a:rPr sz="1650" b="1">
                <a:solidFill>
                  <a:srgbClr val="B46B3A"/>
                </a:solidFill>
                <a:latin typeface="Aptos"/>
                <a:ea typeface="Aptos"/>
                <a:cs typeface="Aptos"/>
              </a:rPr>
              <a:t>2</a:t>
            </a:r>
          </a:p>
        </p:txBody>
      </p:sp>
      <p:sp>
        <p:nvSpPr>
          <p:cNvPr id="26" name="矩形 25">
            <a:extLst>
              <a:ext uri="{FF2B5EF4-FFF2-40B4-BE49-F238E27FC236}">
                <a16:creationId xmlns:a16="http://schemas.microsoft.com/office/drawing/2014/main" id="{7BD0EB67-DFCE-4AD3-B685-AA552E70B3AC}"/>
              </a:ext>
            </a:extLst>
          </p:cNvPr>
          <p:cNvSpPr>
            <a:spLocks noGrp="1"/>
          </p:cNvSpPr>
          <p:nvPr/>
        </p:nvSpPr>
        <p:spPr>
          <a:xfrm>
            <a:off x="1428750" y="3124200"/>
            <a:ext cx="3048000" cy="933450"/>
          </a:xfrm>
          <a:prstGeom prst="rect">
            <a:avLst/>
          </a:prstGeom>
          <a:solidFill>
            <a:srgbClr val="FFFFFF"/>
          </a:solidFill>
          <a:ln w="7620">
            <a:solidFill>
              <a:srgbClr val="D8D1C3"/>
            </a:solidFill>
            <a:prstDash val="solid"/>
          </a:ln>
        </p:spPr>
      </p:sp>
      <p:sp>
        <p:nvSpPr>
          <p:cNvPr id="27" name="矩形 26">
            <a:extLst>
              <a:ext uri="{FF2B5EF4-FFF2-40B4-BE49-F238E27FC236}">
                <a16:creationId xmlns:a16="http://schemas.microsoft.com/office/drawing/2014/main" id="{6842D861-CC7D-43BA-856E-32B24759CF88}"/>
              </a:ext>
            </a:extLst>
          </p:cNvPr>
          <p:cNvSpPr>
            <a:spLocks noGrp="1"/>
          </p:cNvSpPr>
          <p:nvPr/>
        </p:nvSpPr>
        <p:spPr>
          <a:xfrm>
            <a:off x="1524000" y="3200400"/>
            <a:ext cx="28575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01C"/>
                </a:solidFill>
                <a:latin typeface="Aptos"/>
                <a:ea typeface="Aptos"/>
                <a:cs typeface="Aptos"/>
              </a:defRPr>
            </a:pPr>
            <a:r>
              <a:rPr sz="1125" b="1">
                <a:solidFill>
                  <a:srgbClr val="17201C"/>
                </a:solidFill>
                <a:latin typeface="Aptos"/>
                <a:ea typeface="Aptos"/>
                <a:cs typeface="Aptos"/>
              </a:rPr>
              <a:t>Formation / testing tray handling</a:t>
            </a:r>
          </a:p>
        </p:txBody>
      </p:sp>
      <p:sp>
        <p:nvSpPr>
          <p:cNvPr id="28" name="矩形 27">
            <a:extLst>
              <a:ext uri="{FF2B5EF4-FFF2-40B4-BE49-F238E27FC236}">
                <a16:creationId xmlns:a16="http://schemas.microsoft.com/office/drawing/2014/main" id="{A7F24815-7232-46D7-B40D-99B65A1269AF}"/>
              </a:ext>
            </a:extLst>
          </p:cNvPr>
          <p:cNvSpPr>
            <a:spLocks noGrp="1"/>
          </p:cNvSpPr>
          <p:nvPr/>
        </p:nvSpPr>
        <p:spPr>
          <a:xfrm>
            <a:off x="4476750" y="3124200"/>
            <a:ext cx="3905250" cy="933450"/>
          </a:xfrm>
          <a:prstGeom prst="rect">
            <a:avLst/>
          </a:prstGeom>
          <a:solidFill>
            <a:srgbClr val="FFFFFF"/>
          </a:solidFill>
          <a:ln w="7620">
            <a:solidFill>
              <a:srgbClr val="D8D1C3"/>
            </a:solidFill>
            <a:prstDash val="solid"/>
          </a:ln>
        </p:spPr>
      </p:sp>
      <p:sp>
        <p:nvSpPr>
          <p:cNvPr id="29" name="矩形 28">
            <a:extLst>
              <a:ext uri="{FF2B5EF4-FFF2-40B4-BE49-F238E27FC236}">
                <a16:creationId xmlns:a16="http://schemas.microsoft.com/office/drawing/2014/main" id="{D6AF649F-A9C5-4261-93E5-66A924CAF989}"/>
              </a:ext>
            </a:extLst>
          </p:cNvPr>
          <p:cNvSpPr>
            <a:spLocks noGrp="1"/>
          </p:cNvSpPr>
          <p:nvPr/>
        </p:nvSpPr>
        <p:spPr>
          <a:xfrm>
            <a:off x="4572000" y="3200400"/>
            <a:ext cx="371475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5E625D"/>
                </a:solidFill>
                <a:latin typeface="Aptos"/>
                <a:ea typeface="Aptos"/>
                <a:cs typeface="Aptos"/>
              </a:defRPr>
            </a:pPr>
            <a:r>
              <a:rPr sz="1065" b="0">
                <a:solidFill>
                  <a:srgbClr val="5E625D"/>
                </a:solidFill>
                <a:latin typeface="Aptos"/>
                <a:ea typeface="Aptos"/>
                <a:cs typeface="Aptos"/>
              </a:rPr>
              <a:t>Cells are sealed, tray-based, repetitive, and suitable for economic evaluation.</a:t>
            </a:r>
          </a:p>
        </p:txBody>
      </p:sp>
      <p:sp>
        <p:nvSpPr>
          <p:cNvPr id="30" name="矩形 29">
            <a:extLst>
              <a:ext uri="{FF2B5EF4-FFF2-40B4-BE49-F238E27FC236}">
                <a16:creationId xmlns:a16="http://schemas.microsoft.com/office/drawing/2014/main" id="{334718F8-E01A-4C54-BA40-C29FBE405D9D}"/>
              </a:ext>
            </a:extLst>
          </p:cNvPr>
          <p:cNvSpPr>
            <a:spLocks noGrp="1"/>
          </p:cNvSpPr>
          <p:nvPr/>
        </p:nvSpPr>
        <p:spPr>
          <a:xfrm>
            <a:off x="8382000" y="3124200"/>
            <a:ext cx="2857500" cy="933450"/>
          </a:xfrm>
          <a:prstGeom prst="rect">
            <a:avLst/>
          </a:prstGeom>
          <a:solidFill>
            <a:srgbClr val="FFFFFF"/>
          </a:solidFill>
          <a:ln w="7620">
            <a:solidFill>
              <a:srgbClr val="D8D1C3"/>
            </a:solidFill>
            <a:prstDash val="solid"/>
          </a:ln>
        </p:spPr>
      </p:sp>
      <p:sp>
        <p:nvSpPr>
          <p:cNvPr id="31" name="矩形 30">
            <a:extLst>
              <a:ext uri="{FF2B5EF4-FFF2-40B4-BE49-F238E27FC236}">
                <a16:creationId xmlns:a16="http://schemas.microsoft.com/office/drawing/2014/main" id="{FFF964E5-0633-4236-AAE3-BB5882BCF4E6}"/>
              </a:ext>
            </a:extLst>
          </p:cNvPr>
          <p:cNvSpPr>
            <a:spLocks noGrp="1"/>
          </p:cNvSpPr>
          <p:nvPr/>
        </p:nvSpPr>
        <p:spPr>
          <a:xfrm>
            <a:off x="8477250" y="3200400"/>
            <a:ext cx="26670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5E625D"/>
                </a:solidFill>
                <a:latin typeface="Aptos"/>
                <a:ea typeface="Aptos"/>
                <a:cs typeface="Aptos"/>
              </a:defRPr>
            </a:pPr>
            <a:r>
              <a:rPr sz="1065" b="0">
                <a:solidFill>
                  <a:srgbClr val="5E625D"/>
                </a:solidFill>
                <a:latin typeface="Aptos"/>
                <a:ea typeface="Aptos"/>
                <a:cs typeface="Aptos"/>
              </a:rPr>
              <a:t>Interface with test equipment and safety logic.</a:t>
            </a:r>
          </a:p>
        </p:txBody>
      </p:sp>
      <p:sp>
        <p:nvSpPr>
          <p:cNvPr id="32" name="矩形 31">
            <a:extLst>
              <a:ext uri="{FF2B5EF4-FFF2-40B4-BE49-F238E27FC236}">
                <a16:creationId xmlns:a16="http://schemas.microsoft.com/office/drawing/2014/main" id="{A76E5B49-61B0-456E-B4F0-777AC6119F1D}"/>
              </a:ext>
            </a:extLst>
          </p:cNvPr>
          <p:cNvSpPr>
            <a:spLocks noGrp="1"/>
          </p:cNvSpPr>
          <p:nvPr/>
        </p:nvSpPr>
        <p:spPr>
          <a:xfrm>
            <a:off x="714375" y="4057650"/>
            <a:ext cx="714375" cy="933450"/>
          </a:xfrm>
          <a:prstGeom prst="rect">
            <a:avLst/>
          </a:prstGeom>
          <a:solidFill>
            <a:srgbClr val="FBF8F1"/>
          </a:solidFill>
          <a:ln w="7620">
            <a:solidFill>
              <a:srgbClr val="D8D1C3"/>
            </a:solidFill>
            <a:prstDash val="solid"/>
          </a:ln>
        </p:spPr>
      </p:sp>
      <p:sp>
        <p:nvSpPr>
          <p:cNvPr id="33" name="矩形 32">
            <a:extLst>
              <a:ext uri="{FF2B5EF4-FFF2-40B4-BE49-F238E27FC236}">
                <a16:creationId xmlns:a16="http://schemas.microsoft.com/office/drawing/2014/main" id="{FFE1A638-62A5-4BD6-B3B1-C828B14EB0DD}"/>
              </a:ext>
            </a:extLst>
          </p:cNvPr>
          <p:cNvSpPr>
            <a:spLocks noGrp="1"/>
          </p:cNvSpPr>
          <p:nvPr/>
        </p:nvSpPr>
        <p:spPr>
          <a:xfrm>
            <a:off x="809625" y="4133850"/>
            <a:ext cx="523875"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B46B3A"/>
                </a:solidFill>
                <a:latin typeface="Aptos"/>
                <a:ea typeface="Aptos"/>
                <a:cs typeface="Aptos"/>
              </a:defRPr>
            </a:pPr>
            <a:r>
              <a:rPr sz="1650" b="1">
                <a:solidFill>
                  <a:srgbClr val="B46B3A"/>
                </a:solidFill>
                <a:latin typeface="Aptos"/>
                <a:ea typeface="Aptos"/>
                <a:cs typeface="Aptos"/>
              </a:rPr>
              <a:t>3</a:t>
            </a:r>
          </a:p>
        </p:txBody>
      </p:sp>
      <p:sp>
        <p:nvSpPr>
          <p:cNvPr id="34" name="矩形 33">
            <a:extLst>
              <a:ext uri="{FF2B5EF4-FFF2-40B4-BE49-F238E27FC236}">
                <a16:creationId xmlns:a16="http://schemas.microsoft.com/office/drawing/2014/main" id="{196E3536-1EC0-4BF7-987B-2714E7AA557E}"/>
              </a:ext>
            </a:extLst>
          </p:cNvPr>
          <p:cNvSpPr>
            <a:spLocks noGrp="1"/>
          </p:cNvSpPr>
          <p:nvPr/>
        </p:nvSpPr>
        <p:spPr>
          <a:xfrm>
            <a:off x="1428750" y="4057650"/>
            <a:ext cx="3048000" cy="933450"/>
          </a:xfrm>
          <a:prstGeom prst="rect">
            <a:avLst/>
          </a:prstGeom>
          <a:solidFill>
            <a:srgbClr val="FBF8F1"/>
          </a:solidFill>
          <a:ln w="7620">
            <a:solidFill>
              <a:srgbClr val="D8D1C3"/>
            </a:solidFill>
            <a:prstDash val="solid"/>
          </a:ln>
        </p:spPr>
      </p:sp>
      <p:sp>
        <p:nvSpPr>
          <p:cNvPr id="35" name="矩形 34">
            <a:extLst>
              <a:ext uri="{FF2B5EF4-FFF2-40B4-BE49-F238E27FC236}">
                <a16:creationId xmlns:a16="http://schemas.microsoft.com/office/drawing/2014/main" id="{6834C366-7703-4AFC-92C4-54382FD534FE}"/>
              </a:ext>
            </a:extLst>
          </p:cNvPr>
          <p:cNvSpPr>
            <a:spLocks noGrp="1"/>
          </p:cNvSpPr>
          <p:nvPr/>
        </p:nvSpPr>
        <p:spPr>
          <a:xfrm>
            <a:off x="1524000" y="4133850"/>
            <a:ext cx="28575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7201C"/>
                </a:solidFill>
                <a:latin typeface="Aptos"/>
                <a:ea typeface="Aptos"/>
                <a:cs typeface="Aptos"/>
              </a:defRPr>
            </a:pPr>
            <a:r>
              <a:rPr sz="1125" b="1">
                <a:solidFill>
                  <a:srgbClr val="17201C"/>
                </a:solidFill>
                <a:latin typeface="Aptos"/>
                <a:ea typeface="Aptos"/>
                <a:cs typeface="Aptos"/>
              </a:rPr>
              <a:t>Vision-guided inspection + loading</a:t>
            </a:r>
          </a:p>
        </p:txBody>
      </p:sp>
      <p:sp>
        <p:nvSpPr>
          <p:cNvPr id="36" name="矩形 35">
            <a:extLst>
              <a:ext uri="{FF2B5EF4-FFF2-40B4-BE49-F238E27FC236}">
                <a16:creationId xmlns:a16="http://schemas.microsoft.com/office/drawing/2014/main" id="{5EA336CC-E554-4F3E-8E98-B8B8D8FBE425}"/>
              </a:ext>
            </a:extLst>
          </p:cNvPr>
          <p:cNvSpPr>
            <a:spLocks noGrp="1"/>
          </p:cNvSpPr>
          <p:nvPr/>
        </p:nvSpPr>
        <p:spPr>
          <a:xfrm>
            <a:off x="4476750" y="4057650"/>
            <a:ext cx="3905250" cy="933450"/>
          </a:xfrm>
          <a:prstGeom prst="rect">
            <a:avLst/>
          </a:prstGeom>
          <a:solidFill>
            <a:srgbClr val="FBF8F1"/>
          </a:solidFill>
          <a:ln w="7620">
            <a:solidFill>
              <a:srgbClr val="D8D1C3"/>
            </a:solidFill>
            <a:prstDash val="solid"/>
          </a:ln>
        </p:spPr>
      </p:sp>
      <p:sp>
        <p:nvSpPr>
          <p:cNvPr id="37" name="矩形 36">
            <a:extLst>
              <a:ext uri="{FF2B5EF4-FFF2-40B4-BE49-F238E27FC236}">
                <a16:creationId xmlns:a16="http://schemas.microsoft.com/office/drawing/2014/main" id="{224EDCE2-AF94-494D-B6C8-C1183E9CB4F1}"/>
              </a:ext>
            </a:extLst>
          </p:cNvPr>
          <p:cNvSpPr>
            <a:spLocks noGrp="1"/>
          </p:cNvSpPr>
          <p:nvPr/>
        </p:nvSpPr>
        <p:spPr>
          <a:xfrm>
            <a:off x="4572000" y="4133850"/>
            <a:ext cx="371475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5E625D"/>
                </a:solidFill>
                <a:latin typeface="Aptos"/>
                <a:ea typeface="Aptos"/>
                <a:cs typeface="Aptos"/>
              </a:defRPr>
            </a:pPr>
            <a:r>
              <a:rPr sz="1065" b="0">
                <a:solidFill>
                  <a:srgbClr val="5E625D"/>
                </a:solidFill>
                <a:latin typeface="Aptos"/>
                <a:ea typeface="Aptos"/>
                <a:cs typeface="Aptos"/>
              </a:rPr>
              <a:t>Connects robotics with quality control and production data.</a:t>
            </a:r>
          </a:p>
        </p:txBody>
      </p:sp>
      <p:sp>
        <p:nvSpPr>
          <p:cNvPr id="38" name="矩形 37">
            <a:extLst>
              <a:ext uri="{FF2B5EF4-FFF2-40B4-BE49-F238E27FC236}">
                <a16:creationId xmlns:a16="http://schemas.microsoft.com/office/drawing/2014/main" id="{46372045-1579-40A2-B380-F0748ADB22C7}"/>
              </a:ext>
            </a:extLst>
          </p:cNvPr>
          <p:cNvSpPr>
            <a:spLocks noGrp="1"/>
          </p:cNvSpPr>
          <p:nvPr/>
        </p:nvSpPr>
        <p:spPr>
          <a:xfrm>
            <a:off x="8382000" y="4057650"/>
            <a:ext cx="2857500" cy="933450"/>
          </a:xfrm>
          <a:prstGeom prst="rect">
            <a:avLst/>
          </a:prstGeom>
          <a:solidFill>
            <a:srgbClr val="FBF8F1"/>
          </a:solidFill>
          <a:ln w="7620">
            <a:solidFill>
              <a:srgbClr val="D8D1C3"/>
            </a:solidFill>
            <a:prstDash val="solid"/>
          </a:ln>
        </p:spPr>
      </p:sp>
      <p:sp>
        <p:nvSpPr>
          <p:cNvPr id="39" name="矩形 38">
            <a:extLst>
              <a:ext uri="{FF2B5EF4-FFF2-40B4-BE49-F238E27FC236}">
                <a16:creationId xmlns:a16="http://schemas.microsoft.com/office/drawing/2014/main" id="{F56E8A11-FBEC-40E9-9054-8F0F2E0AE5F9}"/>
              </a:ext>
            </a:extLst>
          </p:cNvPr>
          <p:cNvSpPr>
            <a:spLocks noGrp="1"/>
          </p:cNvSpPr>
          <p:nvPr/>
        </p:nvSpPr>
        <p:spPr>
          <a:xfrm>
            <a:off x="8477250" y="4133850"/>
            <a:ext cx="26670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5E625D"/>
                </a:solidFill>
                <a:latin typeface="Aptos"/>
                <a:ea typeface="Aptos"/>
                <a:cs typeface="Aptos"/>
              </a:defRPr>
            </a:pPr>
            <a:r>
              <a:rPr sz="1065" b="0">
                <a:solidFill>
                  <a:srgbClr val="5E625D"/>
                </a:solidFill>
                <a:latin typeface="Aptos"/>
                <a:ea typeface="Aptos"/>
                <a:cs typeface="Aptos"/>
              </a:rPr>
              <a:t>Need good industrial examples and clear scope.</a:t>
            </a:r>
          </a:p>
        </p:txBody>
      </p:sp>
      <p:sp>
        <p:nvSpPr>
          <p:cNvPr id="40" name="矩形 39">
            <a:extLst>
              <a:ext uri="{FF2B5EF4-FFF2-40B4-BE49-F238E27FC236}">
                <a16:creationId xmlns:a16="http://schemas.microsoft.com/office/drawing/2014/main" id="{8419121D-8A7D-43AF-829A-4D5A721F0145}"/>
              </a:ext>
            </a:extLst>
          </p:cNvPr>
          <p:cNvSpPr>
            <a:spLocks noGrp="1"/>
          </p:cNvSpPr>
          <p:nvPr/>
        </p:nvSpPr>
        <p:spPr>
          <a:xfrm>
            <a:off x="1143000" y="5238750"/>
            <a:ext cx="98107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597389"/>
                </a:solidFill>
                <a:latin typeface="Aptos"/>
                <a:ea typeface="Aptos"/>
                <a:cs typeface="Aptos"/>
              </a:defRPr>
            </a:pPr>
            <a:r>
              <a:rPr sz="1350" b="1">
                <a:solidFill>
                  <a:srgbClr val="597389"/>
                </a:solidFill>
                <a:latin typeface="Aptos"/>
                <a:ea typeface="Aptos"/>
                <a:cs typeface="Aptos"/>
              </a:rPr>
              <a:t>Optional technical-depth case: vision-guided stacking or housing insertion, but this may be too difficult for the main evaluation.</a:t>
            </a:r>
          </a:p>
        </p:txBody>
      </p:sp>
    </p:spTree>
    <p:extLst>
      <p:ext uri="{BB962C8B-B14F-4D97-AF65-F5344CB8AC3E}">
        <p14:creationId xmlns:p14="http://schemas.microsoft.com/office/powerpoint/2010/main" val="761235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87943506-0EEF-48F6-A2C3-18CDF84DAC56}"/>
              </a:ext>
            </a:extLst>
          </p:cNvPr>
          <p:cNvSpPr>
            <a:spLocks noGrp="1"/>
          </p:cNvSpPr>
          <p:nvPr/>
        </p:nvSpPr>
        <p:spPr>
          <a:xfrm>
            <a:off x="0" y="0"/>
            <a:ext cx="12192000" cy="6858000"/>
          </a:xfrm>
          <a:prstGeom prst="rect">
            <a:avLst/>
          </a:prstGeom>
          <a:solidFill>
            <a:srgbClr val="F7F3EA"/>
          </a:solidFill>
          <a:ln w="0">
            <a:solidFill>
              <a:srgbClr val="000000">
                <a:alpha val="0"/>
              </a:srgbClr>
            </a:solidFill>
            <a:prstDash val="solid"/>
          </a:ln>
        </p:spPr>
      </p:sp>
      <p:sp>
        <p:nvSpPr>
          <p:cNvPr id="2" name="kicker-7-marker">
            <a:extLst>
              <a:ext uri="{FF2B5EF4-FFF2-40B4-BE49-F238E27FC236}">
                <a16:creationId xmlns:a16="http://schemas.microsoft.com/office/drawing/2014/main" id="{174E8124-537B-4D3F-9646-C59C9C60A715}"/>
              </a:ext>
            </a:extLst>
          </p:cNvPr>
          <p:cNvSpPr>
            <a:spLocks noGrp="1"/>
          </p:cNvSpPr>
          <p:nvPr/>
        </p:nvSpPr>
        <p:spPr>
          <a:xfrm>
            <a:off x="514350" y="400050"/>
            <a:ext cx="95250" cy="95250"/>
          </a:xfrm>
          <a:prstGeom prst="ellipse">
            <a:avLst/>
          </a:prstGeom>
          <a:solidFill>
            <a:srgbClr val="B46B3A"/>
          </a:solidFill>
          <a:ln w="0">
            <a:solidFill>
              <a:srgbClr val="000000">
                <a:alpha val="0"/>
              </a:srgbClr>
            </a:solidFill>
            <a:prstDash val="solid"/>
          </a:ln>
        </p:spPr>
      </p:sp>
      <p:sp>
        <p:nvSpPr>
          <p:cNvPr id="3" name="kicker-7-label">
            <a:extLst>
              <a:ext uri="{FF2B5EF4-FFF2-40B4-BE49-F238E27FC236}">
                <a16:creationId xmlns:a16="http://schemas.microsoft.com/office/drawing/2014/main" id="{9D3D9169-9990-413F-9B21-A390A784A3B6}"/>
              </a:ext>
            </a:extLst>
          </p:cNvPr>
          <p:cNvSpPr>
            <a:spLocks noGrp="1"/>
          </p:cNvSpPr>
          <p:nvPr/>
        </p:nvSpPr>
        <p:spPr>
          <a:xfrm>
            <a:off x="704850" y="323850"/>
            <a:ext cx="495300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38" b="1">
                <a:solidFill>
                  <a:srgbClr val="315C49"/>
                </a:solidFill>
                <a:latin typeface="Aptos"/>
                <a:ea typeface="Aptos"/>
                <a:cs typeface="Aptos"/>
              </a:defRPr>
            </a:pPr>
            <a:r>
              <a:rPr sz="938" b="1">
                <a:solidFill>
                  <a:srgbClr val="315C49"/>
                </a:solidFill>
                <a:latin typeface="Aptos"/>
                <a:ea typeface="Aptos"/>
                <a:cs typeface="Aptos"/>
              </a:rPr>
              <a:t>QUESTIONS</a:t>
            </a:r>
          </a:p>
        </p:txBody>
      </p:sp>
      <p:sp>
        <p:nvSpPr>
          <p:cNvPr id="4" name="矩形 3">
            <a:extLst>
              <a:ext uri="{FF2B5EF4-FFF2-40B4-BE49-F238E27FC236}">
                <a16:creationId xmlns:a16="http://schemas.microsoft.com/office/drawing/2014/main" id="{232BB5CE-8DFE-4F60-AA07-EF3734A22BD8}"/>
              </a:ext>
            </a:extLst>
          </p:cNvPr>
          <p:cNvSpPr>
            <a:spLocks noGrp="1"/>
          </p:cNvSpPr>
          <p:nvPr/>
        </p:nvSpPr>
        <p:spPr>
          <a:xfrm>
            <a:off x="514350" y="742950"/>
            <a:ext cx="9906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I need supervisor input before narrowing the thesis.</a:t>
            </a:r>
          </a:p>
        </p:txBody>
      </p:sp>
      <p:sp>
        <p:nvSpPr>
          <p:cNvPr id="5" name="矩形 4">
            <a:extLst>
              <a:ext uri="{FF2B5EF4-FFF2-40B4-BE49-F238E27FC236}">
                <a16:creationId xmlns:a16="http://schemas.microsoft.com/office/drawing/2014/main" id="{C7F2B88B-CC6D-4BC4-9C65-17CE58C60BB8}"/>
              </a:ext>
            </a:extLst>
          </p:cNvPr>
          <p:cNvSpPr>
            <a:spLocks noGrp="1"/>
          </p:cNvSpPr>
          <p:nvPr/>
        </p:nvSpPr>
        <p:spPr>
          <a:xfrm>
            <a:off x="514350" y="6153150"/>
            <a:ext cx="9620250" cy="11430"/>
          </a:xfrm>
          <a:prstGeom prst="rect">
            <a:avLst/>
          </a:prstGeom>
          <a:solidFill>
            <a:srgbClr val="D8D1C3"/>
          </a:solidFill>
          <a:ln w="0">
            <a:solidFill>
              <a:srgbClr val="000000">
                <a:alpha val="0"/>
              </a:srgbClr>
            </a:solidFill>
            <a:prstDash val="solid"/>
          </a:ln>
        </p:spPr>
      </p:sp>
      <p:sp>
        <p:nvSpPr>
          <p:cNvPr id="6" name="矩形 5">
            <a:extLst>
              <a:ext uri="{FF2B5EF4-FFF2-40B4-BE49-F238E27FC236}">
                <a16:creationId xmlns:a16="http://schemas.microsoft.com/office/drawing/2014/main" id="{5F27EC39-8A3A-4BD2-96FE-1B8ED7C1635A}"/>
              </a:ext>
            </a:extLst>
          </p:cNvPr>
          <p:cNvSpPr>
            <a:spLocks noGrp="1"/>
          </p:cNvSpPr>
          <p:nvPr/>
        </p:nvSpPr>
        <p:spPr>
          <a:xfrm>
            <a:off x="514350" y="6257925"/>
            <a:ext cx="6858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5E625D"/>
                </a:solidFill>
                <a:latin typeface="Aptos"/>
                <a:ea typeface="Aptos"/>
                <a:cs typeface="Aptos"/>
              </a:defRPr>
            </a:pPr>
            <a:r>
              <a:rPr sz="713" b="0">
                <a:solidFill>
                  <a:srgbClr val="5E625D"/>
                </a:solidFill>
                <a:latin typeface="Aptos"/>
                <a:ea typeface="Aptos"/>
                <a:cs typeface="Aptos"/>
              </a:rPr>
              <a:t>Week 01 group meeting | Robotic systems in battery manufacturing</a:t>
            </a:r>
          </a:p>
        </p:txBody>
      </p:sp>
      <p:sp>
        <p:nvSpPr>
          <p:cNvPr id="7" name="矩形 6">
            <a:extLst>
              <a:ext uri="{FF2B5EF4-FFF2-40B4-BE49-F238E27FC236}">
                <a16:creationId xmlns:a16="http://schemas.microsoft.com/office/drawing/2014/main" id="{8EEACF1E-03D7-4021-9655-DBAE7D071B85}"/>
              </a:ext>
            </a:extLst>
          </p:cNvPr>
          <p:cNvSpPr>
            <a:spLocks noGrp="1"/>
          </p:cNvSpPr>
          <p:nvPr/>
        </p:nvSpPr>
        <p:spPr>
          <a:xfrm>
            <a:off x="11049000" y="6229350"/>
            <a:ext cx="666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315C49"/>
                </a:solidFill>
                <a:latin typeface="Aptos"/>
                <a:ea typeface="Aptos"/>
                <a:cs typeface="Aptos"/>
              </a:defRPr>
            </a:pPr>
            <a:r>
              <a:rPr sz="900" b="1">
                <a:solidFill>
                  <a:srgbClr val="315C49"/>
                </a:solidFill>
                <a:latin typeface="Aptos"/>
                <a:ea typeface="Aptos"/>
                <a:cs typeface="Aptos"/>
              </a:rPr>
              <a:t>07</a:t>
            </a:r>
          </a:p>
        </p:txBody>
      </p:sp>
      <p:sp>
        <p:nvSpPr>
          <p:cNvPr id="8" name="矩形 7">
            <a:extLst>
              <a:ext uri="{FF2B5EF4-FFF2-40B4-BE49-F238E27FC236}">
                <a16:creationId xmlns:a16="http://schemas.microsoft.com/office/drawing/2014/main" id="{5505EBB6-6251-4BAB-B7CE-71A323DB12A8}"/>
              </a:ext>
            </a:extLst>
          </p:cNvPr>
          <p:cNvSpPr>
            <a:spLocks noGrp="1"/>
          </p:cNvSpPr>
          <p:nvPr/>
        </p:nvSpPr>
        <p:spPr>
          <a:xfrm>
            <a:off x="857250" y="2095500"/>
            <a:ext cx="3048000" cy="2476500"/>
          </a:xfrm>
          <a:prstGeom prst="rect">
            <a:avLst/>
          </a:prstGeom>
          <a:solidFill>
            <a:srgbClr val="DDE8DF"/>
          </a:solidFill>
          <a:ln w="9525">
            <a:solidFill>
              <a:srgbClr val="D8D1C3"/>
            </a:solidFill>
            <a:prstDash val="solid"/>
          </a:ln>
        </p:spPr>
      </p:sp>
      <p:sp>
        <p:nvSpPr>
          <p:cNvPr id="9" name="矩形 8">
            <a:extLst>
              <a:ext uri="{FF2B5EF4-FFF2-40B4-BE49-F238E27FC236}">
                <a16:creationId xmlns:a16="http://schemas.microsoft.com/office/drawing/2014/main" id="{AD564F46-3738-4009-967F-DC6649B1A19C}"/>
              </a:ext>
            </a:extLst>
          </p:cNvPr>
          <p:cNvSpPr>
            <a:spLocks noGrp="1"/>
          </p:cNvSpPr>
          <p:nvPr/>
        </p:nvSpPr>
        <p:spPr>
          <a:xfrm>
            <a:off x="857250" y="2095500"/>
            <a:ext cx="3048000" cy="66675"/>
          </a:xfrm>
          <a:prstGeom prst="rect">
            <a:avLst/>
          </a:prstGeom>
          <a:solidFill>
            <a:srgbClr val="315C49"/>
          </a:solidFill>
          <a:ln w="0">
            <a:solidFill>
              <a:srgbClr val="000000">
                <a:alpha val="0"/>
              </a:srgbClr>
            </a:solidFill>
            <a:prstDash val="solid"/>
          </a:ln>
        </p:spPr>
      </p:sp>
      <p:sp>
        <p:nvSpPr>
          <p:cNvPr id="10" name="矩形 9">
            <a:extLst>
              <a:ext uri="{FF2B5EF4-FFF2-40B4-BE49-F238E27FC236}">
                <a16:creationId xmlns:a16="http://schemas.microsoft.com/office/drawing/2014/main" id="{B175F7B6-1998-44DA-A8AB-B1998BC03ACB}"/>
              </a:ext>
            </a:extLst>
          </p:cNvPr>
          <p:cNvSpPr>
            <a:spLocks noGrp="1"/>
          </p:cNvSpPr>
          <p:nvPr/>
        </p:nvSpPr>
        <p:spPr>
          <a:xfrm>
            <a:off x="1047750" y="2333625"/>
            <a:ext cx="2667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Scope</a:t>
            </a:r>
          </a:p>
        </p:txBody>
      </p:sp>
      <p:sp>
        <p:nvSpPr>
          <p:cNvPr id="11" name="矩形 10">
            <a:extLst>
              <a:ext uri="{FF2B5EF4-FFF2-40B4-BE49-F238E27FC236}">
                <a16:creationId xmlns:a16="http://schemas.microsoft.com/office/drawing/2014/main" id="{6A8B5354-9BE4-4BD4-BA1F-370550FCADEE}"/>
              </a:ext>
            </a:extLst>
          </p:cNvPr>
          <p:cNvSpPr>
            <a:spLocks noGrp="1"/>
          </p:cNvSpPr>
          <p:nvPr/>
        </p:nvSpPr>
        <p:spPr>
          <a:xfrm>
            <a:off x="1047750" y="2762250"/>
            <a:ext cx="2667000" cy="1638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Should I focus on one cell format?</a:t>
            </a:r>
          </a:p>
          <a:p>
            <a:endParaRPr sz="1088" b="0">
              <a:solidFill>
                <a:srgbClr val="5E625D"/>
              </a:solidFill>
              <a:latin typeface="Aptos"/>
              <a:ea typeface="Aptos"/>
              <a:cs typeface="Aptos"/>
            </a:endParaRPr>
          </a:p>
          <a:p>
            <a:pPr algn="l">
              <a:defRPr sz="1088" b="0">
                <a:solidFill>
                  <a:srgbClr val="5E625D"/>
                </a:solidFill>
                <a:latin typeface="Aptos"/>
                <a:ea typeface="Aptos"/>
                <a:cs typeface="Aptos"/>
              </a:defRPr>
            </a:pPr>
            <a:r>
              <a:rPr sz="1088" b="0">
                <a:solidFill>
                  <a:srgbClr val="5E625D"/>
                </a:solidFill>
                <a:latin typeface="Aptos"/>
                <a:ea typeface="Aptos"/>
                <a:cs typeface="Aptos"/>
              </a:rPr>
              <a:t>Should module and pack examples only be future trends?</a:t>
            </a:r>
          </a:p>
          <a:p>
            <a:endParaRPr sz="1088" b="0">
              <a:solidFill>
                <a:srgbClr val="5E625D"/>
              </a:solidFill>
              <a:latin typeface="Aptos"/>
              <a:ea typeface="Aptos"/>
              <a:cs typeface="Aptos"/>
            </a:endParaRPr>
          </a:p>
          <a:p>
            <a:pPr algn="l">
              <a:defRPr sz="1088" b="0">
                <a:solidFill>
                  <a:srgbClr val="5E625D"/>
                </a:solidFill>
                <a:latin typeface="Aptos"/>
                <a:ea typeface="Aptos"/>
                <a:cs typeface="Aptos"/>
              </a:defRPr>
            </a:pPr>
            <a:r>
              <a:rPr sz="1088" b="0">
                <a:solidFill>
                  <a:srgbClr val="5E625D"/>
                </a:solidFill>
                <a:latin typeface="Aptos"/>
                <a:ea typeface="Aptos"/>
                <a:cs typeface="Aptos"/>
              </a:rPr>
              <a:t>How much battery chemistry depth is expected?</a:t>
            </a:r>
          </a:p>
        </p:txBody>
      </p:sp>
      <p:sp>
        <p:nvSpPr>
          <p:cNvPr id="12" name="矩形 11">
            <a:extLst>
              <a:ext uri="{FF2B5EF4-FFF2-40B4-BE49-F238E27FC236}">
                <a16:creationId xmlns:a16="http://schemas.microsoft.com/office/drawing/2014/main" id="{FC8305F1-E5AF-4894-8104-C82B886874BA}"/>
              </a:ext>
            </a:extLst>
          </p:cNvPr>
          <p:cNvSpPr>
            <a:spLocks noGrp="1"/>
          </p:cNvSpPr>
          <p:nvPr/>
        </p:nvSpPr>
        <p:spPr>
          <a:xfrm>
            <a:off x="4572000" y="2095500"/>
            <a:ext cx="3048000" cy="2476500"/>
          </a:xfrm>
          <a:prstGeom prst="rect">
            <a:avLst/>
          </a:prstGeom>
          <a:solidFill>
            <a:srgbClr val="F1DDCF"/>
          </a:solidFill>
          <a:ln w="9525">
            <a:solidFill>
              <a:srgbClr val="D8D1C3"/>
            </a:solidFill>
            <a:prstDash val="solid"/>
          </a:ln>
        </p:spPr>
      </p:sp>
      <p:sp>
        <p:nvSpPr>
          <p:cNvPr id="13" name="矩形 12">
            <a:extLst>
              <a:ext uri="{FF2B5EF4-FFF2-40B4-BE49-F238E27FC236}">
                <a16:creationId xmlns:a16="http://schemas.microsoft.com/office/drawing/2014/main" id="{2A410DF0-97B1-4239-846D-7A3C696A6B90}"/>
              </a:ext>
            </a:extLst>
          </p:cNvPr>
          <p:cNvSpPr>
            <a:spLocks noGrp="1"/>
          </p:cNvSpPr>
          <p:nvPr/>
        </p:nvSpPr>
        <p:spPr>
          <a:xfrm>
            <a:off x="4572000" y="2095500"/>
            <a:ext cx="3048000" cy="66675"/>
          </a:xfrm>
          <a:prstGeom prst="rect">
            <a:avLst/>
          </a:prstGeom>
          <a:solidFill>
            <a:srgbClr val="B46B3A"/>
          </a:solidFill>
          <a:ln w="0">
            <a:solidFill>
              <a:srgbClr val="000000">
                <a:alpha val="0"/>
              </a:srgbClr>
            </a:solidFill>
            <a:prstDash val="solid"/>
          </a:ln>
        </p:spPr>
      </p:sp>
      <p:sp>
        <p:nvSpPr>
          <p:cNvPr id="14" name="矩形 13">
            <a:extLst>
              <a:ext uri="{FF2B5EF4-FFF2-40B4-BE49-F238E27FC236}">
                <a16:creationId xmlns:a16="http://schemas.microsoft.com/office/drawing/2014/main" id="{C10C62A9-C1A2-4BED-A35B-7EC1CCD99125}"/>
              </a:ext>
            </a:extLst>
          </p:cNvPr>
          <p:cNvSpPr>
            <a:spLocks noGrp="1"/>
          </p:cNvSpPr>
          <p:nvPr/>
        </p:nvSpPr>
        <p:spPr>
          <a:xfrm>
            <a:off x="4762500" y="2333625"/>
            <a:ext cx="2667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Method</a:t>
            </a:r>
          </a:p>
        </p:txBody>
      </p:sp>
      <p:sp>
        <p:nvSpPr>
          <p:cNvPr id="15" name="矩形 14">
            <a:extLst>
              <a:ext uri="{FF2B5EF4-FFF2-40B4-BE49-F238E27FC236}">
                <a16:creationId xmlns:a16="http://schemas.microsoft.com/office/drawing/2014/main" id="{F3D0A2A5-D171-40F6-A2C6-F369E00E3DEF}"/>
              </a:ext>
            </a:extLst>
          </p:cNvPr>
          <p:cNvSpPr>
            <a:spLocks noGrp="1"/>
          </p:cNvSpPr>
          <p:nvPr/>
        </p:nvSpPr>
        <p:spPr>
          <a:xfrm>
            <a:off x="4762500" y="2762250"/>
            <a:ext cx="2667000" cy="1638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Is a literature-based evaluation enough?</a:t>
            </a:r>
          </a:p>
          <a:p>
            <a:endParaRPr sz="1088" b="0">
              <a:solidFill>
                <a:srgbClr val="5E625D"/>
              </a:solidFill>
              <a:latin typeface="Aptos"/>
              <a:ea typeface="Aptos"/>
              <a:cs typeface="Aptos"/>
            </a:endParaRPr>
          </a:p>
          <a:p>
            <a:pPr algn="l">
              <a:defRPr sz="1088" b="0">
                <a:solidFill>
                  <a:srgbClr val="5E625D"/>
                </a:solidFill>
                <a:latin typeface="Aptos"/>
                <a:ea typeface="Aptos"/>
                <a:cs typeface="Aptos"/>
              </a:defRPr>
            </a:pPr>
            <a:r>
              <a:rPr sz="1088" b="0">
                <a:solidFill>
                  <a:srgbClr val="5E625D"/>
                </a:solidFill>
                <a:latin typeface="Aptos"/>
                <a:ea typeface="Aptos"/>
                <a:cs typeface="Aptos"/>
              </a:rPr>
              <a:t>Should I include expert interviews or case studies?</a:t>
            </a:r>
          </a:p>
          <a:p>
            <a:endParaRPr sz="1088" b="0">
              <a:solidFill>
                <a:srgbClr val="5E625D"/>
              </a:solidFill>
              <a:latin typeface="Aptos"/>
              <a:ea typeface="Aptos"/>
              <a:cs typeface="Aptos"/>
            </a:endParaRPr>
          </a:p>
          <a:p>
            <a:pPr algn="l">
              <a:defRPr sz="1088" b="0">
                <a:solidFill>
                  <a:srgbClr val="5E625D"/>
                </a:solidFill>
                <a:latin typeface="Aptos"/>
                <a:ea typeface="Aptos"/>
                <a:cs typeface="Aptos"/>
              </a:defRPr>
            </a:pPr>
            <a:r>
              <a:rPr sz="1088" b="0">
                <a:solidFill>
                  <a:srgbClr val="5E625D"/>
                </a:solidFill>
                <a:latin typeface="Aptos"/>
                <a:ea typeface="Aptos"/>
                <a:cs typeface="Aptos"/>
              </a:rPr>
              <a:t>How detailed should the economic evaluation be?</a:t>
            </a:r>
          </a:p>
        </p:txBody>
      </p:sp>
      <p:sp>
        <p:nvSpPr>
          <p:cNvPr id="16" name="矩形 15">
            <a:extLst>
              <a:ext uri="{FF2B5EF4-FFF2-40B4-BE49-F238E27FC236}">
                <a16:creationId xmlns:a16="http://schemas.microsoft.com/office/drawing/2014/main" id="{BC45DDAD-B473-4D2A-909B-B2910352955F}"/>
              </a:ext>
            </a:extLst>
          </p:cNvPr>
          <p:cNvSpPr>
            <a:spLocks noGrp="1"/>
          </p:cNvSpPr>
          <p:nvPr/>
        </p:nvSpPr>
        <p:spPr>
          <a:xfrm>
            <a:off x="8286750" y="2095500"/>
            <a:ext cx="3048000" cy="2476500"/>
          </a:xfrm>
          <a:prstGeom prst="rect">
            <a:avLst/>
          </a:prstGeom>
          <a:solidFill>
            <a:srgbClr val="E2E9ED"/>
          </a:solidFill>
          <a:ln w="9525">
            <a:solidFill>
              <a:srgbClr val="D8D1C3"/>
            </a:solidFill>
            <a:prstDash val="solid"/>
          </a:ln>
        </p:spPr>
      </p:sp>
      <p:sp>
        <p:nvSpPr>
          <p:cNvPr id="17" name="矩形 16">
            <a:extLst>
              <a:ext uri="{FF2B5EF4-FFF2-40B4-BE49-F238E27FC236}">
                <a16:creationId xmlns:a16="http://schemas.microsoft.com/office/drawing/2014/main" id="{85FEA89E-963D-4704-9DE6-F1177EB2E553}"/>
              </a:ext>
            </a:extLst>
          </p:cNvPr>
          <p:cNvSpPr>
            <a:spLocks noGrp="1"/>
          </p:cNvSpPr>
          <p:nvPr/>
        </p:nvSpPr>
        <p:spPr>
          <a:xfrm>
            <a:off x="8286750" y="2095500"/>
            <a:ext cx="3048000" cy="66675"/>
          </a:xfrm>
          <a:prstGeom prst="rect">
            <a:avLst/>
          </a:prstGeom>
          <a:solidFill>
            <a:srgbClr val="597389"/>
          </a:solidFill>
          <a:ln w="0">
            <a:solidFill>
              <a:srgbClr val="000000">
                <a:alpha val="0"/>
              </a:srgbClr>
            </a:solidFill>
            <a:prstDash val="solid"/>
          </a:ln>
        </p:spPr>
      </p:sp>
      <p:sp>
        <p:nvSpPr>
          <p:cNvPr id="18" name="矩形 17">
            <a:extLst>
              <a:ext uri="{FF2B5EF4-FFF2-40B4-BE49-F238E27FC236}">
                <a16:creationId xmlns:a16="http://schemas.microsoft.com/office/drawing/2014/main" id="{24B4E663-E031-4714-B7B5-70733A926C87}"/>
              </a:ext>
            </a:extLst>
          </p:cNvPr>
          <p:cNvSpPr>
            <a:spLocks noGrp="1"/>
          </p:cNvSpPr>
          <p:nvPr/>
        </p:nvSpPr>
        <p:spPr>
          <a:xfrm>
            <a:off x="8477250" y="2333625"/>
            <a:ext cx="2667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Use cases</a:t>
            </a:r>
          </a:p>
        </p:txBody>
      </p:sp>
      <p:sp>
        <p:nvSpPr>
          <p:cNvPr id="19" name="矩形 18">
            <a:extLst>
              <a:ext uri="{FF2B5EF4-FFF2-40B4-BE49-F238E27FC236}">
                <a16:creationId xmlns:a16="http://schemas.microsoft.com/office/drawing/2014/main" id="{955097C3-394C-4163-B171-D4966DF859D5}"/>
              </a:ext>
            </a:extLst>
          </p:cNvPr>
          <p:cNvSpPr>
            <a:spLocks noGrp="1"/>
          </p:cNvSpPr>
          <p:nvPr/>
        </p:nvSpPr>
        <p:spPr>
          <a:xfrm>
            <a:off x="8477250" y="2762250"/>
            <a:ext cx="2667000" cy="1638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Which use cases are most relevant to PEM / eLab?</a:t>
            </a:r>
          </a:p>
          <a:p>
            <a:endParaRPr sz="1088" b="0">
              <a:solidFill>
                <a:srgbClr val="5E625D"/>
              </a:solidFill>
              <a:latin typeface="Aptos"/>
              <a:ea typeface="Aptos"/>
              <a:cs typeface="Aptos"/>
            </a:endParaRPr>
          </a:p>
          <a:p>
            <a:pPr algn="l">
              <a:defRPr sz="1088" b="0">
                <a:solidFill>
                  <a:srgbClr val="5E625D"/>
                </a:solidFill>
                <a:latin typeface="Aptos"/>
                <a:ea typeface="Aptos"/>
                <a:cs typeface="Aptos"/>
              </a:defRPr>
            </a:pPr>
            <a:r>
              <a:rPr sz="1088" b="0">
                <a:solidFill>
                  <a:srgbClr val="5E625D"/>
                </a:solidFill>
                <a:latin typeface="Aptos"/>
                <a:ea typeface="Aptos"/>
                <a:cs typeface="Aptos"/>
              </a:rPr>
              <a:t>Should formation/testing be the primary case?</a:t>
            </a:r>
          </a:p>
          <a:p>
            <a:endParaRPr sz="1088" b="0">
              <a:solidFill>
                <a:srgbClr val="5E625D"/>
              </a:solidFill>
              <a:latin typeface="Aptos"/>
              <a:ea typeface="Aptos"/>
              <a:cs typeface="Aptos"/>
            </a:endParaRPr>
          </a:p>
          <a:p>
            <a:pPr algn="l">
              <a:defRPr sz="1088" b="0">
                <a:solidFill>
                  <a:srgbClr val="5E625D"/>
                </a:solidFill>
                <a:latin typeface="Aptos"/>
                <a:ea typeface="Aptos"/>
                <a:cs typeface="Aptos"/>
              </a:defRPr>
            </a:pPr>
            <a:r>
              <a:rPr sz="1088" b="0">
                <a:solidFill>
                  <a:srgbClr val="5E625D"/>
                </a:solidFill>
                <a:latin typeface="Aptos"/>
                <a:ea typeface="Aptos"/>
                <a:cs typeface="Aptos"/>
              </a:rPr>
              <a:t>Should one difficult assembly case be included?</a:t>
            </a:r>
          </a:p>
        </p:txBody>
      </p:sp>
    </p:spTree>
    <p:extLst>
      <p:ext uri="{BB962C8B-B14F-4D97-AF65-F5344CB8AC3E}">
        <p14:creationId xmlns:p14="http://schemas.microsoft.com/office/powerpoint/2010/main" val="1034903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88FE5911-D2B9-406B-9BAF-79B24AEFF1E5}"/>
              </a:ext>
            </a:extLst>
          </p:cNvPr>
          <p:cNvSpPr>
            <a:spLocks noGrp="1"/>
          </p:cNvSpPr>
          <p:nvPr/>
        </p:nvSpPr>
        <p:spPr>
          <a:xfrm>
            <a:off x="0" y="0"/>
            <a:ext cx="12192000" cy="6858000"/>
          </a:xfrm>
          <a:prstGeom prst="rect">
            <a:avLst/>
          </a:prstGeom>
          <a:solidFill>
            <a:srgbClr val="F7F3EA"/>
          </a:solidFill>
          <a:ln w="0">
            <a:solidFill>
              <a:srgbClr val="000000">
                <a:alpha val="0"/>
              </a:srgbClr>
            </a:solidFill>
            <a:prstDash val="solid"/>
          </a:ln>
        </p:spPr>
      </p:sp>
      <p:sp>
        <p:nvSpPr>
          <p:cNvPr id="2" name="kicker-8-marker">
            <a:extLst>
              <a:ext uri="{FF2B5EF4-FFF2-40B4-BE49-F238E27FC236}">
                <a16:creationId xmlns:a16="http://schemas.microsoft.com/office/drawing/2014/main" id="{19E970EF-F549-4928-AEB1-B697DED64572}"/>
              </a:ext>
            </a:extLst>
          </p:cNvPr>
          <p:cNvSpPr>
            <a:spLocks noGrp="1"/>
          </p:cNvSpPr>
          <p:nvPr/>
        </p:nvSpPr>
        <p:spPr>
          <a:xfrm>
            <a:off x="514350" y="400050"/>
            <a:ext cx="95250" cy="95250"/>
          </a:xfrm>
          <a:prstGeom prst="ellipse">
            <a:avLst/>
          </a:prstGeom>
          <a:solidFill>
            <a:srgbClr val="B46B3A"/>
          </a:solidFill>
          <a:ln w="0">
            <a:solidFill>
              <a:srgbClr val="000000">
                <a:alpha val="0"/>
              </a:srgbClr>
            </a:solidFill>
            <a:prstDash val="solid"/>
          </a:ln>
        </p:spPr>
      </p:sp>
      <p:sp>
        <p:nvSpPr>
          <p:cNvPr id="3" name="kicker-8-label">
            <a:extLst>
              <a:ext uri="{FF2B5EF4-FFF2-40B4-BE49-F238E27FC236}">
                <a16:creationId xmlns:a16="http://schemas.microsoft.com/office/drawing/2014/main" id="{30B1403A-3E0A-403C-91FF-EF3DB7174D87}"/>
              </a:ext>
            </a:extLst>
          </p:cNvPr>
          <p:cNvSpPr>
            <a:spLocks noGrp="1"/>
          </p:cNvSpPr>
          <p:nvPr/>
        </p:nvSpPr>
        <p:spPr>
          <a:xfrm>
            <a:off x="704850" y="323850"/>
            <a:ext cx="495300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38" b="1">
                <a:solidFill>
                  <a:srgbClr val="315C49"/>
                </a:solidFill>
                <a:latin typeface="Aptos"/>
                <a:ea typeface="Aptos"/>
                <a:cs typeface="Aptos"/>
              </a:defRPr>
            </a:pPr>
            <a:r>
              <a:rPr sz="938" b="1">
                <a:solidFill>
                  <a:srgbClr val="315C49"/>
                </a:solidFill>
                <a:latin typeface="Aptos"/>
                <a:ea typeface="Aptos"/>
                <a:cs typeface="Aptos"/>
              </a:rPr>
              <a:t>NEXT WEEK</a:t>
            </a:r>
          </a:p>
        </p:txBody>
      </p:sp>
      <p:sp>
        <p:nvSpPr>
          <p:cNvPr id="4" name="矩形 3">
            <a:extLst>
              <a:ext uri="{FF2B5EF4-FFF2-40B4-BE49-F238E27FC236}">
                <a16:creationId xmlns:a16="http://schemas.microsoft.com/office/drawing/2014/main" id="{5FEBF03F-6ACD-4EC3-90B1-2268C44B0F99}"/>
              </a:ext>
            </a:extLst>
          </p:cNvPr>
          <p:cNvSpPr>
            <a:spLocks noGrp="1"/>
          </p:cNvSpPr>
          <p:nvPr/>
        </p:nvSpPr>
        <p:spPr>
          <a:xfrm>
            <a:off x="514350" y="742950"/>
            <a:ext cx="99060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7201C"/>
                </a:solidFill>
                <a:latin typeface="Aptos Display"/>
                <a:ea typeface="Aptos Display"/>
                <a:cs typeface="Aptos Display"/>
              </a:defRPr>
            </a:pPr>
            <a:r>
              <a:rPr sz="2700" b="1">
                <a:solidFill>
                  <a:srgbClr val="17201C"/>
                </a:solidFill>
                <a:latin typeface="Aptos Display"/>
                <a:ea typeface="Aptos Display"/>
                <a:cs typeface="Aptos Display"/>
              </a:rPr>
              <a:t>The next step is to move from mapping to evaluation.</a:t>
            </a:r>
          </a:p>
        </p:txBody>
      </p:sp>
      <p:sp>
        <p:nvSpPr>
          <p:cNvPr id="5" name="矩形 4">
            <a:extLst>
              <a:ext uri="{FF2B5EF4-FFF2-40B4-BE49-F238E27FC236}">
                <a16:creationId xmlns:a16="http://schemas.microsoft.com/office/drawing/2014/main" id="{AFF21A77-70BB-4991-AD88-45B7CF84DD89}"/>
              </a:ext>
            </a:extLst>
          </p:cNvPr>
          <p:cNvSpPr>
            <a:spLocks noGrp="1"/>
          </p:cNvSpPr>
          <p:nvPr/>
        </p:nvSpPr>
        <p:spPr>
          <a:xfrm>
            <a:off x="514350" y="6153150"/>
            <a:ext cx="9620250" cy="11430"/>
          </a:xfrm>
          <a:prstGeom prst="rect">
            <a:avLst/>
          </a:prstGeom>
          <a:solidFill>
            <a:srgbClr val="D8D1C3"/>
          </a:solidFill>
          <a:ln w="0">
            <a:solidFill>
              <a:srgbClr val="000000">
                <a:alpha val="0"/>
              </a:srgbClr>
            </a:solidFill>
            <a:prstDash val="solid"/>
          </a:ln>
        </p:spPr>
      </p:sp>
      <p:sp>
        <p:nvSpPr>
          <p:cNvPr id="6" name="矩形 5">
            <a:extLst>
              <a:ext uri="{FF2B5EF4-FFF2-40B4-BE49-F238E27FC236}">
                <a16:creationId xmlns:a16="http://schemas.microsoft.com/office/drawing/2014/main" id="{FB815C6C-E86C-4D6B-8C65-5D4CF4250B56}"/>
              </a:ext>
            </a:extLst>
          </p:cNvPr>
          <p:cNvSpPr>
            <a:spLocks noGrp="1"/>
          </p:cNvSpPr>
          <p:nvPr/>
        </p:nvSpPr>
        <p:spPr>
          <a:xfrm>
            <a:off x="514350" y="6257925"/>
            <a:ext cx="6858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5E625D"/>
                </a:solidFill>
                <a:latin typeface="Aptos"/>
                <a:ea typeface="Aptos"/>
                <a:cs typeface="Aptos"/>
              </a:defRPr>
            </a:pPr>
            <a:r>
              <a:rPr sz="713" b="0">
                <a:solidFill>
                  <a:srgbClr val="5E625D"/>
                </a:solidFill>
                <a:latin typeface="Aptos"/>
                <a:ea typeface="Aptos"/>
                <a:cs typeface="Aptos"/>
              </a:rPr>
              <a:t>Week 01 group meeting | Robotic systems in battery manufacturing</a:t>
            </a:r>
          </a:p>
        </p:txBody>
      </p:sp>
      <p:sp>
        <p:nvSpPr>
          <p:cNvPr id="7" name="矩形 6">
            <a:extLst>
              <a:ext uri="{FF2B5EF4-FFF2-40B4-BE49-F238E27FC236}">
                <a16:creationId xmlns:a16="http://schemas.microsoft.com/office/drawing/2014/main" id="{EB202910-6AFC-4B91-93BA-2895A67BCE07}"/>
              </a:ext>
            </a:extLst>
          </p:cNvPr>
          <p:cNvSpPr>
            <a:spLocks noGrp="1"/>
          </p:cNvSpPr>
          <p:nvPr/>
        </p:nvSpPr>
        <p:spPr>
          <a:xfrm>
            <a:off x="11049000" y="6229350"/>
            <a:ext cx="666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315C49"/>
                </a:solidFill>
                <a:latin typeface="Aptos"/>
                <a:ea typeface="Aptos"/>
                <a:cs typeface="Aptos"/>
              </a:defRPr>
            </a:pPr>
            <a:r>
              <a:rPr sz="900" b="1">
                <a:solidFill>
                  <a:srgbClr val="315C49"/>
                </a:solidFill>
                <a:latin typeface="Aptos"/>
                <a:ea typeface="Aptos"/>
                <a:cs typeface="Aptos"/>
              </a:rPr>
              <a:t>08</a:t>
            </a:r>
          </a:p>
        </p:txBody>
      </p:sp>
      <p:sp>
        <p:nvSpPr>
          <p:cNvPr id="8" name="矩形 7">
            <a:extLst>
              <a:ext uri="{FF2B5EF4-FFF2-40B4-BE49-F238E27FC236}">
                <a16:creationId xmlns:a16="http://schemas.microsoft.com/office/drawing/2014/main" id="{74AD29CC-E8DC-448B-8514-36C4E28060FE}"/>
              </a:ext>
            </a:extLst>
          </p:cNvPr>
          <p:cNvSpPr>
            <a:spLocks noGrp="1"/>
          </p:cNvSpPr>
          <p:nvPr/>
        </p:nvSpPr>
        <p:spPr>
          <a:xfrm>
            <a:off x="809625" y="2238375"/>
            <a:ext cx="2857500" cy="2047875"/>
          </a:xfrm>
          <a:prstGeom prst="rect">
            <a:avLst/>
          </a:prstGeom>
          <a:solidFill>
            <a:srgbClr val="DDE8DF"/>
          </a:solidFill>
          <a:ln w="9525">
            <a:solidFill>
              <a:srgbClr val="D8D1C3"/>
            </a:solidFill>
            <a:prstDash val="solid"/>
          </a:ln>
        </p:spPr>
      </p:sp>
      <p:sp>
        <p:nvSpPr>
          <p:cNvPr id="9" name="矩形 8">
            <a:extLst>
              <a:ext uri="{FF2B5EF4-FFF2-40B4-BE49-F238E27FC236}">
                <a16:creationId xmlns:a16="http://schemas.microsoft.com/office/drawing/2014/main" id="{AB759619-D00F-4012-B891-737AA86C96D0}"/>
              </a:ext>
            </a:extLst>
          </p:cNvPr>
          <p:cNvSpPr>
            <a:spLocks noGrp="1"/>
          </p:cNvSpPr>
          <p:nvPr/>
        </p:nvSpPr>
        <p:spPr>
          <a:xfrm>
            <a:off x="809625" y="2238375"/>
            <a:ext cx="2857500" cy="66675"/>
          </a:xfrm>
          <a:prstGeom prst="rect">
            <a:avLst/>
          </a:prstGeom>
          <a:solidFill>
            <a:srgbClr val="315C49"/>
          </a:solidFill>
          <a:ln w="0">
            <a:solidFill>
              <a:srgbClr val="000000">
                <a:alpha val="0"/>
              </a:srgbClr>
            </a:solidFill>
            <a:prstDash val="solid"/>
          </a:ln>
        </p:spPr>
      </p:sp>
      <p:sp>
        <p:nvSpPr>
          <p:cNvPr id="10" name="矩形 9">
            <a:extLst>
              <a:ext uri="{FF2B5EF4-FFF2-40B4-BE49-F238E27FC236}">
                <a16:creationId xmlns:a16="http://schemas.microsoft.com/office/drawing/2014/main" id="{F97FE040-EEA0-4576-98F4-CEBE9898CB2E}"/>
              </a:ext>
            </a:extLst>
          </p:cNvPr>
          <p:cNvSpPr>
            <a:spLocks noGrp="1"/>
          </p:cNvSpPr>
          <p:nvPr/>
        </p:nvSpPr>
        <p:spPr>
          <a:xfrm>
            <a:off x="1000125" y="2476500"/>
            <a:ext cx="2476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1. Strengthen literature</a:t>
            </a:r>
          </a:p>
        </p:txBody>
      </p:sp>
      <p:sp>
        <p:nvSpPr>
          <p:cNvPr id="11" name="矩形 10">
            <a:extLst>
              <a:ext uri="{FF2B5EF4-FFF2-40B4-BE49-F238E27FC236}">
                <a16:creationId xmlns:a16="http://schemas.microsoft.com/office/drawing/2014/main" id="{A42B2FE6-58D5-44EF-9CFE-2D943F542135}"/>
              </a:ext>
            </a:extLst>
          </p:cNvPr>
          <p:cNvSpPr>
            <a:spLocks noGrp="1"/>
          </p:cNvSpPr>
          <p:nvPr/>
        </p:nvSpPr>
        <p:spPr>
          <a:xfrm>
            <a:off x="1000125" y="2905125"/>
            <a:ext cx="2476500" cy="1209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Read battery fundamentals and process-focused manufacturing papers.</a:t>
            </a:r>
          </a:p>
          <a:p>
            <a:endParaRPr sz="1088" b="0">
              <a:solidFill>
                <a:srgbClr val="5E625D"/>
              </a:solidFill>
              <a:latin typeface="Aptos"/>
              <a:ea typeface="Aptos"/>
              <a:cs typeface="Aptos"/>
            </a:endParaRPr>
          </a:p>
          <a:p>
            <a:pPr algn="l">
              <a:defRPr sz="1088" b="0">
                <a:solidFill>
                  <a:srgbClr val="5E625D"/>
                </a:solidFill>
                <a:latin typeface="Aptos"/>
                <a:ea typeface="Aptos"/>
                <a:cs typeface="Aptos"/>
              </a:defRPr>
            </a:pPr>
            <a:r>
              <a:rPr sz="1088" b="0">
                <a:solidFill>
                  <a:srgbClr val="5E625D"/>
                </a:solidFill>
                <a:latin typeface="Aptos"/>
                <a:ea typeface="Aptos"/>
                <a:cs typeface="Aptos"/>
              </a:rPr>
              <a:t>Complete key glossary terms.</a:t>
            </a:r>
          </a:p>
        </p:txBody>
      </p:sp>
      <p:sp>
        <p:nvSpPr>
          <p:cNvPr id="12" name="矩形 11">
            <a:extLst>
              <a:ext uri="{FF2B5EF4-FFF2-40B4-BE49-F238E27FC236}">
                <a16:creationId xmlns:a16="http://schemas.microsoft.com/office/drawing/2014/main" id="{4E848A93-5B4F-4EB0-8462-440C7F1B785D}"/>
              </a:ext>
            </a:extLst>
          </p:cNvPr>
          <p:cNvSpPr>
            <a:spLocks noGrp="1"/>
          </p:cNvSpPr>
          <p:nvPr/>
        </p:nvSpPr>
        <p:spPr>
          <a:xfrm>
            <a:off x="4667250" y="2238375"/>
            <a:ext cx="2857500" cy="2047875"/>
          </a:xfrm>
          <a:prstGeom prst="rect">
            <a:avLst/>
          </a:prstGeom>
          <a:solidFill>
            <a:srgbClr val="F1DDCF"/>
          </a:solidFill>
          <a:ln w="9525">
            <a:solidFill>
              <a:srgbClr val="D8D1C3"/>
            </a:solidFill>
            <a:prstDash val="solid"/>
          </a:ln>
        </p:spPr>
      </p:sp>
      <p:sp>
        <p:nvSpPr>
          <p:cNvPr id="13" name="矩形 12">
            <a:extLst>
              <a:ext uri="{FF2B5EF4-FFF2-40B4-BE49-F238E27FC236}">
                <a16:creationId xmlns:a16="http://schemas.microsoft.com/office/drawing/2014/main" id="{727E5C90-255C-4C6D-8F56-2AD09078A0B7}"/>
              </a:ext>
            </a:extLst>
          </p:cNvPr>
          <p:cNvSpPr>
            <a:spLocks noGrp="1"/>
          </p:cNvSpPr>
          <p:nvPr/>
        </p:nvSpPr>
        <p:spPr>
          <a:xfrm>
            <a:off x="4667250" y="2238375"/>
            <a:ext cx="2857500" cy="66675"/>
          </a:xfrm>
          <a:prstGeom prst="rect">
            <a:avLst/>
          </a:prstGeom>
          <a:solidFill>
            <a:srgbClr val="B46B3A"/>
          </a:solidFill>
          <a:ln w="0">
            <a:solidFill>
              <a:srgbClr val="000000">
                <a:alpha val="0"/>
              </a:srgbClr>
            </a:solidFill>
            <a:prstDash val="solid"/>
          </a:ln>
        </p:spPr>
      </p:sp>
      <p:sp>
        <p:nvSpPr>
          <p:cNvPr id="14" name="矩形 13">
            <a:extLst>
              <a:ext uri="{FF2B5EF4-FFF2-40B4-BE49-F238E27FC236}">
                <a16:creationId xmlns:a16="http://schemas.microsoft.com/office/drawing/2014/main" id="{421FB068-6F0C-4A77-BECF-88CC0562E59A}"/>
              </a:ext>
            </a:extLst>
          </p:cNvPr>
          <p:cNvSpPr>
            <a:spLocks noGrp="1"/>
          </p:cNvSpPr>
          <p:nvPr/>
        </p:nvSpPr>
        <p:spPr>
          <a:xfrm>
            <a:off x="4857750" y="2476500"/>
            <a:ext cx="2476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2. Narrow use cases</a:t>
            </a:r>
          </a:p>
        </p:txBody>
      </p:sp>
      <p:sp>
        <p:nvSpPr>
          <p:cNvPr id="15" name="矩形 14">
            <a:extLst>
              <a:ext uri="{FF2B5EF4-FFF2-40B4-BE49-F238E27FC236}">
                <a16:creationId xmlns:a16="http://schemas.microsoft.com/office/drawing/2014/main" id="{E27DE29E-64AB-4543-A4FE-DEA68E61411F}"/>
              </a:ext>
            </a:extLst>
          </p:cNvPr>
          <p:cNvSpPr>
            <a:spLocks noGrp="1"/>
          </p:cNvSpPr>
          <p:nvPr/>
        </p:nvSpPr>
        <p:spPr>
          <a:xfrm>
            <a:off x="4857750" y="2905125"/>
            <a:ext cx="2476500" cy="1209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Select two or three main use cases based on supervisor feedback.</a:t>
            </a:r>
          </a:p>
          <a:p>
            <a:endParaRPr sz="1088" b="0">
              <a:solidFill>
                <a:srgbClr val="5E625D"/>
              </a:solidFill>
              <a:latin typeface="Aptos"/>
              <a:ea typeface="Aptos"/>
              <a:cs typeface="Aptos"/>
            </a:endParaRPr>
          </a:p>
          <a:p>
            <a:pPr algn="l">
              <a:defRPr sz="1088" b="0">
                <a:solidFill>
                  <a:srgbClr val="5E625D"/>
                </a:solidFill>
                <a:latin typeface="Aptos"/>
                <a:ea typeface="Aptos"/>
                <a:cs typeface="Aptos"/>
              </a:defRPr>
            </a:pPr>
            <a:r>
              <a:rPr sz="1088" b="0">
                <a:solidFill>
                  <a:srgbClr val="5E625D"/>
                </a:solidFill>
                <a:latin typeface="Aptos"/>
                <a:ea typeface="Aptos"/>
                <a:cs typeface="Aptos"/>
              </a:rPr>
              <a:t>Define their process boundaries.</a:t>
            </a:r>
          </a:p>
        </p:txBody>
      </p:sp>
      <p:sp>
        <p:nvSpPr>
          <p:cNvPr id="16" name="矩形 15">
            <a:extLst>
              <a:ext uri="{FF2B5EF4-FFF2-40B4-BE49-F238E27FC236}">
                <a16:creationId xmlns:a16="http://schemas.microsoft.com/office/drawing/2014/main" id="{E3AC0792-31BA-4B4F-A0CE-08E6B3B0E096}"/>
              </a:ext>
            </a:extLst>
          </p:cNvPr>
          <p:cNvSpPr>
            <a:spLocks noGrp="1"/>
          </p:cNvSpPr>
          <p:nvPr/>
        </p:nvSpPr>
        <p:spPr>
          <a:xfrm>
            <a:off x="8524875" y="2238375"/>
            <a:ext cx="2857500" cy="2047875"/>
          </a:xfrm>
          <a:prstGeom prst="rect">
            <a:avLst/>
          </a:prstGeom>
          <a:solidFill>
            <a:srgbClr val="E2E9ED"/>
          </a:solidFill>
          <a:ln w="9525">
            <a:solidFill>
              <a:srgbClr val="D8D1C3"/>
            </a:solidFill>
            <a:prstDash val="solid"/>
          </a:ln>
        </p:spPr>
      </p:sp>
      <p:sp>
        <p:nvSpPr>
          <p:cNvPr id="17" name="矩形 16">
            <a:extLst>
              <a:ext uri="{FF2B5EF4-FFF2-40B4-BE49-F238E27FC236}">
                <a16:creationId xmlns:a16="http://schemas.microsoft.com/office/drawing/2014/main" id="{FCF33EBD-A93D-4FE9-AB7F-33B6B65CF4C0}"/>
              </a:ext>
            </a:extLst>
          </p:cNvPr>
          <p:cNvSpPr>
            <a:spLocks noGrp="1"/>
          </p:cNvSpPr>
          <p:nvPr/>
        </p:nvSpPr>
        <p:spPr>
          <a:xfrm>
            <a:off x="8524875" y="2238375"/>
            <a:ext cx="2857500" cy="66675"/>
          </a:xfrm>
          <a:prstGeom prst="rect">
            <a:avLst/>
          </a:prstGeom>
          <a:solidFill>
            <a:srgbClr val="597389"/>
          </a:solidFill>
          <a:ln w="0">
            <a:solidFill>
              <a:srgbClr val="000000">
                <a:alpha val="0"/>
              </a:srgbClr>
            </a:solidFill>
            <a:prstDash val="solid"/>
          </a:ln>
        </p:spPr>
      </p:sp>
      <p:sp>
        <p:nvSpPr>
          <p:cNvPr id="18" name="矩形 17">
            <a:extLst>
              <a:ext uri="{FF2B5EF4-FFF2-40B4-BE49-F238E27FC236}">
                <a16:creationId xmlns:a16="http://schemas.microsoft.com/office/drawing/2014/main" id="{77773BA7-1F71-4D65-A6FB-4F9739715313}"/>
              </a:ext>
            </a:extLst>
          </p:cNvPr>
          <p:cNvSpPr>
            <a:spLocks noGrp="1"/>
          </p:cNvSpPr>
          <p:nvPr/>
        </p:nvSpPr>
        <p:spPr>
          <a:xfrm>
            <a:off x="8715375" y="2476500"/>
            <a:ext cx="2476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88" b="1">
                <a:solidFill>
                  <a:srgbClr val="17201C"/>
                </a:solidFill>
                <a:latin typeface="Aptos Display"/>
                <a:ea typeface="Aptos Display"/>
                <a:cs typeface="Aptos Display"/>
              </a:defRPr>
            </a:pPr>
            <a:r>
              <a:rPr sz="1388" b="1">
                <a:solidFill>
                  <a:srgbClr val="17201C"/>
                </a:solidFill>
                <a:latin typeface="Aptos Display"/>
                <a:ea typeface="Aptos Display"/>
                <a:cs typeface="Aptos Display"/>
              </a:rPr>
              <a:t>3. Build scoring model</a:t>
            </a:r>
          </a:p>
        </p:txBody>
      </p:sp>
      <p:sp>
        <p:nvSpPr>
          <p:cNvPr id="19" name="矩形 18">
            <a:extLst>
              <a:ext uri="{FF2B5EF4-FFF2-40B4-BE49-F238E27FC236}">
                <a16:creationId xmlns:a16="http://schemas.microsoft.com/office/drawing/2014/main" id="{459DAFEA-E80F-4DFF-B4B2-377AD0883D8A}"/>
              </a:ext>
            </a:extLst>
          </p:cNvPr>
          <p:cNvSpPr>
            <a:spLocks noGrp="1"/>
          </p:cNvSpPr>
          <p:nvPr/>
        </p:nvSpPr>
        <p:spPr>
          <a:xfrm>
            <a:off x="8715375" y="2905125"/>
            <a:ext cx="2476500" cy="1209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5E625D"/>
                </a:solidFill>
                <a:latin typeface="Aptos"/>
                <a:ea typeface="Aptos"/>
                <a:cs typeface="Aptos"/>
              </a:defRPr>
            </a:pPr>
            <a:r>
              <a:rPr sz="1088" b="0">
                <a:solidFill>
                  <a:srgbClr val="5E625D"/>
                </a:solidFill>
                <a:latin typeface="Aptos"/>
                <a:ea typeface="Aptos"/>
                <a:cs typeface="Aptos"/>
              </a:rPr>
              <a:t>Evaluate feasibility, quality impact, economic potential, scalability, safety, and traceability.</a:t>
            </a:r>
          </a:p>
        </p:txBody>
      </p:sp>
      <p:sp>
        <p:nvSpPr>
          <p:cNvPr id="20" name="矩形 19">
            <a:extLst>
              <a:ext uri="{FF2B5EF4-FFF2-40B4-BE49-F238E27FC236}">
                <a16:creationId xmlns:a16="http://schemas.microsoft.com/office/drawing/2014/main" id="{10165C83-EC73-43E7-B4CF-F44CB4385D5B}"/>
              </a:ext>
            </a:extLst>
          </p:cNvPr>
          <p:cNvSpPr>
            <a:spLocks noGrp="1"/>
          </p:cNvSpPr>
          <p:nvPr/>
        </p:nvSpPr>
        <p:spPr>
          <a:xfrm>
            <a:off x="1238250" y="5029200"/>
            <a:ext cx="9715500" cy="514350"/>
          </a:xfrm>
          <a:prstGeom prst="rect">
            <a:avLst/>
          </a:prstGeom>
          <a:solidFill>
            <a:srgbClr val="315C49"/>
          </a:solidFill>
          <a:ln w="0">
            <a:solidFill>
              <a:srgbClr val="000000">
                <a:alpha val="0"/>
              </a:srgbClr>
            </a:solidFill>
            <a:prstDash val="solid"/>
          </a:ln>
        </p:spPr>
      </p:sp>
      <p:sp>
        <p:nvSpPr>
          <p:cNvPr id="21" name="矩形 20">
            <a:extLst>
              <a:ext uri="{FF2B5EF4-FFF2-40B4-BE49-F238E27FC236}">
                <a16:creationId xmlns:a16="http://schemas.microsoft.com/office/drawing/2014/main" id="{C3158F5B-FFB2-46DC-B440-BA3EDEDE6750}"/>
              </a:ext>
            </a:extLst>
          </p:cNvPr>
          <p:cNvSpPr>
            <a:spLocks noGrp="1"/>
          </p:cNvSpPr>
          <p:nvPr/>
        </p:nvSpPr>
        <p:spPr>
          <a:xfrm>
            <a:off x="1524000" y="5172075"/>
            <a:ext cx="9144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FFFFFF"/>
                </a:solidFill>
                <a:latin typeface="Aptos"/>
                <a:ea typeface="Aptos"/>
                <a:cs typeface="Aptos"/>
              </a:defRPr>
            </a:pPr>
            <a:r>
              <a:rPr sz="1500" b="1">
                <a:solidFill>
                  <a:srgbClr val="FFFFFF"/>
                </a:solidFill>
                <a:latin typeface="Aptos"/>
                <a:ea typeface="Aptos"/>
                <a:cs typeface="Aptos"/>
              </a:rPr>
              <a:t>Expected output: a use-case shortlist and the first evaluation table.</a:t>
            </a:r>
          </a:p>
        </p:txBody>
      </p:sp>
    </p:spTree>
    <p:extLst>
      <p:ext uri="{BB962C8B-B14F-4D97-AF65-F5344CB8AC3E}">
        <p14:creationId xmlns:p14="http://schemas.microsoft.com/office/powerpoint/2010/main" val="210082121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1357</Words>
  <Application>Microsoft Office PowerPoint</Application>
  <DocSecurity>0</DocSecurity>
  <PresentationFormat>宽屏</PresentationFormat>
  <Paragraphs>156</Paragraphs>
  <Slides>8</Slides>
  <Notes>8</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8</vt:i4>
      </vt:variant>
    </vt:vector>
  </HeadingPairs>
  <TitlesOfParts>
    <vt:vector size="12" baseType="lpstr">
      <vt:lpstr>Aptos</vt:lpstr>
      <vt:lpstr>Aptos Display</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赋翰 廖</cp:lastModifiedBy>
  <cp:revision>1</cp:revision>
  <dcterms:created xsi:type="dcterms:W3CDTF">2026-07-08T12:24:33Z</dcterms:created>
  <dcterms:modified xsi:type="dcterms:W3CDTF">2026-07-08T12:25:24Z</dcterms:modified>
</cp:coreProperties>
</file>