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7f5f418fdf4481" /><Relationship Type="http://schemas.openxmlformats.org/officeDocument/2006/relationships/extended-properties" Target="/docProps/app.xml" Id="R979c975303e1488d" /><Relationship Type="http://schemas.openxmlformats.org/officeDocument/2006/relationships/officeDocument" Target="/ppt/presentation.xml" Id="Rf5a5fce30bd4453a" /></Relationships>
</file>

<file path=ppt/presentation.xml><?xml version="1.0" encoding="utf-8"?>
<p:presentation xmlns:p="http://schemas.openxmlformats.org/presentationml/2006/main">
  <p:sldMasterIdLst>
    <p:sldMasterId xmlns:r="http://schemas.openxmlformats.org/officeDocument/2006/relationships" id="2147483648" r:id="R190cece216a4495f"/>
  </p:sldMasterIdLst>
  <p:notesMasterIdLst>
    <p:notesMasterId xmlns:r="http://schemas.openxmlformats.org/officeDocument/2006/relationships" r:id="R97901da514404e06"/>
  </p:notesMasterIdLst>
  <p:sldIdLst>
    <p:sldId xmlns:r="http://schemas.openxmlformats.org/officeDocument/2006/relationships" id="256" r:id="R90c31bb9712a4f01"/>
    <p:sldId xmlns:r="http://schemas.openxmlformats.org/officeDocument/2006/relationships" id="257" r:id="Rc98b455ec7564594"/>
    <p:sldId xmlns:r="http://schemas.openxmlformats.org/officeDocument/2006/relationships" id="258" r:id="R0116636bc320493e"/>
    <p:sldId xmlns:r="http://schemas.openxmlformats.org/officeDocument/2006/relationships" id="259" r:id="R05ad95d715984a87"/>
    <p:sldId xmlns:r="http://schemas.openxmlformats.org/officeDocument/2006/relationships" id="260" r:id="R670453101218422d"/>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c4936de8bf041a8" /><Relationship Type="http://schemas.openxmlformats.org/officeDocument/2006/relationships/slideMaster" Target="/ppt/slideMasters/slideMaster1.xml" Id="R190cece216a4495f" /><Relationship Type="http://schemas.openxmlformats.org/officeDocument/2006/relationships/notesMaster" Target="/ppt/notesMasters/notesMaster1.xml" Id="R97901da514404e06" /><Relationship Type="http://schemas.openxmlformats.org/officeDocument/2006/relationships/presProps" Target="/ppt/presProps.xml" Id="R214f54bec79e4ba7" /><Relationship Type="http://schemas.openxmlformats.org/officeDocument/2006/relationships/viewProps" Target="/ppt/viewProps.xml" Id="R1bb3db58f0a340f7" /><Relationship Type="http://schemas.openxmlformats.org/officeDocument/2006/relationships/tableStyles" Target="/ppt/tableStyles.xml" Id="R277cced6c7e541ae" /><Relationship Type="http://schemas.openxmlformats.org/officeDocument/2006/relationships/slide" Target="/ppt/slides/slide1.xml" Id="R90c31bb9712a4f01" /><Relationship Type="http://schemas.openxmlformats.org/officeDocument/2006/relationships/slide" Target="/ppt/slides/slide2.xml" Id="Rc98b455ec7564594" /><Relationship Type="http://schemas.openxmlformats.org/officeDocument/2006/relationships/slide" Target="/ppt/slides/slide3.xml" Id="R0116636bc320493e" /><Relationship Type="http://schemas.openxmlformats.org/officeDocument/2006/relationships/slide" Target="/ppt/slides/slide4.xml" Id="R05ad95d715984a87" /><Relationship Type="http://schemas.openxmlformats.org/officeDocument/2006/relationships/slide" Target="/ppt/slides/slide5.xml" Id="R67045310121842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84e729258341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0e3265e4cf42c1" /><Relationship Type="http://schemas.openxmlformats.org/officeDocument/2006/relationships/notesMaster" Target="/ppt/notesMasters/notesMaster1.xml" Id="Re32b1f1619e54b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bca0283b404725" /><Relationship Type="http://schemas.openxmlformats.org/officeDocument/2006/relationships/notesMaster" Target="/ppt/notesMasters/notesMaster1.xml" Id="R5a5ad12723de42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d5959a585a4470" /><Relationship Type="http://schemas.openxmlformats.org/officeDocument/2006/relationships/notesMaster" Target="/ppt/notesMasters/notesMaster1.xml" Id="R50c01bd7d76543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65aa08214e496f" /><Relationship Type="http://schemas.openxmlformats.org/officeDocument/2006/relationships/notesMaster" Target="/ppt/notesMasters/notesMaster1.xml" Id="R10ea34f5128e47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67552230a74d51" /><Relationship Type="http://schemas.openxmlformats.org/officeDocument/2006/relationships/notesMaster" Target="/ppt/notesMasters/notesMaster1.xml" Id="R730fce24df3d48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I will give a concise Week 02 update around three questions: what I did, what problem I found, and what I will do next week. The main progress is that I converted the battery cell manufacturing process chain into a process-problem-robotics evidence map. The remaining bottleneck is not a lack of application ideas; it is the lack of comparable industrial evidence needed to select and evaluate cases rigorously.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I produced four concrete outputs. First, I linked each process objective and quality risk to the task and possible robotic role. Second, I studied electrode production, cell assembly, cell finishing, and vision-related applications in more depth. Third, I compared four candidate directions: formation and testing tray handling, AMR or AGV intralogistics, vision-guided inspection or loading, and stacking or housing insertion. Fourth, I started an evidence chain that records the source, exact section, battery-manufacturing implication, robotics implication, and missing data. The candidates are not yet ranked.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important technical learning is that the three manufacturing stages need different robotics logics. Electrode manufacturing is dominated by continuous web processes, so robotics usually supports material flow, sampling, inspection, and logistics around the core equipment. Cell assembly handles thin and sensitive components, so precision, non-damaging handling, vision, and gripper design are critical. Cell finishing handles sealed cells, trays, testing, and long work-in-process times, so system integration, logistics, safety, and traceability become central. Therefore, cases should be compared by process fit and evidence quality, not by how advanced the robot looks.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problem has three layers. On the evidence side, academic literature explains processes and methods, but complete industrial performance data are scarce. On the methodology side, literature alone may not support a credible selection, so expert interviews and pilot or production data may be necessary. On the decision side, ranking and ROI would be premature without takt time, reliability, defect, cost, and integration data. I therefore treat the current candidates as working hypotheses rather than final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week I will turn the map into a research method. First, I will consolidate the evidence into one matrix for the four candidates and record evidence strength and missing data. Second, I will identify suitable PEM or eLab experts and prepare focused interview and data-request questions. Third, I will define the evaluation indicators and the minimum evidence needed before scoring. The expected output is an evidence matrix, an expert and data-request guide, and a justified proposal for narrowing the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9f996f9ddc48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3cd91c04304611" /><Relationship Type="http://schemas.openxmlformats.org/officeDocument/2006/relationships/slideLayout" Target="/ppt/slideLayouts/slideLayout1.xml" Id="Raa921c7487c749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921c7487c749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10d50060fd4c87" /><Relationship Type="http://schemas.openxmlformats.org/officeDocument/2006/relationships/notesSlide" Target="/ppt/notesSlides/notesSlide1.xml" Id="R1dfe95694a4d49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43afcc038154aa1" /><Relationship Type="http://schemas.openxmlformats.org/officeDocument/2006/relationships/notesSlide" Target="/ppt/notesSlides/notesSlide2.xml" Id="Re479c826398342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4f34ee1426445e1" /><Relationship Type="http://schemas.openxmlformats.org/officeDocument/2006/relationships/notesSlide" Target="/ppt/notesSlides/notesSlide3.xml" Id="Rcf7f5fc823e34b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d8e3b0309745ba" /><Relationship Type="http://schemas.openxmlformats.org/officeDocument/2006/relationships/notesSlide" Target="/ppt/notesSlides/notesSlide4.xml" Id="R2d10c02c09bb42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13fab6c57c844be" /><Relationship Type="http://schemas.openxmlformats.org/officeDocument/2006/relationships/notesSlide" Target="/ppt/notesSlides/notesSlide5.xml" Id="R2145d29048cd449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1" name="矩形 20">
            <a:extLst xmlns:a="http://schemas.openxmlformats.org/drawingml/2006/main">
              <a:ext uri="{FF2B5EF4-FFF2-40B4-BE49-F238E27FC236}">
                <a16:creationId xmlns:a16="http://schemas.microsoft.com/office/drawing/2014/main" id="{EB57BA72-5BCA-4E6C-B31F-49203BE9BED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kicker-1-marker">
            <a:extLst xmlns:a="http://schemas.openxmlformats.org/drawingml/2006/main">
              <a:ext uri="{FF2B5EF4-FFF2-40B4-BE49-F238E27FC236}">
                <a16:creationId xmlns:a16="http://schemas.microsoft.com/office/drawing/2014/main" id="{612BEC4B-5D21-4EEF-B4A9-E899ABFDE6B8}"/>
              </a:ext>
            </a:extLst>
          </p:cNvPr>
          <p:cNvSpPr>
            <a:spLocks xmlns:a="http://schemas.openxmlformats.org/drawingml/2006/main" noGrp="1"/>
          </p:cNvSpPr>
          <p:nvPr/>
        </p:nvSpPr>
        <p:spPr>
          <a:xfrm xmlns:a="http://schemas.openxmlformats.org/drawingml/2006/main">
            <a:off x="514350" y="400050"/>
            <a:ext cx="95250" cy="95250"/>
          </a:xfrm>
          <a:prstGeom xmlns:a="http://schemas.openxmlformats.org/drawingml/2006/main" prst="ellipse">
            <a:avLst/>
          </a:prstGeom>
          <a:solidFill xmlns:a="http://schemas.openxmlformats.org/drawingml/2006/main">
            <a:srgbClr val="B46B3A"/>
          </a:solidFill>
          <a:ln xmlns:a="http://schemas.openxmlformats.org/drawingml/2006/main" w="0">
            <a:solidFill>
              <a:srgbClr val="000000">
                <a:alpha val="0"/>
              </a:srgbClr>
            </a:solidFill>
            <a:prstDash val="solid"/>
          </a:ln>
        </p:spPr>
      </p:sp>
      <p:sp>
        <p:nvSpPr>
          <p:cNvPr id="3" name="kicker-1-label">
            <a:extLst xmlns:a="http://schemas.openxmlformats.org/drawingml/2006/main">
              <a:ext uri="{FF2B5EF4-FFF2-40B4-BE49-F238E27FC236}">
                <a16:creationId xmlns:a16="http://schemas.microsoft.com/office/drawing/2014/main" id="{BBA4343D-859B-4C4B-A0A6-D041D350D8DE}"/>
              </a:ext>
            </a:extLst>
          </p:cNvPr>
          <p:cNvSpPr>
            <a:spLocks xmlns:a="http://schemas.openxmlformats.org/drawingml/2006/main" noGrp="1"/>
          </p:cNvSpPr>
          <p:nvPr/>
        </p:nvSpPr>
        <p:spPr>
          <a:xfrm xmlns:a="http://schemas.openxmlformats.org/drawingml/2006/main">
            <a:off x="704850" y="323850"/>
            <a:ext cx="495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38" b="1">
                <a:solidFill>
                  <a:srgbClr val="315C49"/>
                </a:solidFill>
                <a:latin typeface="Aptos"/>
                <a:ea typeface="Aptos"/>
                <a:cs typeface="Aptos"/>
              </a:defRPr>
            </a:pPr>
            <a:r>
              <a:rPr sz="938" b="1">
                <a:solidFill>
                  <a:srgbClr val="315C49"/>
                </a:solidFill>
                <a:latin typeface="Aptos"/>
                <a:ea typeface="Aptos"/>
                <a:cs typeface="Aptos"/>
              </a:rPr>
              <a:t>TODAY</a:t>
            </a:r>
          </a:p>
        </p:txBody>
      </p:sp>
      <p:sp>
        <p:nvSpPr>
          <p:cNvPr id="4" name="矩形 3">
            <a:extLst xmlns:a="http://schemas.openxmlformats.org/drawingml/2006/main">
              <a:ext uri="{FF2B5EF4-FFF2-40B4-BE49-F238E27FC236}">
                <a16:creationId xmlns:a16="http://schemas.microsoft.com/office/drawing/2014/main" id="{933F659E-A3B3-485D-83A4-D2AE77FA96E1}"/>
              </a:ext>
            </a:extLst>
          </p:cNvPr>
          <p:cNvSpPr>
            <a:spLocks xmlns:a="http://schemas.openxmlformats.org/drawingml/2006/main" noGrp="1"/>
          </p:cNvSpPr>
          <p:nvPr/>
        </p:nvSpPr>
        <p:spPr>
          <a:xfrm xmlns:a="http://schemas.openxmlformats.org/drawingml/2006/main">
            <a:off x="514350" y="742950"/>
            <a:ext cx="9906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700" b="1">
                <a:solidFill>
                  <a:srgbClr val="17201C"/>
                </a:solidFill>
                <a:latin typeface="Aptos Display"/>
                <a:ea typeface="Aptos Display"/>
                <a:cs typeface="Aptos Display"/>
              </a:defRPr>
            </a:pPr>
            <a:r>
              <a:rPr sz="2700" b="1">
                <a:solidFill>
                  <a:srgbClr val="17201C"/>
                </a:solidFill>
                <a:latin typeface="Aptos Display"/>
                <a:ea typeface="Aptos Display"/>
                <a:cs typeface="Aptos Display"/>
              </a:rPr>
              <a:t>Week 02 update: from process learning to evidence-based use cases</a:t>
            </a:r>
          </a:p>
        </p:txBody>
      </p:sp>
      <p:sp>
        <p:nvSpPr>
          <p:cNvPr id="5" name="矩形 4">
            <a:extLst xmlns:a="http://schemas.openxmlformats.org/drawingml/2006/main">
              <a:ext uri="{FF2B5EF4-FFF2-40B4-BE49-F238E27FC236}">
                <a16:creationId xmlns:a16="http://schemas.microsoft.com/office/drawing/2014/main" id="{4786B3CA-566B-4DB7-80EE-E1333573A5CD}"/>
              </a:ext>
            </a:extLst>
          </p:cNvPr>
          <p:cNvSpPr>
            <a:spLocks xmlns:a="http://schemas.openxmlformats.org/drawingml/2006/main" noGrp="1"/>
          </p:cNvSpPr>
          <p:nvPr/>
        </p:nvSpPr>
        <p:spPr>
          <a:xfrm xmlns:a="http://schemas.openxmlformats.org/drawingml/2006/main">
            <a:off x="514350" y="6153150"/>
            <a:ext cx="9620250" cy="11430"/>
          </a:xfrm>
          <a:prstGeom xmlns:a="http://schemas.openxmlformats.org/drawingml/2006/main" prst="rect">
            <a:avLst/>
          </a:prstGeom>
          <a:solidFill xmlns:a="http://schemas.openxmlformats.org/drawingml/2006/main">
            <a:srgbClr val="D8D1C3"/>
          </a:solidFill>
          <a:ln xmlns:a="http://schemas.openxmlformats.org/drawingml/2006/main" w="0">
            <a:solidFill>
              <a:srgbClr val="000000">
                <a:alpha val="0"/>
              </a:srgbClr>
            </a:solidFill>
            <a:prstDash val="solid"/>
          </a:ln>
        </p:spPr>
      </p:sp>
      <p:sp>
        <p:nvSpPr>
          <p:cNvPr id="6" name="矩形 5">
            <a:extLst xmlns:a="http://schemas.openxmlformats.org/drawingml/2006/main">
              <a:ext uri="{FF2B5EF4-FFF2-40B4-BE49-F238E27FC236}">
                <a16:creationId xmlns:a16="http://schemas.microsoft.com/office/drawing/2014/main" id="{6D5FEA4F-6EE3-4BC1-ACD1-9136DC9B53F8}"/>
              </a:ext>
            </a:extLst>
          </p:cNvPr>
          <p:cNvSpPr>
            <a:spLocks xmlns:a="http://schemas.openxmlformats.org/drawingml/2006/main" noGrp="1"/>
          </p:cNvSpPr>
          <p:nvPr/>
        </p:nvSpPr>
        <p:spPr>
          <a:xfrm xmlns:a="http://schemas.openxmlformats.org/drawingml/2006/main">
            <a:off x="514350" y="6257925"/>
            <a:ext cx="685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13" b="0">
                <a:solidFill>
                  <a:srgbClr val="5E625D"/>
                </a:solidFill>
                <a:latin typeface="Aptos"/>
                <a:ea typeface="Aptos"/>
                <a:cs typeface="Aptos"/>
              </a:defRPr>
            </a:pPr>
            <a:r>
              <a:rPr sz="713" b="0">
                <a:solidFill>
                  <a:srgbClr val="5E625D"/>
                </a:solidFill>
                <a:latin typeface="Aptos"/>
                <a:ea typeface="Aptos"/>
                <a:cs typeface="Aptos"/>
              </a:rPr>
              <a:t>Week 02 group meeting | Robotic systems in battery manufacturing</a:t>
            </a:r>
          </a:p>
        </p:txBody>
      </p:sp>
      <p:sp>
        <p:nvSpPr>
          <p:cNvPr id="7" name="矩形 6">
            <a:extLst xmlns:a="http://schemas.openxmlformats.org/drawingml/2006/main">
              <a:ext uri="{FF2B5EF4-FFF2-40B4-BE49-F238E27FC236}">
                <a16:creationId xmlns:a16="http://schemas.microsoft.com/office/drawing/2014/main" id="{8E63D1E8-42E4-44A9-8E51-63AA0B8A25E3}"/>
              </a:ext>
            </a:extLst>
          </p:cNvPr>
          <p:cNvSpPr>
            <a:spLocks xmlns:a="http://schemas.openxmlformats.org/drawingml/2006/main" noGrp="1"/>
          </p:cNvSpPr>
          <p:nvPr/>
        </p:nvSpPr>
        <p:spPr>
          <a:xfrm xmlns:a="http://schemas.openxmlformats.org/drawingml/2006/main">
            <a:off x="11049000" y="62293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00" b="1">
                <a:solidFill>
                  <a:srgbClr val="315C49"/>
                </a:solidFill>
                <a:latin typeface="Aptos"/>
                <a:ea typeface="Aptos"/>
                <a:cs typeface="Aptos"/>
              </a:defRPr>
            </a:pPr>
            <a:r>
              <a:rPr sz="900" b="1">
                <a:solidFill>
                  <a:srgbClr val="315C49"/>
                </a:solidFill>
                <a:latin typeface="Aptos"/>
                <a:ea typeface="Aptos"/>
                <a:cs typeface="Aptos"/>
              </a:rPr>
              <a:t>01</a:t>
            </a:r>
          </a:p>
        </p:txBody>
      </p:sp>
      <p:sp>
        <p:nvSpPr>
          <p:cNvPr id="8" name="矩形 7">
            <a:extLst xmlns:a="http://schemas.openxmlformats.org/drawingml/2006/main">
              <a:ext uri="{FF2B5EF4-FFF2-40B4-BE49-F238E27FC236}">
                <a16:creationId xmlns:a16="http://schemas.microsoft.com/office/drawing/2014/main" id="{DC49EFB7-933B-45A1-84A8-6EE992A66852}"/>
              </a:ext>
            </a:extLst>
          </p:cNvPr>
          <p:cNvSpPr>
            <a:spLocks xmlns:a="http://schemas.openxmlformats.org/drawingml/2006/main" noGrp="1"/>
          </p:cNvSpPr>
          <p:nvPr/>
        </p:nvSpPr>
        <p:spPr>
          <a:xfrm xmlns:a="http://schemas.openxmlformats.org/drawingml/2006/main">
            <a:off x="571500" y="1762125"/>
            <a:ext cx="10001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315C49"/>
                </a:solidFill>
                <a:latin typeface="Aptos"/>
                <a:ea typeface="Aptos"/>
                <a:cs typeface="Aptos"/>
              </a:defRPr>
            </a:pPr>
            <a:r>
              <a:rPr sz="1800" b="1">
                <a:solidFill>
                  <a:srgbClr val="315C49"/>
                </a:solidFill>
                <a:latin typeface="Aptos"/>
                <a:ea typeface="Aptos"/>
                <a:cs typeface="Aptos"/>
              </a:rPr>
              <a:t>Main message: I mapped the process chain; final case selection now depends on evidence and data.</a:t>
            </a:r>
          </a:p>
        </p:txBody>
      </p:sp>
      <p:sp>
        <p:nvSpPr>
          <p:cNvPr id="9" name="矩形 8">
            <a:extLst xmlns:a="http://schemas.openxmlformats.org/drawingml/2006/main">
              <a:ext uri="{FF2B5EF4-FFF2-40B4-BE49-F238E27FC236}">
                <a16:creationId xmlns:a16="http://schemas.microsoft.com/office/drawing/2014/main" id="{7A61287F-01CD-42D4-86D0-1AFDDFDF511A}"/>
              </a:ext>
            </a:extLst>
          </p:cNvPr>
          <p:cNvSpPr>
            <a:spLocks xmlns:a="http://schemas.openxmlformats.org/drawingml/2006/main" noGrp="1"/>
          </p:cNvSpPr>
          <p:nvPr/>
        </p:nvSpPr>
        <p:spPr>
          <a:xfrm xmlns:a="http://schemas.openxmlformats.org/drawingml/2006/main">
            <a:off x="762000" y="2952750"/>
            <a:ext cx="2857500" cy="1571625"/>
          </a:xfrm>
          <a:prstGeom xmlns:a="http://schemas.openxmlformats.org/drawingml/2006/main" prst="rect">
            <a:avLst/>
          </a:prstGeom>
          <a:solidFill xmlns:a="http://schemas.openxmlformats.org/drawingml/2006/main">
            <a:srgbClr val="FFFFFF"/>
          </a:solidFill>
          <a:ln xmlns:a="http://schemas.openxmlformats.org/drawingml/2006/main" w="9525">
            <a:solidFill>
              <a:srgbClr val="D8D1C3"/>
            </a:solidFill>
            <a:prstDash val="solid"/>
          </a:ln>
        </p:spPr>
      </p:sp>
      <p:sp>
        <p:nvSpPr>
          <p:cNvPr id="10" name="矩形 9">
            <a:extLst xmlns:a="http://schemas.openxmlformats.org/drawingml/2006/main">
              <a:ext uri="{FF2B5EF4-FFF2-40B4-BE49-F238E27FC236}">
                <a16:creationId xmlns:a16="http://schemas.microsoft.com/office/drawing/2014/main" id="{0443D4C4-8AEE-47F8-B009-E9612D66D99D}"/>
              </a:ext>
            </a:extLst>
          </p:cNvPr>
          <p:cNvSpPr>
            <a:spLocks xmlns:a="http://schemas.openxmlformats.org/drawingml/2006/main" noGrp="1"/>
          </p:cNvSpPr>
          <p:nvPr/>
        </p:nvSpPr>
        <p:spPr>
          <a:xfrm xmlns:a="http://schemas.openxmlformats.org/drawingml/2006/main">
            <a:off x="762000" y="2952750"/>
            <a:ext cx="2857500" cy="66675"/>
          </a:xfrm>
          <a:prstGeom xmlns:a="http://schemas.openxmlformats.org/drawingml/2006/main" prst="rect">
            <a:avLst/>
          </a:prstGeom>
          <a:solidFill xmlns:a="http://schemas.openxmlformats.org/drawingml/2006/main">
            <a:srgbClr val="315C49"/>
          </a:solidFill>
          <a:ln xmlns:a="http://schemas.openxmlformats.org/drawingml/2006/main" w="0">
            <a:solidFill>
              <a:srgbClr val="000000">
                <a:alpha val="0"/>
              </a:srgbClr>
            </a:solidFill>
            <a:prstDash val="solid"/>
          </a:ln>
        </p:spPr>
      </p:sp>
      <p:sp>
        <p:nvSpPr>
          <p:cNvPr id="11" name="矩形 10">
            <a:extLst xmlns:a="http://schemas.openxmlformats.org/drawingml/2006/main">
              <a:ext uri="{FF2B5EF4-FFF2-40B4-BE49-F238E27FC236}">
                <a16:creationId xmlns:a16="http://schemas.microsoft.com/office/drawing/2014/main" id="{A68135E3-EE11-4E9A-A28E-5A2ADF0BEF63}"/>
              </a:ext>
            </a:extLst>
          </p:cNvPr>
          <p:cNvSpPr>
            <a:spLocks xmlns:a="http://schemas.openxmlformats.org/drawingml/2006/main" noGrp="1"/>
          </p:cNvSpPr>
          <p:nvPr/>
        </p:nvSpPr>
        <p:spPr>
          <a:xfrm xmlns:a="http://schemas.openxmlformats.org/drawingml/2006/main">
            <a:off x="952500" y="3190875"/>
            <a:ext cx="2476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1. What I did</a:t>
            </a:r>
          </a:p>
        </p:txBody>
      </p:sp>
      <p:sp>
        <p:nvSpPr>
          <p:cNvPr id="12" name="矩形 11">
            <a:extLst xmlns:a="http://schemas.openxmlformats.org/drawingml/2006/main">
              <a:ext uri="{FF2B5EF4-FFF2-40B4-BE49-F238E27FC236}">
                <a16:creationId xmlns:a16="http://schemas.microsoft.com/office/drawing/2014/main" id="{03BAE0F9-C0F7-438E-8EF3-EFB2BAE4EECB}"/>
              </a:ext>
            </a:extLst>
          </p:cNvPr>
          <p:cNvSpPr>
            <a:spLocks xmlns:a="http://schemas.openxmlformats.org/drawingml/2006/main" noGrp="1"/>
          </p:cNvSpPr>
          <p:nvPr/>
        </p:nvSpPr>
        <p:spPr>
          <a:xfrm xmlns:a="http://schemas.openxmlformats.org/drawingml/2006/main">
            <a:off x="952500" y="3619500"/>
            <a:ext cx="2476500" cy="7334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Process-problem map</a:t>
            </a:r>
          </a:p>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Four process deep dives</a:t>
            </a:r>
          </a:p>
        </p:txBody>
      </p:sp>
      <p:sp>
        <p:nvSpPr>
          <p:cNvPr id="13" name="矩形 12">
            <a:extLst xmlns:a="http://schemas.openxmlformats.org/drawingml/2006/main">
              <a:ext uri="{FF2B5EF4-FFF2-40B4-BE49-F238E27FC236}">
                <a16:creationId xmlns:a16="http://schemas.microsoft.com/office/drawing/2014/main" id="{10375BAD-FBED-44A7-B1F9-D5E2732754C7}"/>
              </a:ext>
            </a:extLst>
          </p:cNvPr>
          <p:cNvSpPr>
            <a:spLocks xmlns:a="http://schemas.openxmlformats.org/drawingml/2006/main" noGrp="1"/>
          </p:cNvSpPr>
          <p:nvPr/>
        </p:nvSpPr>
        <p:spPr>
          <a:xfrm xmlns:a="http://schemas.openxmlformats.org/drawingml/2006/main">
            <a:off x="4667250" y="2952750"/>
            <a:ext cx="2857500" cy="1571625"/>
          </a:xfrm>
          <a:prstGeom xmlns:a="http://schemas.openxmlformats.org/drawingml/2006/main" prst="rect">
            <a:avLst/>
          </a:prstGeom>
          <a:solidFill xmlns:a="http://schemas.openxmlformats.org/drawingml/2006/main">
            <a:srgbClr val="FFFFFF"/>
          </a:solidFill>
          <a:ln xmlns:a="http://schemas.openxmlformats.org/drawingml/2006/main" w="9525">
            <a:solidFill>
              <a:srgbClr val="D8D1C3"/>
            </a:solidFill>
            <a:prstDash val="solid"/>
          </a:ln>
        </p:spPr>
      </p:sp>
      <p:sp>
        <p:nvSpPr>
          <p:cNvPr id="14" name="矩形 13">
            <a:extLst xmlns:a="http://schemas.openxmlformats.org/drawingml/2006/main">
              <a:ext uri="{FF2B5EF4-FFF2-40B4-BE49-F238E27FC236}">
                <a16:creationId xmlns:a16="http://schemas.microsoft.com/office/drawing/2014/main" id="{38588ECF-9983-4CE8-901D-9FC38D5501CE}"/>
              </a:ext>
            </a:extLst>
          </p:cNvPr>
          <p:cNvSpPr>
            <a:spLocks xmlns:a="http://schemas.openxmlformats.org/drawingml/2006/main" noGrp="1"/>
          </p:cNvSpPr>
          <p:nvPr/>
        </p:nvSpPr>
        <p:spPr>
          <a:xfrm xmlns:a="http://schemas.openxmlformats.org/drawingml/2006/main">
            <a:off x="4667250" y="2952750"/>
            <a:ext cx="2857500" cy="66675"/>
          </a:xfrm>
          <a:prstGeom xmlns:a="http://schemas.openxmlformats.org/drawingml/2006/main" prst="rect">
            <a:avLst/>
          </a:prstGeom>
          <a:solidFill xmlns:a="http://schemas.openxmlformats.org/drawingml/2006/main">
            <a:srgbClr val="B46B3A"/>
          </a:solidFill>
          <a:ln xmlns:a="http://schemas.openxmlformats.org/drawingml/2006/main" w="0">
            <a:solidFill>
              <a:srgbClr val="000000">
                <a:alpha val="0"/>
              </a:srgbClr>
            </a:solidFill>
            <a:prstDash val="solid"/>
          </a:ln>
        </p:spPr>
      </p:sp>
      <p:sp>
        <p:nvSpPr>
          <p:cNvPr id="15" name="矩形 14">
            <a:extLst xmlns:a="http://schemas.openxmlformats.org/drawingml/2006/main">
              <a:ext uri="{FF2B5EF4-FFF2-40B4-BE49-F238E27FC236}">
                <a16:creationId xmlns:a16="http://schemas.microsoft.com/office/drawing/2014/main" id="{2C0C0DE5-C240-48C5-9BBA-BD76F31872F8}"/>
              </a:ext>
            </a:extLst>
          </p:cNvPr>
          <p:cNvSpPr>
            <a:spLocks xmlns:a="http://schemas.openxmlformats.org/drawingml/2006/main" noGrp="1"/>
          </p:cNvSpPr>
          <p:nvPr/>
        </p:nvSpPr>
        <p:spPr>
          <a:xfrm xmlns:a="http://schemas.openxmlformats.org/drawingml/2006/main">
            <a:off x="4857750" y="3190875"/>
            <a:ext cx="2476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2. What is the problem</a:t>
            </a:r>
          </a:p>
        </p:txBody>
      </p:sp>
      <p:sp>
        <p:nvSpPr>
          <p:cNvPr id="16" name="矩形 15">
            <a:extLst xmlns:a="http://schemas.openxmlformats.org/drawingml/2006/main">
              <a:ext uri="{FF2B5EF4-FFF2-40B4-BE49-F238E27FC236}">
                <a16:creationId xmlns:a16="http://schemas.microsoft.com/office/drawing/2014/main" id="{FBE3B8EA-FE13-4C2C-A121-6C2774377918}"/>
              </a:ext>
            </a:extLst>
          </p:cNvPr>
          <p:cNvSpPr>
            <a:spLocks xmlns:a="http://schemas.openxmlformats.org/drawingml/2006/main" noGrp="1"/>
          </p:cNvSpPr>
          <p:nvPr/>
        </p:nvSpPr>
        <p:spPr>
          <a:xfrm xmlns:a="http://schemas.openxmlformats.org/drawingml/2006/main">
            <a:off x="4857750" y="3619500"/>
            <a:ext cx="2476500" cy="7334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Application ideas exist, but comparable industrial performance and cost data are limited.</a:t>
            </a:r>
          </a:p>
        </p:txBody>
      </p:sp>
      <p:sp>
        <p:nvSpPr>
          <p:cNvPr id="17" name="矩形 16">
            <a:extLst xmlns:a="http://schemas.openxmlformats.org/drawingml/2006/main">
              <a:ext uri="{FF2B5EF4-FFF2-40B4-BE49-F238E27FC236}">
                <a16:creationId xmlns:a16="http://schemas.microsoft.com/office/drawing/2014/main" id="{BECA506B-4A9A-40FB-9CC5-A9DEACF5A8ED}"/>
              </a:ext>
            </a:extLst>
          </p:cNvPr>
          <p:cNvSpPr>
            <a:spLocks xmlns:a="http://schemas.openxmlformats.org/drawingml/2006/main" noGrp="1"/>
          </p:cNvSpPr>
          <p:nvPr/>
        </p:nvSpPr>
        <p:spPr>
          <a:xfrm xmlns:a="http://schemas.openxmlformats.org/drawingml/2006/main">
            <a:off x="8572500" y="2952750"/>
            <a:ext cx="2857500" cy="1571625"/>
          </a:xfrm>
          <a:prstGeom xmlns:a="http://schemas.openxmlformats.org/drawingml/2006/main" prst="rect">
            <a:avLst/>
          </a:prstGeom>
          <a:solidFill xmlns:a="http://schemas.openxmlformats.org/drawingml/2006/main">
            <a:srgbClr val="FFFFFF"/>
          </a:solidFill>
          <a:ln xmlns:a="http://schemas.openxmlformats.org/drawingml/2006/main" w="9525">
            <a:solidFill>
              <a:srgbClr val="D8D1C3"/>
            </a:solidFill>
            <a:prstDash val="solid"/>
          </a:ln>
        </p:spPr>
      </p:sp>
      <p:sp>
        <p:nvSpPr>
          <p:cNvPr id="18" name="矩形 17">
            <a:extLst xmlns:a="http://schemas.openxmlformats.org/drawingml/2006/main">
              <a:ext uri="{FF2B5EF4-FFF2-40B4-BE49-F238E27FC236}">
                <a16:creationId xmlns:a16="http://schemas.microsoft.com/office/drawing/2014/main" id="{D2093E58-0183-41C3-9927-D9F732F1E1B5}"/>
              </a:ext>
            </a:extLst>
          </p:cNvPr>
          <p:cNvSpPr>
            <a:spLocks xmlns:a="http://schemas.openxmlformats.org/drawingml/2006/main" noGrp="1"/>
          </p:cNvSpPr>
          <p:nvPr/>
        </p:nvSpPr>
        <p:spPr>
          <a:xfrm xmlns:a="http://schemas.openxmlformats.org/drawingml/2006/main">
            <a:off x="8572500" y="2952750"/>
            <a:ext cx="2857500" cy="66675"/>
          </a:xfrm>
          <a:prstGeom xmlns:a="http://schemas.openxmlformats.org/drawingml/2006/main" prst="rect">
            <a:avLst/>
          </a:prstGeom>
          <a:solidFill xmlns:a="http://schemas.openxmlformats.org/drawingml/2006/main">
            <a:srgbClr val="597389"/>
          </a:solidFill>
          <a:ln xmlns:a="http://schemas.openxmlformats.org/drawingml/2006/main" w="0">
            <a:solidFill>
              <a:srgbClr val="000000">
                <a:alpha val="0"/>
              </a:srgbClr>
            </a:solidFill>
            <a:prstDash val="solid"/>
          </a:ln>
        </p:spPr>
      </p:sp>
      <p:sp>
        <p:nvSpPr>
          <p:cNvPr id="19" name="矩形 18">
            <a:extLst xmlns:a="http://schemas.openxmlformats.org/drawingml/2006/main">
              <a:ext uri="{FF2B5EF4-FFF2-40B4-BE49-F238E27FC236}">
                <a16:creationId xmlns:a16="http://schemas.microsoft.com/office/drawing/2014/main" id="{48592CC6-A73C-41B2-B528-2AFC86095632}"/>
              </a:ext>
            </a:extLst>
          </p:cNvPr>
          <p:cNvSpPr>
            <a:spLocks xmlns:a="http://schemas.openxmlformats.org/drawingml/2006/main" noGrp="1"/>
          </p:cNvSpPr>
          <p:nvPr/>
        </p:nvSpPr>
        <p:spPr>
          <a:xfrm xmlns:a="http://schemas.openxmlformats.org/drawingml/2006/main">
            <a:off x="8763000" y="3190875"/>
            <a:ext cx="2476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3. Next week</a:t>
            </a:r>
          </a:p>
        </p:txBody>
      </p:sp>
      <p:sp>
        <p:nvSpPr>
          <p:cNvPr id="20" name="矩形 19">
            <a:extLst xmlns:a="http://schemas.openxmlformats.org/drawingml/2006/main">
              <a:ext uri="{FF2B5EF4-FFF2-40B4-BE49-F238E27FC236}">
                <a16:creationId xmlns:a16="http://schemas.microsoft.com/office/drawing/2014/main" id="{75976506-0752-4D76-B925-CEE21FD88489}"/>
              </a:ext>
            </a:extLst>
          </p:cNvPr>
          <p:cNvSpPr>
            <a:spLocks xmlns:a="http://schemas.openxmlformats.org/drawingml/2006/main" noGrp="1"/>
          </p:cNvSpPr>
          <p:nvPr/>
        </p:nvSpPr>
        <p:spPr>
          <a:xfrm xmlns:a="http://schemas.openxmlformats.org/drawingml/2006/main">
            <a:off x="8763000" y="3619500"/>
            <a:ext cx="2476500" cy="7334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Build the evidence matrix and prepare expert and data questions.</a:t>
            </a:r>
          </a:p>
        </p:txBody>
      </p:sp>
    </p:spTree>
    <p:extLst>
      <p:ext uri="{BB962C8B-B14F-4D97-AF65-F5344CB8AC3E}">
        <p14:creationId xmlns:p14="http://schemas.microsoft.com/office/powerpoint/2010/main" val="183077763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8" name="矩形 37">
            <a:extLst xmlns:a="http://schemas.openxmlformats.org/drawingml/2006/main">
              <a:ext uri="{FF2B5EF4-FFF2-40B4-BE49-F238E27FC236}">
                <a16:creationId xmlns:a16="http://schemas.microsoft.com/office/drawing/2014/main" id="{2EB71877-DC0F-44F2-8047-460D5A8EFFC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kicker-2-marker">
            <a:extLst xmlns:a="http://schemas.openxmlformats.org/drawingml/2006/main">
              <a:ext uri="{FF2B5EF4-FFF2-40B4-BE49-F238E27FC236}">
                <a16:creationId xmlns:a16="http://schemas.microsoft.com/office/drawing/2014/main" id="{72559543-829F-4655-ACC4-FE82F6A21EB6}"/>
              </a:ext>
            </a:extLst>
          </p:cNvPr>
          <p:cNvSpPr>
            <a:spLocks xmlns:a="http://schemas.openxmlformats.org/drawingml/2006/main" noGrp="1"/>
          </p:cNvSpPr>
          <p:nvPr/>
        </p:nvSpPr>
        <p:spPr>
          <a:xfrm xmlns:a="http://schemas.openxmlformats.org/drawingml/2006/main">
            <a:off x="514350" y="400050"/>
            <a:ext cx="95250" cy="95250"/>
          </a:xfrm>
          <a:prstGeom xmlns:a="http://schemas.openxmlformats.org/drawingml/2006/main" prst="ellipse">
            <a:avLst/>
          </a:prstGeom>
          <a:solidFill xmlns:a="http://schemas.openxmlformats.org/drawingml/2006/main">
            <a:srgbClr val="B46B3A"/>
          </a:solidFill>
          <a:ln xmlns:a="http://schemas.openxmlformats.org/drawingml/2006/main" w="0">
            <a:solidFill>
              <a:srgbClr val="000000">
                <a:alpha val="0"/>
              </a:srgbClr>
            </a:solidFill>
            <a:prstDash val="solid"/>
          </a:ln>
        </p:spPr>
      </p:sp>
      <p:sp>
        <p:nvSpPr>
          <p:cNvPr id="3" name="kicker-2-label">
            <a:extLst xmlns:a="http://schemas.openxmlformats.org/drawingml/2006/main">
              <a:ext uri="{FF2B5EF4-FFF2-40B4-BE49-F238E27FC236}">
                <a16:creationId xmlns:a16="http://schemas.microsoft.com/office/drawing/2014/main" id="{1215A233-EC9A-4B73-9DD7-49BF5E2B7872}"/>
              </a:ext>
            </a:extLst>
          </p:cNvPr>
          <p:cNvSpPr>
            <a:spLocks xmlns:a="http://schemas.openxmlformats.org/drawingml/2006/main" noGrp="1"/>
          </p:cNvSpPr>
          <p:nvPr/>
        </p:nvSpPr>
        <p:spPr>
          <a:xfrm xmlns:a="http://schemas.openxmlformats.org/drawingml/2006/main">
            <a:off x="704850" y="323850"/>
            <a:ext cx="495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38" b="1">
                <a:solidFill>
                  <a:srgbClr val="315C49"/>
                </a:solidFill>
                <a:latin typeface="Aptos"/>
                <a:ea typeface="Aptos"/>
                <a:cs typeface="Aptos"/>
              </a:defRPr>
            </a:pPr>
            <a:r>
              <a:rPr sz="938" b="1">
                <a:solidFill>
                  <a:srgbClr val="315C49"/>
                </a:solidFill>
                <a:latin typeface="Aptos"/>
                <a:ea typeface="Aptos"/>
                <a:cs typeface="Aptos"/>
              </a:rPr>
              <a:t>WHAT I DID</a:t>
            </a:r>
          </a:p>
        </p:txBody>
      </p:sp>
      <p:sp>
        <p:nvSpPr>
          <p:cNvPr id="4" name="矩形 3">
            <a:extLst xmlns:a="http://schemas.openxmlformats.org/drawingml/2006/main">
              <a:ext uri="{FF2B5EF4-FFF2-40B4-BE49-F238E27FC236}">
                <a16:creationId xmlns:a16="http://schemas.microsoft.com/office/drawing/2014/main" id="{CE4B04BB-9AF0-4208-B234-E072C133252B}"/>
              </a:ext>
            </a:extLst>
          </p:cNvPr>
          <p:cNvSpPr>
            <a:spLocks xmlns:a="http://schemas.openxmlformats.org/drawingml/2006/main" noGrp="1"/>
          </p:cNvSpPr>
          <p:nvPr/>
        </p:nvSpPr>
        <p:spPr>
          <a:xfrm xmlns:a="http://schemas.openxmlformats.org/drawingml/2006/main">
            <a:off x="514350" y="742950"/>
            <a:ext cx="9906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700" b="1">
                <a:solidFill>
                  <a:srgbClr val="17201C"/>
                </a:solidFill>
                <a:latin typeface="Aptos Display"/>
                <a:ea typeface="Aptos Display"/>
                <a:cs typeface="Aptos Display"/>
              </a:defRPr>
            </a:pPr>
            <a:r>
              <a:rPr sz="2700" b="1">
                <a:solidFill>
                  <a:srgbClr val="17201C"/>
                </a:solidFill>
                <a:latin typeface="Aptos Display"/>
                <a:ea typeface="Aptos Display"/>
                <a:cs typeface="Aptos Display"/>
              </a:rPr>
              <a:t>This week I turned the process chain into an evidence map.</a:t>
            </a:r>
          </a:p>
        </p:txBody>
      </p:sp>
      <p:sp>
        <p:nvSpPr>
          <p:cNvPr id="5" name="矩形 4">
            <a:extLst xmlns:a="http://schemas.openxmlformats.org/drawingml/2006/main">
              <a:ext uri="{FF2B5EF4-FFF2-40B4-BE49-F238E27FC236}">
                <a16:creationId xmlns:a16="http://schemas.microsoft.com/office/drawing/2014/main" id="{79DCF76F-F8BF-40C4-8642-343BC589B3AB}"/>
              </a:ext>
            </a:extLst>
          </p:cNvPr>
          <p:cNvSpPr>
            <a:spLocks xmlns:a="http://schemas.openxmlformats.org/drawingml/2006/main" noGrp="1"/>
          </p:cNvSpPr>
          <p:nvPr/>
        </p:nvSpPr>
        <p:spPr>
          <a:xfrm xmlns:a="http://schemas.openxmlformats.org/drawingml/2006/main">
            <a:off x="514350" y="6153150"/>
            <a:ext cx="9620250" cy="11430"/>
          </a:xfrm>
          <a:prstGeom xmlns:a="http://schemas.openxmlformats.org/drawingml/2006/main" prst="rect">
            <a:avLst/>
          </a:prstGeom>
          <a:solidFill xmlns:a="http://schemas.openxmlformats.org/drawingml/2006/main">
            <a:srgbClr val="D8D1C3"/>
          </a:solidFill>
          <a:ln xmlns:a="http://schemas.openxmlformats.org/drawingml/2006/main" w="0">
            <a:solidFill>
              <a:srgbClr val="000000">
                <a:alpha val="0"/>
              </a:srgbClr>
            </a:solidFill>
            <a:prstDash val="solid"/>
          </a:ln>
        </p:spPr>
      </p:sp>
      <p:sp>
        <p:nvSpPr>
          <p:cNvPr id="6" name="矩形 5">
            <a:extLst xmlns:a="http://schemas.openxmlformats.org/drawingml/2006/main">
              <a:ext uri="{FF2B5EF4-FFF2-40B4-BE49-F238E27FC236}">
                <a16:creationId xmlns:a16="http://schemas.microsoft.com/office/drawing/2014/main" id="{DD7F2AB0-20BB-404C-A9B9-48621C6EBDE3}"/>
              </a:ext>
            </a:extLst>
          </p:cNvPr>
          <p:cNvSpPr>
            <a:spLocks xmlns:a="http://schemas.openxmlformats.org/drawingml/2006/main" noGrp="1"/>
          </p:cNvSpPr>
          <p:nvPr/>
        </p:nvSpPr>
        <p:spPr>
          <a:xfrm xmlns:a="http://schemas.openxmlformats.org/drawingml/2006/main">
            <a:off x="514350" y="6257925"/>
            <a:ext cx="685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13" b="0">
                <a:solidFill>
                  <a:srgbClr val="5E625D"/>
                </a:solidFill>
                <a:latin typeface="Aptos"/>
                <a:ea typeface="Aptos"/>
                <a:cs typeface="Aptos"/>
              </a:defRPr>
            </a:pPr>
            <a:r>
              <a:rPr sz="713" b="0">
                <a:solidFill>
                  <a:srgbClr val="5E625D"/>
                </a:solidFill>
                <a:latin typeface="Aptos"/>
                <a:ea typeface="Aptos"/>
                <a:cs typeface="Aptos"/>
              </a:rPr>
              <a:t>Week 02 group meeting | Robotic systems in battery manufacturing</a:t>
            </a:r>
          </a:p>
        </p:txBody>
      </p:sp>
      <p:sp>
        <p:nvSpPr>
          <p:cNvPr id="7" name="矩形 6">
            <a:extLst xmlns:a="http://schemas.openxmlformats.org/drawingml/2006/main">
              <a:ext uri="{FF2B5EF4-FFF2-40B4-BE49-F238E27FC236}">
                <a16:creationId xmlns:a16="http://schemas.microsoft.com/office/drawing/2014/main" id="{A7E8BA48-1577-48AB-92FE-283166ADE5DF}"/>
              </a:ext>
            </a:extLst>
          </p:cNvPr>
          <p:cNvSpPr>
            <a:spLocks xmlns:a="http://schemas.openxmlformats.org/drawingml/2006/main" noGrp="1"/>
          </p:cNvSpPr>
          <p:nvPr/>
        </p:nvSpPr>
        <p:spPr>
          <a:xfrm xmlns:a="http://schemas.openxmlformats.org/drawingml/2006/main">
            <a:off x="11049000" y="62293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00" b="1">
                <a:solidFill>
                  <a:srgbClr val="315C49"/>
                </a:solidFill>
                <a:latin typeface="Aptos"/>
                <a:ea typeface="Aptos"/>
                <a:cs typeface="Aptos"/>
              </a:defRPr>
            </a:pPr>
            <a:r>
              <a:rPr sz="900" b="1">
                <a:solidFill>
                  <a:srgbClr val="315C49"/>
                </a:solidFill>
                <a:latin typeface="Aptos"/>
                <a:ea typeface="Aptos"/>
                <a:cs typeface="Aptos"/>
              </a:rPr>
              <a:t>02</a:t>
            </a:r>
          </a:p>
        </p:txBody>
      </p:sp>
      <p:sp>
        <p:nvSpPr>
          <p:cNvPr id="8" name="矩形 7">
            <a:extLst xmlns:a="http://schemas.openxmlformats.org/drawingml/2006/main">
              <a:ext uri="{FF2B5EF4-FFF2-40B4-BE49-F238E27FC236}">
                <a16:creationId xmlns:a16="http://schemas.microsoft.com/office/drawing/2014/main" id="{4445A0D0-7355-4409-8D55-FE2ACB6BF856}"/>
              </a:ext>
            </a:extLst>
          </p:cNvPr>
          <p:cNvSpPr>
            <a:spLocks xmlns:a="http://schemas.openxmlformats.org/drawingml/2006/main" noGrp="1"/>
          </p:cNvSpPr>
          <p:nvPr/>
        </p:nvSpPr>
        <p:spPr>
          <a:xfrm xmlns:a="http://schemas.openxmlformats.org/drawingml/2006/main">
            <a:off x="857250" y="1809750"/>
            <a:ext cx="2095500" cy="457200"/>
          </a:xfrm>
          <a:prstGeom xmlns:a="http://schemas.openxmlformats.org/drawingml/2006/main" prst="rect">
            <a:avLst/>
          </a:prstGeom>
          <a:solidFill xmlns:a="http://schemas.openxmlformats.org/drawingml/2006/main">
            <a:srgbClr val="315C49"/>
          </a:solidFill>
          <a:ln xmlns:a="http://schemas.openxmlformats.org/drawingml/2006/main" w="7620">
            <a:solidFill>
              <a:srgbClr val="D8D1C3"/>
            </a:solidFill>
            <a:prstDash val="solid"/>
          </a:ln>
        </p:spPr>
      </p:sp>
      <p:sp>
        <p:nvSpPr>
          <p:cNvPr id="9" name="矩形 8">
            <a:extLst xmlns:a="http://schemas.openxmlformats.org/drawingml/2006/main">
              <a:ext uri="{FF2B5EF4-FFF2-40B4-BE49-F238E27FC236}">
                <a16:creationId xmlns:a16="http://schemas.microsoft.com/office/drawing/2014/main" id="{09F86C95-080F-47CC-9C10-B104EB79AB6D}"/>
              </a:ext>
            </a:extLst>
          </p:cNvPr>
          <p:cNvSpPr>
            <a:spLocks xmlns:a="http://schemas.openxmlformats.org/drawingml/2006/main" noGrp="1"/>
          </p:cNvSpPr>
          <p:nvPr/>
        </p:nvSpPr>
        <p:spPr>
          <a:xfrm xmlns:a="http://schemas.openxmlformats.org/drawingml/2006/main">
            <a:off x="952500" y="1885950"/>
            <a:ext cx="1905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Output</a:t>
            </a:r>
          </a:p>
        </p:txBody>
      </p:sp>
      <p:sp>
        <p:nvSpPr>
          <p:cNvPr id="10" name="矩形 9">
            <a:extLst xmlns:a="http://schemas.openxmlformats.org/drawingml/2006/main">
              <a:ext uri="{FF2B5EF4-FFF2-40B4-BE49-F238E27FC236}">
                <a16:creationId xmlns:a16="http://schemas.microsoft.com/office/drawing/2014/main" id="{6C815F98-63B9-4E83-A792-E5E3B9064426}"/>
              </a:ext>
            </a:extLst>
          </p:cNvPr>
          <p:cNvSpPr>
            <a:spLocks xmlns:a="http://schemas.openxmlformats.org/drawingml/2006/main" noGrp="1"/>
          </p:cNvSpPr>
          <p:nvPr/>
        </p:nvSpPr>
        <p:spPr>
          <a:xfrm xmlns:a="http://schemas.openxmlformats.org/drawingml/2006/main">
            <a:off x="2952750" y="1809750"/>
            <a:ext cx="4095750" cy="457200"/>
          </a:xfrm>
          <a:prstGeom xmlns:a="http://schemas.openxmlformats.org/drawingml/2006/main" prst="rect">
            <a:avLst/>
          </a:prstGeom>
          <a:solidFill xmlns:a="http://schemas.openxmlformats.org/drawingml/2006/main">
            <a:srgbClr val="315C49"/>
          </a:solidFill>
          <a:ln xmlns:a="http://schemas.openxmlformats.org/drawingml/2006/main" w="7620">
            <a:solidFill>
              <a:srgbClr val="D8D1C3"/>
            </a:solidFill>
            <a:prstDash val="solid"/>
          </a:ln>
        </p:spPr>
      </p:sp>
      <p:sp>
        <p:nvSpPr>
          <p:cNvPr id="11" name="矩形 10">
            <a:extLst xmlns:a="http://schemas.openxmlformats.org/drawingml/2006/main">
              <a:ext uri="{FF2B5EF4-FFF2-40B4-BE49-F238E27FC236}">
                <a16:creationId xmlns:a16="http://schemas.microsoft.com/office/drawing/2014/main" id="{EAB2AA8A-AF68-420C-AA40-22690792D5EE}"/>
              </a:ext>
            </a:extLst>
          </p:cNvPr>
          <p:cNvSpPr>
            <a:spLocks xmlns:a="http://schemas.openxmlformats.org/drawingml/2006/main" noGrp="1"/>
          </p:cNvSpPr>
          <p:nvPr/>
        </p:nvSpPr>
        <p:spPr>
          <a:xfrm xmlns:a="http://schemas.openxmlformats.org/drawingml/2006/main">
            <a:off x="3048000" y="1885950"/>
            <a:ext cx="39052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What I did</a:t>
            </a:r>
          </a:p>
        </p:txBody>
      </p:sp>
      <p:sp>
        <p:nvSpPr>
          <p:cNvPr id="12" name="矩形 11">
            <a:extLst xmlns:a="http://schemas.openxmlformats.org/drawingml/2006/main">
              <a:ext uri="{FF2B5EF4-FFF2-40B4-BE49-F238E27FC236}">
                <a16:creationId xmlns:a16="http://schemas.microsoft.com/office/drawing/2014/main" id="{67966F74-ECC5-478E-9359-23F3A50A50C3}"/>
              </a:ext>
            </a:extLst>
          </p:cNvPr>
          <p:cNvSpPr>
            <a:spLocks xmlns:a="http://schemas.openxmlformats.org/drawingml/2006/main" noGrp="1"/>
          </p:cNvSpPr>
          <p:nvPr/>
        </p:nvSpPr>
        <p:spPr>
          <a:xfrm xmlns:a="http://schemas.openxmlformats.org/drawingml/2006/main">
            <a:off x="7048500" y="1809750"/>
            <a:ext cx="3714750" cy="457200"/>
          </a:xfrm>
          <a:prstGeom xmlns:a="http://schemas.openxmlformats.org/drawingml/2006/main" prst="rect">
            <a:avLst/>
          </a:prstGeom>
          <a:solidFill xmlns:a="http://schemas.openxmlformats.org/drawingml/2006/main">
            <a:srgbClr val="315C49"/>
          </a:solidFill>
          <a:ln xmlns:a="http://schemas.openxmlformats.org/drawingml/2006/main" w="7620">
            <a:solidFill>
              <a:srgbClr val="D8D1C3"/>
            </a:solidFill>
            <a:prstDash val="solid"/>
          </a:ln>
        </p:spPr>
      </p:sp>
      <p:sp>
        <p:nvSpPr>
          <p:cNvPr id="13" name="矩形 12">
            <a:extLst xmlns:a="http://schemas.openxmlformats.org/drawingml/2006/main">
              <a:ext uri="{FF2B5EF4-FFF2-40B4-BE49-F238E27FC236}">
                <a16:creationId xmlns:a16="http://schemas.microsoft.com/office/drawing/2014/main" id="{E9C64017-1033-4C5E-9C2F-6ACE0E506335}"/>
              </a:ext>
            </a:extLst>
          </p:cNvPr>
          <p:cNvSpPr>
            <a:spLocks xmlns:a="http://schemas.openxmlformats.org/drawingml/2006/main" noGrp="1"/>
          </p:cNvSpPr>
          <p:nvPr/>
        </p:nvSpPr>
        <p:spPr>
          <a:xfrm xmlns:a="http://schemas.openxmlformats.org/drawingml/2006/main">
            <a:off x="7143750" y="1885950"/>
            <a:ext cx="35242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Why it matters</a:t>
            </a:r>
          </a:p>
        </p:txBody>
      </p:sp>
      <p:sp>
        <p:nvSpPr>
          <p:cNvPr id="14" name="矩形 13">
            <a:extLst xmlns:a="http://schemas.openxmlformats.org/drawingml/2006/main">
              <a:ext uri="{FF2B5EF4-FFF2-40B4-BE49-F238E27FC236}">
                <a16:creationId xmlns:a16="http://schemas.microsoft.com/office/drawing/2014/main" id="{D5B095CD-5DC3-4341-9E23-99C512DE8F53}"/>
              </a:ext>
            </a:extLst>
          </p:cNvPr>
          <p:cNvSpPr>
            <a:spLocks xmlns:a="http://schemas.openxmlformats.org/drawingml/2006/main" noGrp="1"/>
          </p:cNvSpPr>
          <p:nvPr/>
        </p:nvSpPr>
        <p:spPr>
          <a:xfrm xmlns:a="http://schemas.openxmlformats.org/drawingml/2006/main">
            <a:off x="857250" y="2266950"/>
            <a:ext cx="2095500" cy="742950"/>
          </a:xfrm>
          <a:prstGeom xmlns:a="http://schemas.openxmlformats.org/drawingml/2006/main" prst="rect">
            <a:avLst/>
          </a:prstGeom>
          <a:solidFill xmlns:a="http://schemas.openxmlformats.org/drawingml/2006/main">
            <a:srgbClr val="FBF8F1"/>
          </a:solidFill>
          <a:ln xmlns:a="http://schemas.openxmlformats.org/drawingml/2006/main" w="7620">
            <a:solidFill>
              <a:srgbClr val="D8D1C3"/>
            </a:solidFill>
            <a:prstDash val="solid"/>
          </a:ln>
        </p:spPr>
      </p:sp>
      <p:sp>
        <p:nvSpPr>
          <p:cNvPr id="15" name="矩形 14">
            <a:extLst xmlns:a="http://schemas.openxmlformats.org/drawingml/2006/main">
              <a:ext uri="{FF2B5EF4-FFF2-40B4-BE49-F238E27FC236}">
                <a16:creationId xmlns:a16="http://schemas.microsoft.com/office/drawing/2014/main" id="{3AE4D640-38B5-4469-9424-901CD4624788}"/>
              </a:ext>
            </a:extLst>
          </p:cNvPr>
          <p:cNvSpPr>
            <a:spLocks xmlns:a="http://schemas.openxmlformats.org/drawingml/2006/main" noGrp="1"/>
          </p:cNvSpPr>
          <p:nvPr/>
        </p:nvSpPr>
        <p:spPr>
          <a:xfrm xmlns:a="http://schemas.openxmlformats.org/drawingml/2006/main">
            <a:off x="952500" y="2343150"/>
            <a:ext cx="1905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7201C"/>
                </a:solidFill>
                <a:latin typeface="Aptos"/>
                <a:ea typeface="Aptos"/>
                <a:cs typeface="Aptos"/>
              </a:defRPr>
            </a:pPr>
            <a:r>
              <a:rPr sz="1125" b="1">
                <a:solidFill>
                  <a:srgbClr val="17201C"/>
                </a:solidFill>
                <a:latin typeface="Aptos"/>
                <a:ea typeface="Aptos"/>
                <a:cs typeface="Aptos"/>
              </a:rPr>
              <a:t>Process-problem map</a:t>
            </a:r>
          </a:p>
        </p:txBody>
      </p:sp>
      <p:sp>
        <p:nvSpPr>
          <p:cNvPr id="16" name="矩形 15">
            <a:extLst xmlns:a="http://schemas.openxmlformats.org/drawingml/2006/main">
              <a:ext uri="{FF2B5EF4-FFF2-40B4-BE49-F238E27FC236}">
                <a16:creationId xmlns:a16="http://schemas.microsoft.com/office/drawing/2014/main" id="{C3361C8F-F913-4995-AC7B-91F83AD9E021}"/>
              </a:ext>
            </a:extLst>
          </p:cNvPr>
          <p:cNvSpPr>
            <a:spLocks xmlns:a="http://schemas.openxmlformats.org/drawingml/2006/main" noGrp="1"/>
          </p:cNvSpPr>
          <p:nvPr/>
        </p:nvSpPr>
        <p:spPr>
          <a:xfrm xmlns:a="http://schemas.openxmlformats.org/drawingml/2006/main">
            <a:off x="2952750" y="2266950"/>
            <a:ext cx="4095750" cy="742950"/>
          </a:xfrm>
          <a:prstGeom xmlns:a="http://schemas.openxmlformats.org/drawingml/2006/main" prst="rect">
            <a:avLst/>
          </a:prstGeom>
          <a:solidFill xmlns:a="http://schemas.openxmlformats.org/drawingml/2006/main">
            <a:srgbClr val="FBF8F1"/>
          </a:solidFill>
          <a:ln xmlns:a="http://schemas.openxmlformats.org/drawingml/2006/main" w="7620">
            <a:solidFill>
              <a:srgbClr val="D8D1C3"/>
            </a:solidFill>
            <a:prstDash val="solid"/>
          </a:ln>
        </p:spPr>
      </p:sp>
      <p:sp>
        <p:nvSpPr>
          <p:cNvPr id="17" name="矩形 16">
            <a:extLst xmlns:a="http://schemas.openxmlformats.org/drawingml/2006/main">
              <a:ext uri="{FF2B5EF4-FFF2-40B4-BE49-F238E27FC236}">
                <a16:creationId xmlns:a16="http://schemas.microsoft.com/office/drawing/2014/main" id="{D47E5C3B-0873-4736-B1A4-346392FF162D}"/>
              </a:ext>
            </a:extLst>
          </p:cNvPr>
          <p:cNvSpPr>
            <a:spLocks xmlns:a="http://schemas.openxmlformats.org/drawingml/2006/main" noGrp="1"/>
          </p:cNvSpPr>
          <p:nvPr/>
        </p:nvSpPr>
        <p:spPr>
          <a:xfrm xmlns:a="http://schemas.openxmlformats.org/drawingml/2006/main">
            <a:off x="3048000" y="2343150"/>
            <a:ext cx="3905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Linked process objective, quality risk, task, and robotic role.</a:t>
            </a:r>
          </a:p>
        </p:txBody>
      </p:sp>
      <p:sp>
        <p:nvSpPr>
          <p:cNvPr id="18" name="矩形 17">
            <a:extLst xmlns:a="http://schemas.openxmlformats.org/drawingml/2006/main">
              <a:ext uri="{FF2B5EF4-FFF2-40B4-BE49-F238E27FC236}">
                <a16:creationId xmlns:a16="http://schemas.microsoft.com/office/drawing/2014/main" id="{A703DDBF-B8E9-47B1-9355-2A5D252DB783}"/>
              </a:ext>
            </a:extLst>
          </p:cNvPr>
          <p:cNvSpPr>
            <a:spLocks xmlns:a="http://schemas.openxmlformats.org/drawingml/2006/main" noGrp="1"/>
          </p:cNvSpPr>
          <p:nvPr/>
        </p:nvSpPr>
        <p:spPr>
          <a:xfrm xmlns:a="http://schemas.openxmlformats.org/drawingml/2006/main">
            <a:off x="7048500" y="2266950"/>
            <a:ext cx="3714750" cy="742950"/>
          </a:xfrm>
          <a:prstGeom xmlns:a="http://schemas.openxmlformats.org/drawingml/2006/main" prst="rect">
            <a:avLst/>
          </a:prstGeom>
          <a:solidFill xmlns:a="http://schemas.openxmlformats.org/drawingml/2006/main">
            <a:srgbClr val="FBF8F1"/>
          </a:solidFill>
          <a:ln xmlns:a="http://schemas.openxmlformats.org/drawingml/2006/main" w="7620">
            <a:solidFill>
              <a:srgbClr val="D8D1C3"/>
            </a:solidFill>
            <a:prstDash val="solid"/>
          </a:ln>
        </p:spPr>
      </p:sp>
      <p:sp>
        <p:nvSpPr>
          <p:cNvPr id="19" name="矩形 18">
            <a:extLst xmlns:a="http://schemas.openxmlformats.org/drawingml/2006/main">
              <a:ext uri="{FF2B5EF4-FFF2-40B4-BE49-F238E27FC236}">
                <a16:creationId xmlns:a16="http://schemas.microsoft.com/office/drawing/2014/main" id="{B18AEFF3-779D-4C80-8B0A-1D7C675BF2F8}"/>
              </a:ext>
            </a:extLst>
          </p:cNvPr>
          <p:cNvSpPr>
            <a:spLocks xmlns:a="http://schemas.openxmlformats.org/drawingml/2006/main" noGrp="1"/>
          </p:cNvSpPr>
          <p:nvPr/>
        </p:nvSpPr>
        <p:spPr>
          <a:xfrm xmlns:a="http://schemas.openxmlformats.org/drawingml/2006/main">
            <a:off x="7143750" y="2343150"/>
            <a:ext cx="3524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Prevents technology-first case selection.</a:t>
            </a:r>
          </a:p>
        </p:txBody>
      </p:sp>
      <p:sp>
        <p:nvSpPr>
          <p:cNvPr id="20" name="矩形 19">
            <a:extLst xmlns:a="http://schemas.openxmlformats.org/drawingml/2006/main">
              <a:ext uri="{FF2B5EF4-FFF2-40B4-BE49-F238E27FC236}">
                <a16:creationId xmlns:a16="http://schemas.microsoft.com/office/drawing/2014/main" id="{D28D5AA5-E361-4C4D-BFCC-52C0446A2B18}"/>
              </a:ext>
            </a:extLst>
          </p:cNvPr>
          <p:cNvSpPr>
            <a:spLocks xmlns:a="http://schemas.openxmlformats.org/drawingml/2006/main" noGrp="1"/>
          </p:cNvSpPr>
          <p:nvPr/>
        </p:nvSpPr>
        <p:spPr>
          <a:xfrm xmlns:a="http://schemas.openxmlformats.org/drawingml/2006/main">
            <a:off x="857250" y="3009900"/>
            <a:ext cx="2095500" cy="742950"/>
          </a:xfrm>
          <a:prstGeom xmlns:a="http://schemas.openxmlformats.org/drawingml/2006/main" prst="rect">
            <a:avLst/>
          </a:prstGeom>
          <a:solidFill xmlns:a="http://schemas.openxmlformats.org/drawingml/2006/main">
            <a:srgbClr val="FFFFFF"/>
          </a:solidFill>
          <a:ln xmlns:a="http://schemas.openxmlformats.org/drawingml/2006/main" w="7620">
            <a:solidFill>
              <a:srgbClr val="D8D1C3"/>
            </a:solidFill>
            <a:prstDash val="solid"/>
          </a:ln>
        </p:spPr>
      </p:sp>
      <p:sp>
        <p:nvSpPr>
          <p:cNvPr id="21" name="矩形 20">
            <a:extLst xmlns:a="http://schemas.openxmlformats.org/drawingml/2006/main">
              <a:ext uri="{FF2B5EF4-FFF2-40B4-BE49-F238E27FC236}">
                <a16:creationId xmlns:a16="http://schemas.microsoft.com/office/drawing/2014/main" id="{7D7C2C81-CF3A-4ADF-9410-9DC6DE0B8CF2}"/>
              </a:ext>
            </a:extLst>
          </p:cNvPr>
          <p:cNvSpPr>
            <a:spLocks xmlns:a="http://schemas.openxmlformats.org/drawingml/2006/main" noGrp="1"/>
          </p:cNvSpPr>
          <p:nvPr/>
        </p:nvSpPr>
        <p:spPr>
          <a:xfrm xmlns:a="http://schemas.openxmlformats.org/drawingml/2006/main">
            <a:off x="952500" y="3086100"/>
            <a:ext cx="1905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7201C"/>
                </a:solidFill>
                <a:latin typeface="Aptos"/>
                <a:ea typeface="Aptos"/>
                <a:cs typeface="Aptos"/>
              </a:defRPr>
            </a:pPr>
            <a:r>
              <a:rPr sz="1125" b="1">
                <a:solidFill>
                  <a:srgbClr val="17201C"/>
                </a:solidFill>
                <a:latin typeface="Aptos"/>
                <a:ea typeface="Aptos"/>
                <a:cs typeface="Aptos"/>
              </a:rPr>
              <a:t>Process deep dives</a:t>
            </a:r>
          </a:p>
        </p:txBody>
      </p:sp>
      <p:sp>
        <p:nvSpPr>
          <p:cNvPr id="22" name="矩形 21">
            <a:extLst xmlns:a="http://schemas.openxmlformats.org/drawingml/2006/main">
              <a:ext uri="{FF2B5EF4-FFF2-40B4-BE49-F238E27FC236}">
                <a16:creationId xmlns:a16="http://schemas.microsoft.com/office/drawing/2014/main" id="{14FEBE67-61B3-4A42-BC56-A888C47E78D2}"/>
              </a:ext>
            </a:extLst>
          </p:cNvPr>
          <p:cNvSpPr>
            <a:spLocks xmlns:a="http://schemas.openxmlformats.org/drawingml/2006/main" noGrp="1"/>
          </p:cNvSpPr>
          <p:nvPr/>
        </p:nvSpPr>
        <p:spPr>
          <a:xfrm xmlns:a="http://schemas.openxmlformats.org/drawingml/2006/main">
            <a:off x="2952750" y="3009900"/>
            <a:ext cx="4095750" cy="742950"/>
          </a:xfrm>
          <a:prstGeom xmlns:a="http://schemas.openxmlformats.org/drawingml/2006/main" prst="rect">
            <a:avLst/>
          </a:prstGeom>
          <a:solidFill xmlns:a="http://schemas.openxmlformats.org/drawingml/2006/main">
            <a:srgbClr val="FFFFFF"/>
          </a:solidFill>
          <a:ln xmlns:a="http://schemas.openxmlformats.org/drawingml/2006/main" w="7620">
            <a:solidFill>
              <a:srgbClr val="D8D1C3"/>
            </a:solidFill>
            <a:prstDash val="solid"/>
          </a:ln>
        </p:spPr>
      </p:sp>
      <p:sp>
        <p:nvSpPr>
          <p:cNvPr id="23" name="矩形 22">
            <a:extLst xmlns:a="http://schemas.openxmlformats.org/drawingml/2006/main">
              <a:ext uri="{FF2B5EF4-FFF2-40B4-BE49-F238E27FC236}">
                <a16:creationId xmlns:a16="http://schemas.microsoft.com/office/drawing/2014/main" id="{97B7A232-009A-4411-A6AF-C34391D84245}"/>
              </a:ext>
            </a:extLst>
          </p:cNvPr>
          <p:cNvSpPr>
            <a:spLocks xmlns:a="http://schemas.openxmlformats.org/drawingml/2006/main" noGrp="1"/>
          </p:cNvSpPr>
          <p:nvPr/>
        </p:nvSpPr>
        <p:spPr>
          <a:xfrm xmlns:a="http://schemas.openxmlformats.org/drawingml/2006/main">
            <a:off x="3048000" y="3086100"/>
            <a:ext cx="3905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Studied electrode production, assembly, finishing, and vision.</a:t>
            </a:r>
          </a:p>
        </p:txBody>
      </p:sp>
      <p:sp>
        <p:nvSpPr>
          <p:cNvPr id="24" name="矩形 23">
            <a:extLst xmlns:a="http://schemas.openxmlformats.org/drawingml/2006/main">
              <a:ext uri="{FF2B5EF4-FFF2-40B4-BE49-F238E27FC236}">
                <a16:creationId xmlns:a16="http://schemas.microsoft.com/office/drawing/2014/main" id="{FC0DF377-59F5-402E-B3CC-860087AED504}"/>
              </a:ext>
            </a:extLst>
          </p:cNvPr>
          <p:cNvSpPr>
            <a:spLocks xmlns:a="http://schemas.openxmlformats.org/drawingml/2006/main" noGrp="1"/>
          </p:cNvSpPr>
          <p:nvPr/>
        </p:nvSpPr>
        <p:spPr>
          <a:xfrm xmlns:a="http://schemas.openxmlformats.org/drawingml/2006/main">
            <a:off x="7048500" y="3009900"/>
            <a:ext cx="3714750" cy="742950"/>
          </a:xfrm>
          <a:prstGeom xmlns:a="http://schemas.openxmlformats.org/drawingml/2006/main" prst="rect">
            <a:avLst/>
          </a:prstGeom>
          <a:solidFill xmlns:a="http://schemas.openxmlformats.org/drawingml/2006/main">
            <a:srgbClr val="FFFFFF"/>
          </a:solidFill>
          <a:ln xmlns:a="http://schemas.openxmlformats.org/drawingml/2006/main" w="7620">
            <a:solidFill>
              <a:srgbClr val="D8D1C3"/>
            </a:solidFill>
            <a:prstDash val="solid"/>
          </a:ln>
        </p:spPr>
      </p:sp>
      <p:sp>
        <p:nvSpPr>
          <p:cNvPr id="25" name="矩形 24">
            <a:extLst xmlns:a="http://schemas.openxmlformats.org/drawingml/2006/main">
              <a:ext uri="{FF2B5EF4-FFF2-40B4-BE49-F238E27FC236}">
                <a16:creationId xmlns:a16="http://schemas.microsoft.com/office/drawing/2014/main" id="{C3F9C5D7-21D8-45D8-965F-20B11A127692}"/>
              </a:ext>
            </a:extLst>
          </p:cNvPr>
          <p:cNvSpPr>
            <a:spLocks xmlns:a="http://schemas.openxmlformats.org/drawingml/2006/main" noGrp="1"/>
          </p:cNvSpPr>
          <p:nvPr/>
        </p:nvSpPr>
        <p:spPr>
          <a:xfrm xmlns:a="http://schemas.openxmlformats.org/drawingml/2006/main">
            <a:off x="7143750" y="3086100"/>
            <a:ext cx="3524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Defines material, environment, and quality constraints.</a:t>
            </a:r>
          </a:p>
        </p:txBody>
      </p:sp>
      <p:sp>
        <p:nvSpPr>
          <p:cNvPr id="26" name="矩形 25">
            <a:extLst xmlns:a="http://schemas.openxmlformats.org/drawingml/2006/main">
              <a:ext uri="{FF2B5EF4-FFF2-40B4-BE49-F238E27FC236}">
                <a16:creationId xmlns:a16="http://schemas.microsoft.com/office/drawing/2014/main" id="{F2CE93A6-F89F-4880-816D-E2F157F13E21}"/>
              </a:ext>
            </a:extLst>
          </p:cNvPr>
          <p:cNvSpPr>
            <a:spLocks xmlns:a="http://schemas.openxmlformats.org/drawingml/2006/main" noGrp="1"/>
          </p:cNvSpPr>
          <p:nvPr/>
        </p:nvSpPr>
        <p:spPr>
          <a:xfrm xmlns:a="http://schemas.openxmlformats.org/drawingml/2006/main">
            <a:off x="857250" y="3752850"/>
            <a:ext cx="2095500" cy="742950"/>
          </a:xfrm>
          <a:prstGeom xmlns:a="http://schemas.openxmlformats.org/drawingml/2006/main" prst="rect">
            <a:avLst/>
          </a:prstGeom>
          <a:solidFill xmlns:a="http://schemas.openxmlformats.org/drawingml/2006/main">
            <a:srgbClr val="FBF8F1"/>
          </a:solidFill>
          <a:ln xmlns:a="http://schemas.openxmlformats.org/drawingml/2006/main" w="7620">
            <a:solidFill>
              <a:srgbClr val="D8D1C3"/>
            </a:solidFill>
            <a:prstDash val="solid"/>
          </a:ln>
        </p:spPr>
      </p:sp>
      <p:sp>
        <p:nvSpPr>
          <p:cNvPr id="27" name="矩形 26">
            <a:extLst xmlns:a="http://schemas.openxmlformats.org/drawingml/2006/main">
              <a:ext uri="{FF2B5EF4-FFF2-40B4-BE49-F238E27FC236}">
                <a16:creationId xmlns:a16="http://schemas.microsoft.com/office/drawing/2014/main" id="{784E4208-32C4-4180-A659-EC747DB7E493}"/>
              </a:ext>
            </a:extLst>
          </p:cNvPr>
          <p:cNvSpPr>
            <a:spLocks xmlns:a="http://schemas.openxmlformats.org/drawingml/2006/main" noGrp="1"/>
          </p:cNvSpPr>
          <p:nvPr/>
        </p:nvSpPr>
        <p:spPr>
          <a:xfrm xmlns:a="http://schemas.openxmlformats.org/drawingml/2006/main">
            <a:off x="952500" y="3829050"/>
            <a:ext cx="1905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7201C"/>
                </a:solidFill>
                <a:latin typeface="Aptos"/>
                <a:ea typeface="Aptos"/>
                <a:cs typeface="Aptos"/>
              </a:defRPr>
            </a:pPr>
            <a:r>
              <a:rPr sz="1125" b="1">
                <a:solidFill>
                  <a:srgbClr val="17201C"/>
                </a:solidFill>
                <a:latin typeface="Aptos"/>
                <a:ea typeface="Aptos"/>
                <a:cs typeface="Aptos"/>
              </a:rPr>
              <a:t>Candidate comparison</a:t>
            </a:r>
          </a:p>
        </p:txBody>
      </p:sp>
      <p:sp>
        <p:nvSpPr>
          <p:cNvPr id="28" name="矩形 27">
            <a:extLst xmlns:a="http://schemas.openxmlformats.org/drawingml/2006/main">
              <a:ext uri="{FF2B5EF4-FFF2-40B4-BE49-F238E27FC236}">
                <a16:creationId xmlns:a16="http://schemas.microsoft.com/office/drawing/2014/main" id="{F9AAEFEF-9483-4C92-8632-A4C69B27964F}"/>
              </a:ext>
            </a:extLst>
          </p:cNvPr>
          <p:cNvSpPr>
            <a:spLocks xmlns:a="http://schemas.openxmlformats.org/drawingml/2006/main" noGrp="1"/>
          </p:cNvSpPr>
          <p:nvPr/>
        </p:nvSpPr>
        <p:spPr>
          <a:xfrm xmlns:a="http://schemas.openxmlformats.org/drawingml/2006/main">
            <a:off x="2952750" y="3752850"/>
            <a:ext cx="4095750" cy="742950"/>
          </a:xfrm>
          <a:prstGeom xmlns:a="http://schemas.openxmlformats.org/drawingml/2006/main" prst="rect">
            <a:avLst/>
          </a:prstGeom>
          <a:solidFill xmlns:a="http://schemas.openxmlformats.org/drawingml/2006/main">
            <a:srgbClr val="FBF8F1"/>
          </a:solidFill>
          <a:ln xmlns:a="http://schemas.openxmlformats.org/drawingml/2006/main" w="7620">
            <a:solidFill>
              <a:srgbClr val="D8D1C3"/>
            </a:solidFill>
            <a:prstDash val="solid"/>
          </a:ln>
        </p:spPr>
      </p:sp>
      <p:sp>
        <p:nvSpPr>
          <p:cNvPr id="29" name="矩形 28">
            <a:extLst xmlns:a="http://schemas.openxmlformats.org/drawingml/2006/main">
              <a:ext uri="{FF2B5EF4-FFF2-40B4-BE49-F238E27FC236}">
                <a16:creationId xmlns:a16="http://schemas.microsoft.com/office/drawing/2014/main" id="{B3C05742-D5E5-499D-9947-93506835180D}"/>
              </a:ext>
            </a:extLst>
          </p:cNvPr>
          <p:cNvSpPr>
            <a:spLocks xmlns:a="http://schemas.openxmlformats.org/drawingml/2006/main" noGrp="1"/>
          </p:cNvSpPr>
          <p:nvPr/>
        </p:nvSpPr>
        <p:spPr>
          <a:xfrm xmlns:a="http://schemas.openxmlformats.org/drawingml/2006/main">
            <a:off x="3048000" y="3829050"/>
            <a:ext cx="3905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Compared tray handling, AMR/AGV, vision loading, and stacking/insertion.</a:t>
            </a:r>
          </a:p>
        </p:txBody>
      </p:sp>
      <p:sp>
        <p:nvSpPr>
          <p:cNvPr id="30" name="矩形 29">
            <a:extLst xmlns:a="http://schemas.openxmlformats.org/drawingml/2006/main">
              <a:ext uri="{FF2B5EF4-FFF2-40B4-BE49-F238E27FC236}">
                <a16:creationId xmlns:a16="http://schemas.microsoft.com/office/drawing/2014/main" id="{1C0834C7-2039-472C-BEC0-87466C2E11C9}"/>
              </a:ext>
            </a:extLst>
          </p:cNvPr>
          <p:cNvSpPr>
            <a:spLocks xmlns:a="http://schemas.openxmlformats.org/drawingml/2006/main" noGrp="1"/>
          </p:cNvSpPr>
          <p:nvPr/>
        </p:nvSpPr>
        <p:spPr>
          <a:xfrm xmlns:a="http://schemas.openxmlformats.org/drawingml/2006/main">
            <a:off x="7048500" y="3752850"/>
            <a:ext cx="3714750" cy="742950"/>
          </a:xfrm>
          <a:prstGeom xmlns:a="http://schemas.openxmlformats.org/drawingml/2006/main" prst="rect">
            <a:avLst/>
          </a:prstGeom>
          <a:solidFill xmlns:a="http://schemas.openxmlformats.org/drawingml/2006/main">
            <a:srgbClr val="FBF8F1"/>
          </a:solidFill>
          <a:ln xmlns:a="http://schemas.openxmlformats.org/drawingml/2006/main" w="7620">
            <a:solidFill>
              <a:srgbClr val="D8D1C3"/>
            </a:solidFill>
            <a:prstDash val="solid"/>
          </a:ln>
        </p:spPr>
      </p:sp>
      <p:sp>
        <p:nvSpPr>
          <p:cNvPr id="31" name="矩形 30">
            <a:extLst xmlns:a="http://schemas.openxmlformats.org/drawingml/2006/main">
              <a:ext uri="{FF2B5EF4-FFF2-40B4-BE49-F238E27FC236}">
                <a16:creationId xmlns:a16="http://schemas.microsoft.com/office/drawing/2014/main" id="{EAC9261E-2D22-4B2A-B760-D3331EA7CAD3}"/>
              </a:ext>
            </a:extLst>
          </p:cNvPr>
          <p:cNvSpPr>
            <a:spLocks xmlns:a="http://schemas.openxmlformats.org/drawingml/2006/main" noGrp="1"/>
          </p:cNvSpPr>
          <p:nvPr/>
        </p:nvSpPr>
        <p:spPr>
          <a:xfrm xmlns:a="http://schemas.openxmlformats.org/drawingml/2006/main">
            <a:off x="7143750" y="3829050"/>
            <a:ext cx="3524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Creates a shortlist without premature ranking.</a:t>
            </a:r>
          </a:p>
        </p:txBody>
      </p:sp>
      <p:sp>
        <p:nvSpPr>
          <p:cNvPr id="32" name="矩形 31">
            <a:extLst xmlns:a="http://schemas.openxmlformats.org/drawingml/2006/main">
              <a:ext uri="{FF2B5EF4-FFF2-40B4-BE49-F238E27FC236}">
                <a16:creationId xmlns:a16="http://schemas.microsoft.com/office/drawing/2014/main" id="{7E6BA80B-C869-40BB-B3C0-C58BEA2EDC0E}"/>
              </a:ext>
            </a:extLst>
          </p:cNvPr>
          <p:cNvSpPr>
            <a:spLocks xmlns:a="http://schemas.openxmlformats.org/drawingml/2006/main" noGrp="1"/>
          </p:cNvSpPr>
          <p:nvPr/>
        </p:nvSpPr>
        <p:spPr>
          <a:xfrm xmlns:a="http://schemas.openxmlformats.org/drawingml/2006/main">
            <a:off x="857250" y="4495800"/>
            <a:ext cx="2095500" cy="742950"/>
          </a:xfrm>
          <a:prstGeom xmlns:a="http://schemas.openxmlformats.org/drawingml/2006/main" prst="rect">
            <a:avLst/>
          </a:prstGeom>
          <a:solidFill xmlns:a="http://schemas.openxmlformats.org/drawingml/2006/main">
            <a:srgbClr val="FFFFFF"/>
          </a:solidFill>
          <a:ln xmlns:a="http://schemas.openxmlformats.org/drawingml/2006/main" w="7620">
            <a:solidFill>
              <a:srgbClr val="D8D1C3"/>
            </a:solidFill>
            <a:prstDash val="solid"/>
          </a:ln>
        </p:spPr>
      </p:sp>
      <p:sp>
        <p:nvSpPr>
          <p:cNvPr id="33" name="矩形 32">
            <a:extLst xmlns:a="http://schemas.openxmlformats.org/drawingml/2006/main">
              <a:ext uri="{FF2B5EF4-FFF2-40B4-BE49-F238E27FC236}">
                <a16:creationId xmlns:a16="http://schemas.microsoft.com/office/drawing/2014/main" id="{C7BFE6E3-3186-4246-94E8-439B9BA71C99}"/>
              </a:ext>
            </a:extLst>
          </p:cNvPr>
          <p:cNvSpPr>
            <a:spLocks xmlns:a="http://schemas.openxmlformats.org/drawingml/2006/main" noGrp="1"/>
          </p:cNvSpPr>
          <p:nvPr/>
        </p:nvSpPr>
        <p:spPr>
          <a:xfrm xmlns:a="http://schemas.openxmlformats.org/drawingml/2006/main">
            <a:off x="952500" y="4572000"/>
            <a:ext cx="1905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7201C"/>
                </a:solidFill>
                <a:latin typeface="Aptos"/>
                <a:ea typeface="Aptos"/>
                <a:cs typeface="Aptos"/>
              </a:defRPr>
            </a:pPr>
            <a:r>
              <a:rPr sz="1125" b="1">
                <a:solidFill>
                  <a:srgbClr val="17201C"/>
                </a:solidFill>
                <a:latin typeface="Aptos"/>
                <a:ea typeface="Aptos"/>
                <a:cs typeface="Aptos"/>
              </a:rPr>
              <a:t>Evidence chain</a:t>
            </a:r>
          </a:p>
        </p:txBody>
      </p:sp>
      <p:sp>
        <p:nvSpPr>
          <p:cNvPr id="34" name="矩形 33">
            <a:extLst xmlns:a="http://schemas.openxmlformats.org/drawingml/2006/main">
              <a:ext uri="{FF2B5EF4-FFF2-40B4-BE49-F238E27FC236}">
                <a16:creationId xmlns:a16="http://schemas.microsoft.com/office/drawing/2014/main" id="{606AF5A6-A76A-4917-8852-E524D6C1D7C3}"/>
              </a:ext>
            </a:extLst>
          </p:cNvPr>
          <p:cNvSpPr>
            <a:spLocks xmlns:a="http://schemas.openxmlformats.org/drawingml/2006/main" noGrp="1"/>
          </p:cNvSpPr>
          <p:nvPr/>
        </p:nvSpPr>
        <p:spPr>
          <a:xfrm xmlns:a="http://schemas.openxmlformats.org/drawingml/2006/main">
            <a:off x="2952750" y="4495800"/>
            <a:ext cx="4095750" cy="742950"/>
          </a:xfrm>
          <a:prstGeom xmlns:a="http://schemas.openxmlformats.org/drawingml/2006/main" prst="rect">
            <a:avLst/>
          </a:prstGeom>
          <a:solidFill xmlns:a="http://schemas.openxmlformats.org/drawingml/2006/main">
            <a:srgbClr val="FFFFFF"/>
          </a:solidFill>
          <a:ln xmlns:a="http://schemas.openxmlformats.org/drawingml/2006/main" w="7620">
            <a:solidFill>
              <a:srgbClr val="D8D1C3"/>
            </a:solidFill>
            <a:prstDash val="solid"/>
          </a:ln>
        </p:spPr>
      </p:sp>
      <p:sp>
        <p:nvSpPr>
          <p:cNvPr id="35" name="矩形 34">
            <a:extLst xmlns:a="http://schemas.openxmlformats.org/drawingml/2006/main">
              <a:ext uri="{FF2B5EF4-FFF2-40B4-BE49-F238E27FC236}">
                <a16:creationId xmlns:a16="http://schemas.microsoft.com/office/drawing/2014/main" id="{61984449-24E8-4D3D-AE06-5519B7F3C218}"/>
              </a:ext>
            </a:extLst>
          </p:cNvPr>
          <p:cNvSpPr>
            <a:spLocks xmlns:a="http://schemas.openxmlformats.org/drawingml/2006/main" noGrp="1"/>
          </p:cNvSpPr>
          <p:nvPr/>
        </p:nvSpPr>
        <p:spPr>
          <a:xfrm xmlns:a="http://schemas.openxmlformats.org/drawingml/2006/main">
            <a:off x="3048000" y="4572000"/>
            <a:ext cx="3905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Recorded source, section, implication, and missing data.</a:t>
            </a:r>
          </a:p>
        </p:txBody>
      </p:sp>
      <p:sp>
        <p:nvSpPr>
          <p:cNvPr id="36" name="矩形 35">
            <a:extLst xmlns:a="http://schemas.openxmlformats.org/drawingml/2006/main">
              <a:ext uri="{FF2B5EF4-FFF2-40B4-BE49-F238E27FC236}">
                <a16:creationId xmlns:a16="http://schemas.microsoft.com/office/drawing/2014/main" id="{9548144B-9C7C-497E-9995-DA41D9E4E98E}"/>
              </a:ext>
            </a:extLst>
          </p:cNvPr>
          <p:cNvSpPr>
            <a:spLocks xmlns:a="http://schemas.openxmlformats.org/drawingml/2006/main" noGrp="1"/>
          </p:cNvSpPr>
          <p:nvPr/>
        </p:nvSpPr>
        <p:spPr>
          <a:xfrm xmlns:a="http://schemas.openxmlformats.org/drawingml/2006/main">
            <a:off x="7048500" y="4495800"/>
            <a:ext cx="3714750" cy="742950"/>
          </a:xfrm>
          <a:prstGeom xmlns:a="http://schemas.openxmlformats.org/drawingml/2006/main" prst="rect">
            <a:avLst/>
          </a:prstGeom>
          <a:solidFill xmlns:a="http://schemas.openxmlformats.org/drawingml/2006/main">
            <a:srgbClr val="FFFFFF"/>
          </a:solidFill>
          <a:ln xmlns:a="http://schemas.openxmlformats.org/drawingml/2006/main" w="7620">
            <a:solidFill>
              <a:srgbClr val="D8D1C3"/>
            </a:solidFill>
            <a:prstDash val="solid"/>
          </a:ln>
        </p:spPr>
      </p:sp>
      <p:sp>
        <p:nvSpPr>
          <p:cNvPr id="37" name="矩形 36">
            <a:extLst xmlns:a="http://schemas.openxmlformats.org/drawingml/2006/main">
              <a:ext uri="{FF2B5EF4-FFF2-40B4-BE49-F238E27FC236}">
                <a16:creationId xmlns:a16="http://schemas.microsoft.com/office/drawing/2014/main" id="{D30D8BD5-FD37-41BE-8495-D199CE681CAC}"/>
              </a:ext>
            </a:extLst>
          </p:cNvPr>
          <p:cNvSpPr>
            <a:spLocks xmlns:a="http://schemas.openxmlformats.org/drawingml/2006/main" noGrp="1"/>
          </p:cNvSpPr>
          <p:nvPr/>
        </p:nvSpPr>
        <p:spPr>
          <a:xfrm xmlns:a="http://schemas.openxmlformats.org/drawingml/2006/main">
            <a:off x="7143750" y="4572000"/>
            <a:ext cx="3524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Separates facts, engineering inference, and gaps.</a:t>
            </a:r>
          </a:p>
        </p:txBody>
      </p:sp>
    </p:spTree>
    <p:extLst>
      <p:ext uri="{BB962C8B-B14F-4D97-AF65-F5344CB8AC3E}">
        <p14:creationId xmlns:p14="http://schemas.microsoft.com/office/powerpoint/2010/main" val="67341193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7" name="矩形 26">
            <a:extLst xmlns:a="http://schemas.openxmlformats.org/drawingml/2006/main">
              <a:ext uri="{FF2B5EF4-FFF2-40B4-BE49-F238E27FC236}">
                <a16:creationId xmlns:a16="http://schemas.microsoft.com/office/drawing/2014/main" id="{C8CD10F4-E482-475D-937D-400679B030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kicker-5-marker">
            <a:extLst xmlns:a="http://schemas.openxmlformats.org/drawingml/2006/main">
              <a:ext uri="{FF2B5EF4-FFF2-40B4-BE49-F238E27FC236}">
                <a16:creationId xmlns:a16="http://schemas.microsoft.com/office/drawing/2014/main" id="{63C30FAA-40F3-4AA3-A9AE-962BACE479E7}"/>
              </a:ext>
            </a:extLst>
          </p:cNvPr>
          <p:cNvSpPr>
            <a:spLocks xmlns:a="http://schemas.openxmlformats.org/drawingml/2006/main" noGrp="1"/>
          </p:cNvSpPr>
          <p:nvPr/>
        </p:nvSpPr>
        <p:spPr>
          <a:xfrm xmlns:a="http://schemas.openxmlformats.org/drawingml/2006/main">
            <a:off x="514350" y="400050"/>
            <a:ext cx="95250" cy="95250"/>
          </a:xfrm>
          <a:prstGeom xmlns:a="http://schemas.openxmlformats.org/drawingml/2006/main" prst="ellipse">
            <a:avLst/>
          </a:prstGeom>
          <a:solidFill xmlns:a="http://schemas.openxmlformats.org/drawingml/2006/main">
            <a:srgbClr val="B46B3A"/>
          </a:solidFill>
          <a:ln xmlns:a="http://schemas.openxmlformats.org/drawingml/2006/main" w="0">
            <a:solidFill>
              <a:srgbClr val="000000">
                <a:alpha val="0"/>
              </a:srgbClr>
            </a:solidFill>
            <a:prstDash val="solid"/>
          </a:ln>
        </p:spPr>
      </p:sp>
      <p:sp>
        <p:nvSpPr>
          <p:cNvPr id="3" name="kicker-5-label">
            <a:extLst xmlns:a="http://schemas.openxmlformats.org/drawingml/2006/main">
              <a:ext uri="{FF2B5EF4-FFF2-40B4-BE49-F238E27FC236}">
                <a16:creationId xmlns:a16="http://schemas.microsoft.com/office/drawing/2014/main" id="{D67F532F-1B89-4E15-B090-50A0AD8D5159}"/>
              </a:ext>
            </a:extLst>
          </p:cNvPr>
          <p:cNvSpPr>
            <a:spLocks xmlns:a="http://schemas.openxmlformats.org/drawingml/2006/main" noGrp="1"/>
          </p:cNvSpPr>
          <p:nvPr/>
        </p:nvSpPr>
        <p:spPr>
          <a:xfrm xmlns:a="http://schemas.openxmlformats.org/drawingml/2006/main">
            <a:off x="704850" y="323850"/>
            <a:ext cx="495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38" b="1">
                <a:solidFill>
                  <a:srgbClr val="315C49"/>
                </a:solidFill>
                <a:latin typeface="Aptos"/>
                <a:ea typeface="Aptos"/>
                <a:cs typeface="Aptos"/>
              </a:defRPr>
            </a:pPr>
            <a:r>
              <a:rPr sz="938" b="1">
                <a:solidFill>
                  <a:srgbClr val="315C49"/>
                </a:solidFill>
                <a:latin typeface="Aptos"/>
                <a:ea typeface="Aptos"/>
                <a:cs typeface="Aptos"/>
              </a:rPr>
              <a:t>WHAT I LEARNED</a:t>
            </a:r>
          </a:p>
        </p:txBody>
      </p:sp>
      <p:sp>
        <p:nvSpPr>
          <p:cNvPr id="4" name="矩形 3">
            <a:extLst xmlns:a="http://schemas.openxmlformats.org/drawingml/2006/main">
              <a:ext uri="{FF2B5EF4-FFF2-40B4-BE49-F238E27FC236}">
                <a16:creationId xmlns:a16="http://schemas.microsoft.com/office/drawing/2014/main" id="{8ECC49A7-01B0-4E79-A4C3-3E9765B503FD}"/>
              </a:ext>
            </a:extLst>
          </p:cNvPr>
          <p:cNvSpPr>
            <a:spLocks xmlns:a="http://schemas.openxmlformats.org/drawingml/2006/main" noGrp="1"/>
          </p:cNvSpPr>
          <p:nvPr/>
        </p:nvSpPr>
        <p:spPr>
          <a:xfrm xmlns:a="http://schemas.openxmlformats.org/drawingml/2006/main">
            <a:off x="514350" y="742950"/>
            <a:ext cx="9906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700" b="1">
                <a:solidFill>
                  <a:srgbClr val="17201C"/>
                </a:solidFill>
                <a:latin typeface="Aptos Display"/>
                <a:ea typeface="Aptos Display"/>
                <a:cs typeface="Aptos Display"/>
              </a:defRPr>
            </a:pPr>
            <a:r>
              <a:rPr sz="2700" b="1">
                <a:solidFill>
                  <a:srgbClr val="17201C"/>
                </a:solidFill>
                <a:latin typeface="Aptos Display"/>
                <a:ea typeface="Aptos Display"/>
                <a:cs typeface="Aptos Display"/>
              </a:rPr>
              <a:t>Three production stages require three different robotics logics.</a:t>
            </a:r>
          </a:p>
        </p:txBody>
      </p:sp>
      <p:sp>
        <p:nvSpPr>
          <p:cNvPr id="5" name="矩形 4">
            <a:extLst xmlns:a="http://schemas.openxmlformats.org/drawingml/2006/main">
              <a:ext uri="{FF2B5EF4-FFF2-40B4-BE49-F238E27FC236}">
                <a16:creationId xmlns:a16="http://schemas.microsoft.com/office/drawing/2014/main" id="{E6EAD11E-BE2C-41D4-AA37-C17118AF8E72}"/>
              </a:ext>
            </a:extLst>
          </p:cNvPr>
          <p:cNvSpPr>
            <a:spLocks xmlns:a="http://schemas.openxmlformats.org/drawingml/2006/main" noGrp="1"/>
          </p:cNvSpPr>
          <p:nvPr/>
        </p:nvSpPr>
        <p:spPr>
          <a:xfrm xmlns:a="http://schemas.openxmlformats.org/drawingml/2006/main">
            <a:off x="514350" y="6153150"/>
            <a:ext cx="9620250" cy="11430"/>
          </a:xfrm>
          <a:prstGeom xmlns:a="http://schemas.openxmlformats.org/drawingml/2006/main" prst="rect">
            <a:avLst/>
          </a:prstGeom>
          <a:solidFill xmlns:a="http://schemas.openxmlformats.org/drawingml/2006/main">
            <a:srgbClr val="D8D1C3"/>
          </a:solidFill>
          <a:ln xmlns:a="http://schemas.openxmlformats.org/drawingml/2006/main" w="0">
            <a:solidFill>
              <a:srgbClr val="000000">
                <a:alpha val="0"/>
              </a:srgbClr>
            </a:solidFill>
            <a:prstDash val="solid"/>
          </a:ln>
        </p:spPr>
      </p:sp>
      <p:sp>
        <p:nvSpPr>
          <p:cNvPr id="6" name="矩形 5">
            <a:extLst xmlns:a="http://schemas.openxmlformats.org/drawingml/2006/main">
              <a:ext uri="{FF2B5EF4-FFF2-40B4-BE49-F238E27FC236}">
                <a16:creationId xmlns:a16="http://schemas.microsoft.com/office/drawing/2014/main" id="{3AA60F74-8C0F-4973-B394-AB6316298B72}"/>
              </a:ext>
            </a:extLst>
          </p:cNvPr>
          <p:cNvSpPr>
            <a:spLocks xmlns:a="http://schemas.openxmlformats.org/drawingml/2006/main" noGrp="1"/>
          </p:cNvSpPr>
          <p:nvPr/>
        </p:nvSpPr>
        <p:spPr>
          <a:xfrm xmlns:a="http://schemas.openxmlformats.org/drawingml/2006/main">
            <a:off x="514350" y="6257925"/>
            <a:ext cx="685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13" b="0">
                <a:solidFill>
                  <a:srgbClr val="5E625D"/>
                </a:solidFill>
                <a:latin typeface="Aptos"/>
                <a:ea typeface="Aptos"/>
                <a:cs typeface="Aptos"/>
              </a:defRPr>
            </a:pPr>
            <a:r>
              <a:rPr sz="713" b="0">
                <a:solidFill>
                  <a:srgbClr val="5E625D"/>
                </a:solidFill>
                <a:latin typeface="Aptos"/>
                <a:ea typeface="Aptos"/>
                <a:cs typeface="Aptos"/>
              </a:rPr>
              <a:t>Week 02 group meeting | Robotic systems in battery manufacturing</a:t>
            </a:r>
          </a:p>
        </p:txBody>
      </p:sp>
      <p:sp>
        <p:nvSpPr>
          <p:cNvPr id="7" name="矩形 6">
            <a:extLst xmlns:a="http://schemas.openxmlformats.org/drawingml/2006/main">
              <a:ext uri="{FF2B5EF4-FFF2-40B4-BE49-F238E27FC236}">
                <a16:creationId xmlns:a16="http://schemas.microsoft.com/office/drawing/2014/main" id="{A1CE26EC-70B0-453B-88F1-07A87BE55F33}"/>
              </a:ext>
            </a:extLst>
          </p:cNvPr>
          <p:cNvSpPr>
            <a:spLocks xmlns:a="http://schemas.openxmlformats.org/drawingml/2006/main" noGrp="1"/>
          </p:cNvSpPr>
          <p:nvPr/>
        </p:nvSpPr>
        <p:spPr>
          <a:xfrm xmlns:a="http://schemas.openxmlformats.org/drawingml/2006/main">
            <a:off x="11049000" y="62293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00" b="1">
                <a:solidFill>
                  <a:srgbClr val="315C49"/>
                </a:solidFill>
                <a:latin typeface="Aptos"/>
                <a:ea typeface="Aptos"/>
                <a:cs typeface="Aptos"/>
              </a:defRPr>
            </a:pPr>
            <a:r>
              <a:rPr sz="900" b="1">
                <a:solidFill>
                  <a:srgbClr val="315C49"/>
                </a:solidFill>
                <a:latin typeface="Aptos"/>
                <a:ea typeface="Aptos"/>
                <a:cs typeface="Aptos"/>
              </a:rPr>
              <a:t>03</a:t>
            </a:r>
          </a:p>
        </p:txBody>
      </p:sp>
      <p:sp>
        <p:nvSpPr>
          <p:cNvPr id="8" name="矩形 7">
            <a:extLst xmlns:a="http://schemas.openxmlformats.org/drawingml/2006/main">
              <a:ext uri="{FF2B5EF4-FFF2-40B4-BE49-F238E27FC236}">
                <a16:creationId xmlns:a16="http://schemas.microsoft.com/office/drawing/2014/main" id="{5B255AAE-F081-4962-9CB7-59334E13D464}"/>
              </a:ext>
            </a:extLst>
          </p:cNvPr>
          <p:cNvSpPr>
            <a:spLocks xmlns:a="http://schemas.openxmlformats.org/drawingml/2006/main" noGrp="1"/>
          </p:cNvSpPr>
          <p:nvPr/>
        </p:nvSpPr>
        <p:spPr>
          <a:xfrm xmlns:a="http://schemas.openxmlformats.org/drawingml/2006/main">
            <a:off x="685800" y="1952625"/>
            <a:ext cx="3190875" cy="2333625"/>
          </a:xfrm>
          <a:prstGeom xmlns:a="http://schemas.openxmlformats.org/drawingml/2006/main" prst="rect">
            <a:avLst/>
          </a:prstGeom>
          <a:solidFill xmlns:a="http://schemas.openxmlformats.org/drawingml/2006/main">
            <a:srgbClr val="FFFFFF"/>
          </a:solidFill>
          <a:ln xmlns:a="http://schemas.openxmlformats.org/drawingml/2006/main" w="9525">
            <a:solidFill>
              <a:srgbClr val="D8D1C3"/>
            </a:solidFill>
            <a:prstDash val="solid"/>
          </a:ln>
        </p:spPr>
      </p:sp>
      <p:sp>
        <p:nvSpPr>
          <p:cNvPr id="9" name="矩形 8">
            <a:extLst xmlns:a="http://schemas.openxmlformats.org/drawingml/2006/main">
              <a:ext uri="{FF2B5EF4-FFF2-40B4-BE49-F238E27FC236}">
                <a16:creationId xmlns:a16="http://schemas.microsoft.com/office/drawing/2014/main" id="{068BEA1D-F9B5-465B-A018-56C952544DBC}"/>
              </a:ext>
            </a:extLst>
          </p:cNvPr>
          <p:cNvSpPr>
            <a:spLocks xmlns:a="http://schemas.openxmlformats.org/drawingml/2006/main" noGrp="1"/>
          </p:cNvSpPr>
          <p:nvPr/>
        </p:nvSpPr>
        <p:spPr>
          <a:xfrm xmlns:a="http://schemas.openxmlformats.org/drawingml/2006/main">
            <a:off x="685800" y="1952625"/>
            <a:ext cx="3190875" cy="66675"/>
          </a:xfrm>
          <a:prstGeom xmlns:a="http://schemas.openxmlformats.org/drawingml/2006/main" prst="rect">
            <a:avLst/>
          </a:prstGeom>
          <a:solidFill xmlns:a="http://schemas.openxmlformats.org/drawingml/2006/main">
            <a:srgbClr val="315C49"/>
          </a:solidFill>
          <a:ln xmlns:a="http://schemas.openxmlformats.org/drawingml/2006/main" w="0">
            <a:solidFill>
              <a:srgbClr val="000000">
                <a:alpha val="0"/>
              </a:srgbClr>
            </a:solidFill>
            <a:prstDash val="solid"/>
          </a:ln>
        </p:spPr>
      </p:sp>
      <p:sp>
        <p:nvSpPr>
          <p:cNvPr id="10" name="矩形 9">
            <a:extLst xmlns:a="http://schemas.openxmlformats.org/drawingml/2006/main">
              <a:ext uri="{FF2B5EF4-FFF2-40B4-BE49-F238E27FC236}">
                <a16:creationId xmlns:a16="http://schemas.microsoft.com/office/drawing/2014/main" id="{7B8A6173-F37E-4E7D-8523-64548DFB875A}"/>
              </a:ext>
            </a:extLst>
          </p:cNvPr>
          <p:cNvSpPr>
            <a:spLocks xmlns:a="http://schemas.openxmlformats.org/drawingml/2006/main" noGrp="1"/>
          </p:cNvSpPr>
          <p:nvPr/>
        </p:nvSpPr>
        <p:spPr>
          <a:xfrm xmlns:a="http://schemas.openxmlformats.org/drawingml/2006/main">
            <a:off x="876300" y="2190750"/>
            <a:ext cx="280987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Electrode manufacturing</a:t>
            </a:r>
          </a:p>
        </p:txBody>
      </p:sp>
      <p:sp>
        <p:nvSpPr>
          <p:cNvPr id="11" name="矩形 10">
            <a:extLst xmlns:a="http://schemas.openxmlformats.org/drawingml/2006/main">
              <a:ext uri="{FF2B5EF4-FFF2-40B4-BE49-F238E27FC236}">
                <a16:creationId xmlns:a16="http://schemas.microsoft.com/office/drawing/2014/main" id="{0909B475-0F05-4863-AE50-61BC4A463E59}"/>
              </a:ext>
            </a:extLst>
          </p:cNvPr>
          <p:cNvSpPr>
            <a:spLocks xmlns:a="http://schemas.openxmlformats.org/drawingml/2006/main" noGrp="1"/>
          </p:cNvSpPr>
          <p:nvPr/>
        </p:nvSpPr>
        <p:spPr>
          <a:xfrm xmlns:a="http://schemas.openxmlformats.org/drawingml/2006/main">
            <a:off x="876300" y="2619375"/>
            <a:ext cx="2809875" cy="14954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Continuous web processes</a:t>
            </a:r>
          </a:p>
          <a:p xmlns:a="http://schemas.openxmlformats.org/drawingml/2006/main">
            <a:r>
              <a:t/>
            </a:r>
          </a:p>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Robotics mainly supports logistics, sampling, inspection, and material flow.</a:t>
            </a:r>
          </a:p>
        </p:txBody>
      </p:sp>
      <p:sp>
        <p:nvSpPr>
          <p:cNvPr id="12" name="矩形 11">
            <a:extLst xmlns:a="http://schemas.openxmlformats.org/drawingml/2006/main">
              <a:ext uri="{FF2B5EF4-FFF2-40B4-BE49-F238E27FC236}">
                <a16:creationId xmlns:a16="http://schemas.microsoft.com/office/drawing/2014/main" id="{3F95733E-3F1B-4F91-8AEA-CF80455BB6A2}"/>
              </a:ext>
            </a:extLst>
          </p:cNvPr>
          <p:cNvSpPr>
            <a:spLocks xmlns:a="http://schemas.openxmlformats.org/drawingml/2006/main" noGrp="1"/>
          </p:cNvSpPr>
          <p:nvPr/>
        </p:nvSpPr>
        <p:spPr>
          <a:xfrm xmlns:a="http://schemas.openxmlformats.org/drawingml/2006/main">
            <a:off x="1333500" y="4524375"/>
            <a:ext cx="1905000" cy="304800"/>
          </a:xfrm>
          <a:prstGeom xmlns:a="http://schemas.openxmlformats.org/drawingml/2006/main" prst="rect">
            <a:avLst/>
          </a:prstGeom>
          <a:solidFill xmlns:a="http://schemas.openxmlformats.org/drawingml/2006/main">
            <a:srgbClr val="DDE8DF"/>
          </a:solidFill>
          <a:ln xmlns:a="http://schemas.openxmlformats.org/drawingml/2006/main" w="0">
            <a:solidFill>
              <a:srgbClr val="000000">
                <a:alpha val="0"/>
              </a:srgbClr>
            </a:solidFill>
            <a:prstDash val="solid"/>
          </a:ln>
        </p:spPr>
      </p:sp>
      <p:sp>
        <p:nvSpPr>
          <p:cNvPr id="13" name="矩形 12">
            <a:extLst xmlns:a="http://schemas.openxmlformats.org/drawingml/2006/main">
              <a:ext uri="{FF2B5EF4-FFF2-40B4-BE49-F238E27FC236}">
                <a16:creationId xmlns:a16="http://schemas.microsoft.com/office/drawing/2014/main" id="{293FBCB0-9638-4111-A761-6A11F45F0AA6}"/>
              </a:ext>
            </a:extLst>
          </p:cNvPr>
          <p:cNvSpPr>
            <a:spLocks xmlns:a="http://schemas.openxmlformats.org/drawingml/2006/main" noGrp="1"/>
          </p:cNvSpPr>
          <p:nvPr/>
        </p:nvSpPr>
        <p:spPr>
          <a:xfrm xmlns:a="http://schemas.openxmlformats.org/drawingml/2006/main">
            <a:off x="1409700" y="4572000"/>
            <a:ext cx="1752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938" b="1">
                <a:solidFill>
                  <a:srgbClr val="315C49"/>
                </a:solidFill>
                <a:latin typeface="Aptos"/>
                <a:ea typeface="Aptos"/>
                <a:cs typeface="Aptos"/>
              </a:defRPr>
            </a:pPr>
            <a:r>
              <a:rPr sz="938" b="1">
                <a:solidFill>
                  <a:srgbClr val="315C49"/>
                </a:solidFill>
                <a:latin typeface="Aptos"/>
                <a:ea typeface="Aptos"/>
                <a:cs typeface="Aptos"/>
              </a:rPr>
              <a:t>Peripheral support</a:t>
            </a:r>
          </a:p>
        </p:txBody>
      </p:sp>
      <p:sp>
        <p:nvSpPr>
          <p:cNvPr id="14" name="矩形 13">
            <a:extLst xmlns:a="http://schemas.openxmlformats.org/drawingml/2006/main">
              <a:ext uri="{FF2B5EF4-FFF2-40B4-BE49-F238E27FC236}">
                <a16:creationId xmlns:a16="http://schemas.microsoft.com/office/drawing/2014/main" id="{2F6A1DCB-59F8-4582-AF1F-FE80A00D4D29}"/>
              </a:ext>
            </a:extLst>
          </p:cNvPr>
          <p:cNvSpPr>
            <a:spLocks xmlns:a="http://schemas.openxmlformats.org/drawingml/2006/main" noGrp="1"/>
          </p:cNvSpPr>
          <p:nvPr/>
        </p:nvSpPr>
        <p:spPr>
          <a:xfrm xmlns:a="http://schemas.openxmlformats.org/drawingml/2006/main">
            <a:off x="4495800" y="1952625"/>
            <a:ext cx="3190875" cy="2333625"/>
          </a:xfrm>
          <a:prstGeom xmlns:a="http://schemas.openxmlformats.org/drawingml/2006/main" prst="rect">
            <a:avLst/>
          </a:prstGeom>
          <a:solidFill xmlns:a="http://schemas.openxmlformats.org/drawingml/2006/main">
            <a:srgbClr val="FFFFFF"/>
          </a:solidFill>
          <a:ln xmlns:a="http://schemas.openxmlformats.org/drawingml/2006/main" w="9525">
            <a:solidFill>
              <a:srgbClr val="D8D1C3"/>
            </a:solidFill>
            <a:prstDash val="solid"/>
          </a:ln>
        </p:spPr>
      </p:sp>
      <p:sp>
        <p:nvSpPr>
          <p:cNvPr id="15" name="矩形 14">
            <a:extLst xmlns:a="http://schemas.openxmlformats.org/drawingml/2006/main">
              <a:ext uri="{FF2B5EF4-FFF2-40B4-BE49-F238E27FC236}">
                <a16:creationId xmlns:a16="http://schemas.microsoft.com/office/drawing/2014/main" id="{AE1FCEE6-2655-43A4-8AF0-947BD2605CF8}"/>
              </a:ext>
            </a:extLst>
          </p:cNvPr>
          <p:cNvSpPr>
            <a:spLocks xmlns:a="http://schemas.openxmlformats.org/drawingml/2006/main" noGrp="1"/>
          </p:cNvSpPr>
          <p:nvPr/>
        </p:nvSpPr>
        <p:spPr>
          <a:xfrm xmlns:a="http://schemas.openxmlformats.org/drawingml/2006/main">
            <a:off x="4495800" y="1952625"/>
            <a:ext cx="3190875" cy="66675"/>
          </a:xfrm>
          <a:prstGeom xmlns:a="http://schemas.openxmlformats.org/drawingml/2006/main" prst="rect">
            <a:avLst/>
          </a:prstGeom>
          <a:solidFill xmlns:a="http://schemas.openxmlformats.org/drawingml/2006/main">
            <a:srgbClr val="B46B3A"/>
          </a:solidFill>
          <a:ln xmlns:a="http://schemas.openxmlformats.org/drawingml/2006/main" w="0">
            <a:solidFill>
              <a:srgbClr val="000000">
                <a:alpha val="0"/>
              </a:srgbClr>
            </a:solidFill>
            <a:prstDash val="solid"/>
          </a:ln>
        </p:spPr>
      </p:sp>
      <p:sp>
        <p:nvSpPr>
          <p:cNvPr id="16" name="矩形 15">
            <a:extLst xmlns:a="http://schemas.openxmlformats.org/drawingml/2006/main">
              <a:ext uri="{FF2B5EF4-FFF2-40B4-BE49-F238E27FC236}">
                <a16:creationId xmlns:a16="http://schemas.microsoft.com/office/drawing/2014/main" id="{EFEC5772-FF10-4196-B255-A7A1549B1798}"/>
              </a:ext>
            </a:extLst>
          </p:cNvPr>
          <p:cNvSpPr>
            <a:spLocks xmlns:a="http://schemas.openxmlformats.org/drawingml/2006/main" noGrp="1"/>
          </p:cNvSpPr>
          <p:nvPr/>
        </p:nvSpPr>
        <p:spPr>
          <a:xfrm xmlns:a="http://schemas.openxmlformats.org/drawingml/2006/main">
            <a:off x="4686300" y="2190750"/>
            <a:ext cx="280987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Cell assembly</a:t>
            </a:r>
          </a:p>
        </p:txBody>
      </p:sp>
      <p:sp>
        <p:nvSpPr>
          <p:cNvPr id="17" name="矩形 16">
            <a:extLst xmlns:a="http://schemas.openxmlformats.org/drawingml/2006/main">
              <a:ext uri="{FF2B5EF4-FFF2-40B4-BE49-F238E27FC236}">
                <a16:creationId xmlns:a16="http://schemas.microsoft.com/office/drawing/2014/main" id="{6CEA8F51-AA59-461B-BA8A-7D001B0059E9}"/>
              </a:ext>
            </a:extLst>
          </p:cNvPr>
          <p:cNvSpPr>
            <a:spLocks xmlns:a="http://schemas.openxmlformats.org/drawingml/2006/main" noGrp="1"/>
          </p:cNvSpPr>
          <p:nvPr/>
        </p:nvSpPr>
        <p:spPr>
          <a:xfrm xmlns:a="http://schemas.openxmlformats.org/drawingml/2006/main">
            <a:off x="4686300" y="2619375"/>
            <a:ext cx="2809875" cy="14954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Thin and flexible components</a:t>
            </a:r>
          </a:p>
          <a:p xmlns:a="http://schemas.openxmlformats.org/drawingml/2006/main">
            <a:r>
              <a:t/>
            </a:r>
          </a:p>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Precision, damage-free handling, vision, and grippers are critical.</a:t>
            </a:r>
          </a:p>
        </p:txBody>
      </p:sp>
      <p:sp>
        <p:nvSpPr>
          <p:cNvPr id="18" name="矩形 17">
            <a:extLst xmlns:a="http://schemas.openxmlformats.org/drawingml/2006/main">
              <a:ext uri="{FF2B5EF4-FFF2-40B4-BE49-F238E27FC236}">
                <a16:creationId xmlns:a16="http://schemas.microsoft.com/office/drawing/2014/main" id="{B8DA2B8D-FF9E-4A8D-85A8-A1B5CE93EFAB}"/>
              </a:ext>
            </a:extLst>
          </p:cNvPr>
          <p:cNvSpPr>
            <a:spLocks xmlns:a="http://schemas.openxmlformats.org/drawingml/2006/main" noGrp="1"/>
          </p:cNvSpPr>
          <p:nvPr/>
        </p:nvSpPr>
        <p:spPr>
          <a:xfrm xmlns:a="http://schemas.openxmlformats.org/drawingml/2006/main">
            <a:off x="5143500" y="4524375"/>
            <a:ext cx="1905000" cy="304800"/>
          </a:xfrm>
          <a:prstGeom xmlns:a="http://schemas.openxmlformats.org/drawingml/2006/main" prst="rect">
            <a:avLst/>
          </a:prstGeom>
          <a:solidFill xmlns:a="http://schemas.openxmlformats.org/drawingml/2006/main">
            <a:srgbClr val="F1DDCF"/>
          </a:solidFill>
          <a:ln xmlns:a="http://schemas.openxmlformats.org/drawingml/2006/main" w="0">
            <a:solidFill>
              <a:srgbClr val="000000">
                <a:alpha val="0"/>
              </a:srgbClr>
            </a:solidFill>
            <a:prstDash val="solid"/>
          </a:ln>
        </p:spPr>
      </p:sp>
      <p:sp>
        <p:nvSpPr>
          <p:cNvPr id="19" name="矩形 18">
            <a:extLst xmlns:a="http://schemas.openxmlformats.org/drawingml/2006/main">
              <a:ext uri="{FF2B5EF4-FFF2-40B4-BE49-F238E27FC236}">
                <a16:creationId xmlns:a16="http://schemas.microsoft.com/office/drawing/2014/main" id="{6A0DDB4D-FAB9-4B80-AF16-289E2A46E642}"/>
              </a:ext>
            </a:extLst>
          </p:cNvPr>
          <p:cNvSpPr>
            <a:spLocks xmlns:a="http://schemas.openxmlformats.org/drawingml/2006/main" noGrp="1"/>
          </p:cNvSpPr>
          <p:nvPr/>
        </p:nvSpPr>
        <p:spPr>
          <a:xfrm xmlns:a="http://schemas.openxmlformats.org/drawingml/2006/main">
            <a:off x="5219700" y="4572000"/>
            <a:ext cx="1752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938" b="1">
                <a:solidFill>
                  <a:srgbClr val="B46B3A"/>
                </a:solidFill>
                <a:latin typeface="Aptos"/>
                <a:ea typeface="Aptos"/>
                <a:cs typeface="Aptos"/>
              </a:defRPr>
            </a:pPr>
            <a:r>
              <a:rPr sz="938" b="1">
                <a:solidFill>
                  <a:srgbClr val="B46B3A"/>
                </a:solidFill>
                <a:latin typeface="Aptos"/>
                <a:ea typeface="Aptos"/>
                <a:cs typeface="Aptos"/>
              </a:rPr>
              <a:t>High technical difficulty</a:t>
            </a:r>
          </a:p>
        </p:txBody>
      </p:sp>
      <p:sp>
        <p:nvSpPr>
          <p:cNvPr id="20" name="矩形 19">
            <a:extLst xmlns:a="http://schemas.openxmlformats.org/drawingml/2006/main">
              <a:ext uri="{FF2B5EF4-FFF2-40B4-BE49-F238E27FC236}">
                <a16:creationId xmlns:a16="http://schemas.microsoft.com/office/drawing/2014/main" id="{1BF41D8E-1ED4-4CA0-896F-CCCA5C416811}"/>
              </a:ext>
            </a:extLst>
          </p:cNvPr>
          <p:cNvSpPr>
            <a:spLocks xmlns:a="http://schemas.openxmlformats.org/drawingml/2006/main" noGrp="1"/>
          </p:cNvSpPr>
          <p:nvPr/>
        </p:nvSpPr>
        <p:spPr>
          <a:xfrm xmlns:a="http://schemas.openxmlformats.org/drawingml/2006/main">
            <a:off x="8305800" y="1952625"/>
            <a:ext cx="3190875" cy="2333625"/>
          </a:xfrm>
          <a:prstGeom xmlns:a="http://schemas.openxmlformats.org/drawingml/2006/main" prst="rect">
            <a:avLst/>
          </a:prstGeom>
          <a:solidFill xmlns:a="http://schemas.openxmlformats.org/drawingml/2006/main">
            <a:srgbClr val="FFFFFF"/>
          </a:solidFill>
          <a:ln xmlns:a="http://schemas.openxmlformats.org/drawingml/2006/main" w="9525">
            <a:solidFill>
              <a:srgbClr val="D8D1C3"/>
            </a:solidFill>
            <a:prstDash val="solid"/>
          </a:ln>
        </p:spPr>
      </p:sp>
      <p:sp>
        <p:nvSpPr>
          <p:cNvPr id="21" name="矩形 20">
            <a:extLst xmlns:a="http://schemas.openxmlformats.org/drawingml/2006/main">
              <a:ext uri="{FF2B5EF4-FFF2-40B4-BE49-F238E27FC236}">
                <a16:creationId xmlns:a16="http://schemas.microsoft.com/office/drawing/2014/main" id="{7DFA5472-0477-4574-A99E-BA897E1E4EBD}"/>
              </a:ext>
            </a:extLst>
          </p:cNvPr>
          <p:cNvSpPr>
            <a:spLocks xmlns:a="http://schemas.openxmlformats.org/drawingml/2006/main" noGrp="1"/>
          </p:cNvSpPr>
          <p:nvPr/>
        </p:nvSpPr>
        <p:spPr>
          <a:xfrm xmlns:a="http://schemas.openxmlformats.org/drawingml/2006/main">
            <a:off x="8305800" y="1952625"/>
            <a:ext cx="3190875" cy="66675"/>
          </a:xfrm>
          <a:prstGeom xmlns:a="http://schemas.openxmlformats.org/drawingml/2006/main" prst="rect">
            <a:avLst/>
          </a:prstGeom>
          <a:solidFill xmlns:a="http://schemas.openxmlformats.org/drawingml/2006/main">
            <a:srgbClr val="597389"/>
          </a:solidFill>
          <a:ln xmlns:a="http://schemas.openxmlformats.org/drawingml/2006/main" w="0">
            <a:solidFill>
              <a:srgbClr val="000000">
                <a:alpha val="0"/>
              </a:srgbClr>
            </a:solidFill>
            <a:prstDash val="solid"/>
          </a:ln>
        </p:spPr>
      </p:sp>
      <p:sp>
        <p:nvSpPr>
          <p:cNvPr id="22" name="矩形 21">
            <a:extLst xmlns:a="http://schemas.openxmlformats.org/drawingml/2006/main">
              <a:ext uri="{FF2B5EF4-FFF2-40B4-BE49-F238E27FC236}">
                <a16:creationId xmlns:a16="http://schemas.microsoft.com/office/drawing/2014/main" id="{2AE841EA-4FF3-4E9F-84C1-6F4CF60F071B}"/>
              </a:ext>
            </a:extLst>
          </p:cNvPr>
          <p:cNvSpPr>
            <a:spLocks xmlns:a="http://schemas.openxmlformats.org/drawingml/2006/main" noGrp="1"/>
          </p:cNvSpPr>
          <p:nvPr/>
        </p:nvSpPr>
        <p:spPr>
          <a:xfrm xmlns:a="http://schemas.openxmlformats.org/drawingml/2006/main">
            <a:off x="8496300" y="2190750"/>
            <a:ext cx="280987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Cell finishing</a:t>
            </a:r>
          </a:p>
        </p:txBody>
      </p:sp>
      <p:sp>
        <p:nvSpPr>
          <p:cNvPr id="23" name="矩形 22">
            <a:extLst xmlns:a="http://schemas.openxmlformats.org/drawingml/2006/main">
              <a:ext uri="{FF2B5EF4-FFF2-40B4-BE49-F238E27FC236}">
                <a16:creationId xmlns:a16="http://schemas.microsoft.com/office/drawing/2014/main" id="{E642F8A4-172D-4956-9298-4E9D0FAECC48}"/>
              </a:ext>
            </a:extLst>
          </p:cNvPr>
          <p:cNvSpPr>
            <a:spLocks xmlns:a="http://schemas.openxmlformats.org/drawingml/2006/main" noGrp="1"/>
          </p:cNvSpPr>
          <p:nvPr/>
        </p:nvSpPr>
        <p:spPr>
          <a:xfrm xmlns:a="http://schemas.openxmlformats.org/drawingml/2006/main">
            <a:off x="8496300" y="2619375"/>
            <a:ext cx="2809875" cy="14954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Sealed cells, trays, testing, and long WIP</a:t>
            </a:r>
          </a:p>
          <a:p xmlns:a="http://schemas.openxmlformats.org/drawingml/2006/main">
            <a:r>
              <a:t/>
            </a:r>
          </a:p>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Handling, logistics, safety, and traceability dominate.</a:t>
            </a:r>
          </a:p>
        </p:txBody>
      </p:sp>
      <p:sp>
        <p:nvSpPr>
          <p:cNvPr id="24" name="矩形 23">
            <a:extLst xmlns:a="http://schemas.openxmlformats.org/drawingml/2006/main">
              <a:ext uri="{FF2B5EF4-FFF2-40B4-BE49-F238E27FC236}">
                <a16:creationId xmlns:a16="http://schemas.microsoft.com/office/drawing/2014/main" id="{C47A4A78-5257-4EE8-AC04-7F45686B58B1}"/>
              </a:ext>
            </a:extLst>
          </p:cNvPr>
          <p:cNvSpPr>
            <a:spLocks xmlns:a="http://schemas.openxmlformats.org/drawingml/2006/main" noGrp="1"/>
          </p:cNvSpPr>
          <p:nvPr/>
        </p:nvSpPr>
        <p:spPr>
          <a:xfrm xmlns:a="http://schemas.openxmlformats.org/drawingml/2006/main">
            <a:off x="8953500" y="4524375"/>
            <a:ext cx="1905000" cy="304800"/>
          </a:xfrm>
          <a:prstGeom xmlns:a="http://schemas.openxmlformats.org/drawingml/2006/main" prst="rect">
            <a:avLst/>
          </a:prstGeom>
          <a:solidFill xmlns:a="http://schemas.openxmlformats.org/drawingml/2006/main">
            <a:srgbClr val="E2E9ED"/>
          </a:solidFill>
          <a:ln xmlns:a="http://schemas.openxmlformats.org/drawingml/2006/main" w="0">
            <a:solidFill>
              <a:srgbClr val="000000">
                <a:alpha val="0"/>
              </a:srgbClr>
            </a:solidFill>
            <a:prstDash val="solid"/>
          </a:ln>
        </p:spPr>
      </p:sp>
      <p:sp>
        <p:nvSpPr>
          <p:cNvPr id="25" name="矩形 24">
            <a:extLst xmlns:a="http://schemas.openxmlformats.org/drawingml/2006/main">
              <a:ext uri="{FF2B5EF4-FFF2-40B4-BE49-F238E27FC236}">
                <a16:creationId xmlns:a16="http://schemas.microsoft.com/office/drawing/2014/main" id="{6E14F1CC-4D4C-4C41-B143-73705C95271D}"/>
              </a:ext>
            </a:extLst>
          </p:cNvPr>
          <p:cNvSpPr>
            <a:spLocks xmlns:a="http://schemas.openxmlformats.org/drawingml/2006/main" noGrp="1"/>
          </p:cNvSpPr>
          <p:nvPr/>
        </p:nvSpPr>
        <p:spPr>
          <a:xfrm xmlns:a="http://schemas.openxmlformats.org/drawingml/2006/main">
            <a:off x="9029700" y="4572000"/>
            <a:ext cx="1752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938" b="1">
                <a:solidFill>
                  <a:srgbClr val="597389"/>
                </a:solidFill>
                <a:latin typeface="Aptos"/>
                <a:ea typeface="Aptos"/>
                <a:cs typeface="Aptos"/>
              </a:defRPr>
            </a:pPr>
            <a:r>
              <a:rPr sz="938" b="1">
                <a:solidFill>
                  <a:srgbClr val="597389"/>
                </a:solidFill>
                <a:latin typeface="Aptos"/>
                <a:ea typeface="Aptos"/>
                <a:cs typeface="Aptos"/>
              </a:rPr>
              <a:t>Clear system candidate</a:t>
            </a:r>
          </a:p>
        </p:txBody>
      </p:sp>
      <p:sp>
        <p:nvSpPr>
          <p:cNvPr id="26" name="矩形 25">
            <a:extLst xmlns:a="http://schemas.openxmlformats.org/drawingml/2006/main">
              <a:ext uri="{FF2B5EF4-FFF2-40B4-BE49-F238E27FC236}">
                <a16:creationId xmlns:a16="http://schemas.microsoft.com/office/drawing/2014/main" id="{426C46B3-D347-4AF9-A5EA-F6AF4F202552}"/>
              </a:ext>
            </a:extLst>
          </p:cNvPr>
          <p:cNvSpPr>
            <a:spLocks xmlns:a="http://schemas.openxmlformats.org/drawingml/2006/main" noGrp="1"/>
          </p:cNvSpPr>
          <p:nvPr/>
        </p:nvSpPr>
        <p:spPr>
          <a:xfrm xmlns:a="http://schemas.openxmlformats.org/drawingml/2006/main">
            <a:off x="1238250" y="5286375"/>
            <a:ext cx="9715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650" b="1">
                <a:solidFill>
                  <a:srgbClr val="315C49"/>
                </a:solidFill>
                <a:latin typeface="Aptos"/>
                <a:ea typeface="Aptos"/>
                <a:cs typeface="Aptos"/>
              </a:defRPr>
            </a:pPr>
            <a:r>
              <a:rPr sz="1650" b="1">
                <a:solidFill>
                  <a:srgbClr val="315C49"/>
                </a:solidFill>
                <a:latin typeface="Aptos"/>
                <a:ea typeface="Aptos"/>
                <a:cs typeface="Aptos"/>
              </a:rPr>
              <a:t>Current conclusion: compare cases by process fit and evidence quality, not by how advanced the robot looks.</a:t>
            </a:r>
          </a:p>
        </p:txBody>
      </p:sp>
    </p:spTree>
    <p:extLst>
      <p:ext uri="{BB962C8B-B14F-4D97-AF65-F5344CB8AC3E}">
        <p14:creationId xmlns:p14="http://schemas.microsoft.com/office/powerpoint/2010/main" val="40907296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0" name="矩形 19">
            <a:extLst xmlns:a="http://schemas.openxmlformats.org/drawingml/2006/main">
              <a:ext uri="{FF2B5EF4-FFF2-40B4-BE49-F238E27FC236}">
                <a16:creationId xmlns:a16="http://schemas.microsoft.com/office/drawing/2014/main" id="{87943506-0EEF-48F6-A2C3-18CDF84DAC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kicker-7-marker">
            <a:extLst xmlns:a="http://schemas.openxmlformats.org/drawingml/2006/main">
              <a:ext uri="{FF2B5EF4-FFF2-40B4-BE49-F238E27FC236}">
                <a16:creationId xmlns:a16="http://schemas.microsoft.com/office/drawing/2014/main" id="{174E8124-537B-4D3F-9646-C59C9C60A715}"/>
              </a:ext>
            </a:extLst>
          </p:cNvPr>
          <p:cNvSpPr>
            <a:spLocks xmlns:a="http://schemas.openxmlformats.org/drawingml/2006/main" noGrp="1"/>
          </p:cNvSpPr>
          <p:nvPr/>
        </p:nvSpPr>
        <p:spPr>
          <a:xfrm xmlns:a="http://schemas.openxmlformats.org/drawingml/2006/main">
            <a:off x="514350" y="400050"/>
            <a:ext cx="95250" cy="95250"/>
          </a:xfrm>
          <a:prstGeom xmlns:a="http://schemas.openxmlformats.org/drawingml/2006/main" prst="ellipse">
            <a:avLst/>
          </a:prstGeom>
          <a:solidFill xmlns:a="http://schemas.openxmlformats.org/drawingml/2006/main">
            <a:srgbClr val="B46B3A"/>
          </a:solidFill>
          <a:ln xmlns:a="http://schemas.openxmlformats.org/drawingml/2006/main" w="0">
            <a:solidFill>
              <a:srgbClr val="000000">
                <a:alpha val="0"/>
              </a:srgbClr>
            </a:solidFill>
            <a:prstDash val="solid"/>
          </a:ln>
        </p:spPr>
      </p:sp>
      <p:sp>
        <p:nvSpPr>
          <p:cNvPr id="3" name="kicker-7-label">
            <a:extLst xmlns:a="http://schemas.openxmlformats.org/drawingml/2006/main">
              <a:ext uri="{FF2B5EF4-FFF2-40B4-BE49-F238E27FC236}">
                <a16:creationId xmlns:a16="http://schemas.microsoft.com/office/drawing/2014/main" id="{9D3D9169-9990-413F-9B21-A390A784A3B6}"/>
              </a:ext>
            </a:extLst>
          </p:cNvPr>
          <p:cNvSpPr>
            <a:spLocks xmlns:a="http://schemas.openxmlformats.org/drawingml/2006/main" noGrp="1"/>
          </p:cNvSpPr>
          <p:nvPr/>
        </p:nvSpPr>
        <p:spPr>
          <a:xfrm xmlns:a="http://schemas.openxmlformats.org/drawingml/2006/main">
            <a:off x="704850" y="323850"/>
            <a:ext cx="495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38" b="1">
                <a:solidFill>
                  <a:srgbClr val="315C49"/>
                </a:solidFill>
                <a:latin typeface="Aptos"/>
                <a:ea typeface="Aptos"/>
                <a:cs typeface="Aptos"/>
              </a:defRPr>
            </a:pPr>
            <a:r>
              <a:rPr sz="938" b="1">
                <a:solidFill>
                  <a:srgbClr val="315C49"/>
                </a:solidFill>
                <a:latin typeface="Aptos"/>
                <a:ea typeface="Aptos"/>
                <a:cs typeface="Aptos"/>
              </a:rPr>
              <a:t>THE PROBLEM</a:t>
            </a:r>
          </a:p>
        </p:txBody>
      </p:sp>
      <p:sp>
        <p:nvSpPr>
          <p:cNvPr id="4" name="矩形 3">
            <a:extLst xmlns:a="http://schemas.openxmlformats.org/drawingml/2006/main">
              <a:ext uri="{FF2B5EF4-FFF2-40B4-BE49-F238E27FC236}">
                <a16:creationId xmlns:a16="http://schemas.microsoft.com/office/drawing/2014/main" id="{232BB5CE-8DFE-4F60-AA07-EF3734A22BD8}"/>
              </a:ext>
            </a:extLst>
          </p:cNvPr>
          <p:cNvSpPr>
            <a:spLocks xmlns:a="http://schemas.openxmlformats.org/drawingml/2006/main" noGrp="1"/>
          </p:cNvSpPr>
          <p:nvPr/>
        </p:nvSpPr>
        <p:spPr>
          <a:xfrm xmlns:a="http://schemas.openxmlformats.org/drawingml/2006/main">
            <a:off x="514350" y="742950"/>
            <a:ext cx="9906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700" b="1">
                <a:solidFill>
                  <a:srgbClr val="17201C"/>
                </a:solidFill>
                <a:latin typeface="Aptos Display"/>
                <a:ea typeface="Aptos Display"/>
                <a:cs typeface="Aptos Display"/>
              </a:defRPr>
            </a:pPr>
            <a:r>
              <a:rPr sz="2700" b="1">
                <a:solidFill>
                  <a:srgbClr val="17201C"/>
                </a:solidFill>
                <a:latin typeface="Aptos Display"/>
                <a:ea typeface="Aptos Display"/>
                <a:cs typeface="Aptos Display"/>
              </a:rPr>
              <a:t>The bottleneck is evidence for case selection, not finding more ideas.</a:t>
            </a:r>
          </a:p>
        </p:txBody>
      </p:sp>
      <p:sp>
        <p:nvSpPr>
          <p:cNvPr id="5" name="矩形 4">
            <a:extLst xmlns:a="http://schemas.openxmlformats.org/drawingml/2006/main">
              <a:ext uri="{FF2B5EF4-FFF2-40B4-BE49-F238E27FC236}">
                <a16:creationId xmlns:a16="http://schemas.microsoft.com/office/drawing/2014/main" id="{C7F2B88B-CC6D-4BC4-9C65-17CE58C60BB8}"/>
              </a:ext>
            </a:extLst>
          </p:cNvPr>
          <p:cNvSpPr>
            <a:spLocks xmlns:a="http://schemas.openxmlformats.org/drawingml/2006/main" noGrp="1"/>
          </p:cNvSpPr>
          <p:nvPr/>
        </p:nvSpPr>
        <p:spPr>
          <a:xfrm xmlns:a="http://schemas.openxmlformats.org/drawingml/2006/main">
            <a:off x="514350" y="6153150"/>
            <a:ext cx="9620250" cy="11430"/>
          </a:xfrm>
          <a:prstGeom xmlns:a="http://schemas.openxmlformats.org/drawingml/2006/main" prst="rect">
            <a:avLst/>
          </a:prstGeom>
          <a:solidFill xmlns:a="http://schemas.openxmlformats.org/drawingml/2006/main">
            <a:srgbClr val="D8D1C3"/>
          </a:solidFill>
          <a:ln xmlns:a="http://schemas.openxmlformats.org/drawingml/2006/main" w="0">
            <a:solidFill>
              <a:srgbClr val="000000">
                <a:alpha val="0"/>
              </a:srgbClr>
            </a:solidFill>
            <a:prstDash val="solid"/>
          </a:ln>
        </p:spPr>
      </p:sp>
      <p:sp>
        <p:nvSpPr>
          <p:cNvPr id="6" name="矩形 5">
            <a:extLst xmlns:a="http://schemas.openxmlformats.org/drawingml/2006/main">
              <a:ext uri="{FF2B5EF4-FFF2-40B4-BE49-F238E27FC236}">
                <a16:creationId xmlns:a16="http://schemas.microsoft.com/office/drawing/2014/main" id="{5F27EC39-8A3A-4BD2-96FE-1B8ED7C1635A}"/>
              </a:ext>
            </a:extLst>
          </p:cNvPr>
          <p:cNvSpPr>
            <a:spLocks xmlns:a="http://schemas.openxmlformats.org/drawingml/2006/main" noGrp="1"/>
          </p:cNvSpPr>
          <p:nvPr/>
        </p:nvSpPr>
        <p:spPr>
          <a:xfrm xmlns:a="http://schemas.openxmlformats.org/drawingml/2006/main">
            <a:off x="514350" y="6257925"/>
            <a:ext cx="685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13" b="0">
                <a:solidFill>
                  <a:srgbClr val="5E625D"/>
                </a:solidFill>
                <a:latin typeface="Aptos"/>
                <a:ea typeface="Aptos"/>
                <a:cs typeface="Aptos"/>
              </a:defRPr>
            </a:pPr>
            <a:r>
              <a:rPr sz="713" b="0">
                <a:solidFill>
                  <a:srgbClr val="5E625D"/>
                </a:solidFill>
                <a:latin typeface="Aptos"/>
                <a:ea typeface="Aptos"/>
                <a:cs typeface="Aptos"/>
              </a:rPr>
              <a:t>Week 02 group meeting | Robotic systems in battery manufacturing</a:t>
            </a:r>
          </a:p>
        </p:txBody>
      </p:sp>
      <p:sp>
        <p:nvSpPr>
          <p:cNvPr id="7" name="矩形 6">
            <a:extLst xmlns:a="http://schemas.openxmlformats.org/drawingml/2006/main">
              <a:ext uri="{FF2B5EF4-FFF2-40B4-BE49-F238E27FC236}">
                <a16:creationId xmlns:a16="http://schemas.microsoft.com/office/drawing/2014/main" id="{8EEACF1E-03D7-4021-9655-DBAE7D071B85}"/>
              </a:ext>
            </a:extLst>
          </p:cNvPr>
          <p:cNvSpPr>
            <a:spLocks xmlns:a="http://schemas.openxmlformats.org/drawingml/2006/main" noGrp="1"/>
          </p:cNvSpPr>
          <p:nvPr/>
        </p:nvSpPr>
        <p:spPr>
          <a:xfrm xmlns:a="http://schemas.openxmlformats.org/drawingml/2006/main">
            <a:off x="11049000" y="62293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00" b="1">
                <a:solidFill>
                  <a:srgbClr val="315C49"/>
                </a:solidFill>
                <a:latin typeface="Aptos"/>
                <a:ea typeface="Aptos"/>
                <a:cs typeface="Aptos"/>
              </a:defRPr>
            </a:pPr>
            <a:r>
              <a:rPr sz="900" b="1">
                <a:solidFill>
                  <a:srgbClr val="315C49"/>
                </a:solidFill>
                <a:latin typeface="Aptos"/>
                <a:ea typeface="Aptos"/>
                <a:cs typeface="Aptos"/>
              </a:rPr>
              <a:t>04</a:t>
            </a:r>
          </a:p>
        </p:txBody>
      </p:sp>
      <p:sp>
        <p:nvSpPr>
          <p:cNvPr id="8" name="矩形 7">
            <a:extLst xmlns:a="http://schemas.openxmlformats.org/drawingml/2006/main">
              <a:ext uri="{FF2B5EF4-FFF2-40B4-BE49-F238E27FC236}">
                <a16:creationId xmlns:a16="http://schemas.microsoft.com/office/drawing/2014/main" id="{5505EBB6-6251-4BAB-B7CE-71A323DB12A8}"/>
              </a:ext>
            </a:extLst>
          </p:cNvPr>
          <p:cNvSpPr>
            <a:spLocks xmlns:a="http://schemas.openxmlformats.org/drawingml/2006/main" noGrp="1"/>
          </p:cNvSpPr>
          <p:nvPr/>
        </p:nvSpPr>
        <p:spPr>
          <a:xfrm xmlns:a="http://schemas.openxmlformats.org/drawingml/2006/main">
            <a:off x="857250" y="2095500"/>
            <a:ext cx="3048000" cy="2476500"/>
          </a:xfrm>
          <a:prstGeom xmlns:a="http://schemas.openxmlformats.org/drawingml/2006/main" prst="rect">
            <a:avLst/>
          </a:prstGeom>
          <a:solidFill xmlns:a="http://schemas.openxmlformats.org/drawingml/2006/main">
            <a:srgbClr val="DDE8DF"/>
          </a:solidFill>
          <a:ln xmlns:a="http://schemas.openxmlformats.org/drawingml/2006/main" w="9525">
            <a:solidFill>
              <a:srgbClr val="D8D1C3"/>
            </a:solidFill>
            <a:prstDash val="solid"/>
          </a:ln>
        </p:spPr>
      </p:sp>
      <p:sp>
        <p:nvSpPr>
          <p:cNvPr id="9" name="矩形 8">
            <a:extLst xmlns:a="http://schemas.openxmlformats.org/drawingml/2006/main">
              <a:ext uri="{FF2B5EF4-FFF2-40B4-BE49-F238E27FC236}">
                <a16:creationId xmlns:a16="http://schemas.microsoft.com/office/drawing/2014/main" id="{AD564F46-3738-4009-967F-DC6649B1A19C}"/>
              </a:ext>
            </a:extLst>
          </p:cNvPr>
          <p:cNvSpPr>
            <a:spLocks xmlns:a="http://schemas.openxmlformats.org/drawingml/2006/main" noGrp="1"/>
          </p:cNvSpPr>
          <p:nvPr/>
        </p:nvSpPr>
        <p:spPr>
          <a:xfrm xmlns:a="http://schemas.openxmlformats.org/drawingml/2006/main">
            <a:off x="857250" y="2095500"/>
            <a:ext cx="3048000" cy="66675"/>
          </a:xfrm>
          <a:prstGeom xmlns:a="http://schemas.openxmlformats.org/drawingml/2006/main" prst="rect">
            <a:avLst/>
          </a:prstGeom>
          <a:solidFill xmlns:a="http://schemas.openxmlformats.org/drawingml/2006/main">
            <a:srgbClr val="315C49"/>
          </a:solidFill>
          <a:ln xmlns:a="http://schemas.openxmlformats.org/drawingml/2006/main" w="0">
            <a:solidFill>
              <a:srgbClr val="000000">
                <a:alpha val="0"/>
              </a:srgbClr>
            </a:solidFill>
            <a:prstDash val="solid"/>
          </a:ln>
        </p:spPr>
      </p:sp>
      <p:sp>
        <p:nvSpPr>
          <p:cNvPr id="10" name="矩形 9">
            <a:extLst xmlns:a="http://schemas.openxmlformats.org/drawingml/2006/main">
              <a:ext uri="{FF2B5EF4-FFF2-40B4-BE49-F238E27FC236}">
                <a16:creationId xmlns:a16="http://schemas.microsoft.com/office/drawing/2014/main" id="{B175F7B6-1998-44DA-A8AB-B1998BC03ACB}"/>
              </a:ext>
            </a:extLst>
          </p:cNvPr>
          <p:cNvSpPr>
            <a:spLocks xmlns:a="http://schemas.openxmlformats.org/drawingml/2006/main" noGrp="1"/>
          </p:cNvSpPr>
          <p:nvPr/>
        </p:nvSpPr>
        <p:spPr>
          <a:xfrm xmlns:a="http://schemas.openxmlformats.org/drawingml/2006/main">
            <a:off x="1047750" y="2333625"/>
            <a:ext cx="2667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Evidence</a:t>
            </a:r>
          </a:p>
        </p:txBody>
      </p:sp>
      <p:sp>
        <p:nvSpPr>
          <p:cNvPr id="11" name="矩形 10">
            <a:extLst xmlns:a="http://schemas.openxmlformats.org/drawingml/2006/main">
              <a:ext uri="{FF2B5EF4-FFF2-40B4-BE49-F238E27FC236}">
                <a16:creationId xmlns:a16="http://schemas.microsoft.com/office/drawing/2014/main" id="{6A8B5354-9BE4-4BD4-BA1F-370550FCADEE}"/>
              </a:ext>
            </a:extLst>
          </p:cNvPr>
          <p:cNvSpPr>
            <a:spLocks xmlns:a="http://schemas.openxmlformats.org/drawingml/2006/main" noGrp="1"/>
          </p:cNvSpPr>
          <p:nvPr/>
        </p:nvSpPr>
        <p:spPr>
          <a:xfrm xmlns:a="http://schemas.openxmlformats.org/drawingml/2006/main">
            <a:off x="1047750" y="2762250"/>
            <a:ext cx="2667000" cy="1638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Papers explain processes and methods.</a:t>
            </a:r>
          </a:p>
          <a:p xmlns:a="http://schemas.openxmlformats.org/drawingml/2006/main">
            <a:r>
              <a:t/>
            </a:r>
          </a:p>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Complete industrial robot performance data are scarce.</a:t>
            </a:r>
          </a:p>
        </p:txBody>
      </p:sp>
      <p:sp>
        <p:nvSpPr>
          <p:cNvPr id="12" name="矩形 11">
            <a:extLst xmlns:a="http://schemas.openxmlformats.org/drawingml/2006/main">
              <a:ext uri="{FF2B5EF4-FFF2-40B4-BE49-F238E27FC236}">
                <a16:creationId xmlns:a16="http://schemas.microsoft.com/office/drawing/2014/main" id="{FC8305F1-E5AF-4894-8104-C82B886874BA}"/>
              </a:ext>
            </a:extLst>
          </p:cNvPr>
          <p:cNvSpPr>
            <a:spLocks xmlns:a="http://schemas.openxmlformats.org/drawingml/2006/main" noGrp="1"/>
          </p:cNvSpPr>
          <p:nvPr/>
        </p:nvSpPr>
        <p:spPr>
          <a:xfrm xmlns:a="http://schemas.openxmlformats.org/drawingml/2006/main">
            <a:off x="4572000" y="2095500"/>
            <a:ext cx="3048000" cy="2476500"/>
          </a:xfrm>
          <a:prstGeom xmlns:a="http://schemas.openxmlformats.org/drawingml/2006/main" prst="rect">
            <a:avLst/>
          </a:prstGeom>
          <a:solidFill xmlns:a="http://schemas.openxmlformats.org/drawingml/2006/main">
            <a:srgbClr val="F1DDCF"/>
          </a:solidFill>
          <a:ln xmlns:a="http://schemas.openxmlformats.org/drawingml/2006/main" w="9525">
            <a:solidFill>
              <a:srgbClr val="D8D1C3"/>
            </a:solidFill>
            <a:prstDash val="solid"/>
          </a:ln>
        </p:spPr>
      </p:sp>
      <p:sp>
        <p:nvSpPr>
          <p:cNvPr id="13" name="矩形 12">
            <a:extLst xmlns:a="http://schemas.openxmlformats.org/drawingml/2006/main">
              <a:ext uri="{FF2B5EF4-FFF2-40B4-BE49-F238E27FC236}">
                <a16:creationId xmlns:a16="http://schemas.microsoft.com/office/drawing/2014/main" id="{2A410DF0-97B1-4239-846D-7A3C696A6B90}"/>
              </a:ext>
            </a:extLst>
          </p:cNvPr>
          <p:cNvSpPr>
            <a:spLocks xmlns:a="http://schemas.openxmlformats.org/drawingml/2006/main" noGrp="1"/>
          </p:cNvSpPr>
          <p:nvPr/>
        </p:nvSpPr>
        <p:spPr>
          <a:xfrm xmlns:a="http://schemas.openxmlformats.org/drawingml/2006/main">
            <a:off x="4572000" y="2095500"/>
            <a:ext cx="3048000" cy="66675"/>
          </a:xfrm>
          <a:prstGeom xmlns:a="http://schemas.openxmlformats.org/drawingml/2006/main" prst="rect">
            <a:avLst/>
          </a:prstGeom>
          <a:solidFill xmlns:a="http://schemas.openxmlformats.org/drawingml/2006/main">
            <a:srgbClr val="B46B3A"/>
          </a:solidFill>
          <a:ln xmlns:a="http://schemas.openxmlformats.org/drawingml/2006/main" w="0">
            <a:solidFill>
              <a:srgbClr val="000000">
                <a:alpha val="0"/>
              </a:srgbClr>
            </a:solidFill>
            <a:prstDash val="solid"/>
          </a:ln>
        </p:spPr>
      </p:sp>
      <p:sp>
        <p:nvSpPr>
          <p:cNvPr id="14" name="矩形 13">
            <a:extLst xmlns:a="http://schemas.openxmlformats.org/drawingml/2006/main">
              <a:ext uri="{FF2B5EF4-FFF2-40B4-BE49-F238E27FC236}">
                <a16:creationId xmlns:a16="http://schemas.microsoft.com/office/drawing/2014/main" id="{C10C62A9-C1A2-4BED-A35B-7EC1CCD99125}"/>
              </a:ext>
            </a:extLst>
          </p:cNvPr>
          <p:cNvSpPr>
            <a:spLocks xmlns:a="http://schemas.openxmlformats.org/drawingml/2006/main" noGrp="1"/>
          </p:cNvSpPr>
          <p:nvPr/>
        </p:nvSpPr>
        <p:spPr>
          <a:xfrm xmlns:a="http://schemas.openxmlformats.org/drawingml/2006/main">
            <a:off x="4762500" y="2333625"/>
            <a:ext cx="2667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Method</a:t>
            </a:r>
          </a:p>
        </p:txBody>
      </p:sp>
      <p:sp>
        <p:nvSpPr>
          <p:cNvPr id="15" name="矩形 14">
            <a:extLst xmlns:a="http://schemas.openxmlformats.org/drawingml/2006/main">
              <a:ext uri="{FF2B5EF4-FFF2-40B4-BE49-F238E27FC236}">
                <a16:creationId xmlns:a16="http://schemas.microsoft.com/office/drawing/2014/main" id="{F3D0A2A5-D171-40F6-A2C6-F369E00E3DEF}"/>
              </a:ext>
            </a:extLst>
          </p:cNvPr>
          <p:cNvSpPr>
            <a:spLocks xmlns:a="http://schemas.openxmlformats.org/drawingml/2006/main" noGrp="1"/>
          </p:cNvSpPr>
          <p:nvPr/>
        </p:nvSpPr>
        <p:spPr>
          <a:xfrm xmlns:a="http://schemas.openxmlformats.org/drawingml/2006/main">
            <a:off x="4762500" y="2762250"/>
            <a:ext cx="2667000" cy="1638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Literature alone may be insufficient.</a:t>
            </a:r>
          </a:p>
          <a:p xmlns:a="http://schemas.openxmlformats.org/drawingml/2006/main">
            <a:r>
              <a:t/>
            </a:r>
          </a:p>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Expert insight and/or pilot or production data are needed.</a:t>
            </a:r>
          </a:p>
        </p:txBody>
      </p:sp>
      <p:sp>
        <p:nvSpPr>
          <p:cNvPr id="16" name="矩形 15">
            <a:extLst xmlns:a="http://schemas.openxmlformats.org/drawingml/2006/main">
              <a:ext uri="{FF2B5EF4-FFF2-40B4-BE49-F238E27FC236}">
                <a16:creationId xmlns:a16="http://schemas.microsoft.com/office/drawing/2014/main" id="{BC45DDAD-B473-4D2A-909B-B2910352955F}"/>
              </a:ext>
            </a:extLst>
          </p:cNvPr>
          <p:cNvSpPr>
            <a:spLocks xmlns:a="http://schemas.openxmlformats.org/drawingml/2006/main" noGrp="1"/>
          </p:cNvSpPr>
          <p:nvPr/>
        </p:nvSpPr>
        <p:spPr>
          <a:xfrm xmlns:a="http://schemas.openxmlformats.org/drawingml/2006/main">
            <a:off x="8286750" y="2095500"/>
            <a:ext cx="3048000" cy="2476500"/>
          </a:xfrm>
          <a:prstGeom xmlns:a="http://schemas.openxmlformats.org/drawingml/2006/main" prst="rect">
            <a:avLst/>
          </a:prstGeom>
          <a:solidFill xmlns:a="http://schemas.openxmlformats.org/drawingml/2006/main">
            <a:srgbClr val="E2E9ED"/>
          </a:solidFill>
          <a:ln xmlns:a="http://schemas.openxmlformats.org/drawingml/2006/main" w="9525">
            <a:solidFill>
              <a:srgbClr val="D8D1C3"/>
            </a:solidFill>
            <a:prstDash val="solid"/>
          </a:ln>
        </p:spPr>
      </p:sp>
      <p:sp>
        <p:nvSpPr>
          <p:cNvPr id="17" name="矩形 16">
            <a:extLst xmlns:a="http://schemas.openxmlformats.org/drawingml/2006/main">
              <a:ext uri="{FF2B5EF4-FFF2-40B4-BE49-F238E27FC236}">
                <a16:creationId xmlns:a16="http://schemas.microsoft.com/office/drawing/2014/main" id="{85FEA89E-963D-4704-9DE6-F1177EB2E553}"/>
              </a:ext>
            </a:extLst>
          </p:cNvPr>
          <p:cNvSpPr>
            <a:spLocks xmlns:a="http://schemas.openxmlformats.org/drawingml/2006/main" noGrp="1"/>
          </p:cNvSpPr>
          <p:nvPr/>
        </p:nvSpPr>
        <p:spPr>
          <a:xfrm xmlns:a="http://schemas.openxmlformats.org/drawingml/2006/main">
            <a:off x="8286750" y="2095500"/>
            <a:ext cx="3048000" cy="66675"/>
          </a:xfrm>
          <a:prstGeom xmlns:a="http://schemas.openxmlformats.org/drawingml/2006/main" prst="rect">
            <a:avLst/>
          </a:prstGeom>
          <a:solidFill xmlns:a="http://schemas.openxmlformats.org/drawingml/2006/main">
            <a:srgbClr val="597389"/>
          </a:solidFill>
          <a:ln xmlns:a="http://schemas.openxmlformats.org/drawingml/2006/main" w="0">
            <a:solidFill>
              <a:srgbClr val="000000">
                <a:alpha val="0"/>
              </a:srgbClr>
            </a:solidFill>
            <a:prstDash val="solid"/>
          </a:ln>
        </p:spPr>
      </p:sp>
      <p:sp>
        <p:nvSpPr>
          <p:cNvPr id="18" name="矩形 17">
            <a:extLst xmlns:a="http://schemas.openxmlformats.org/drawingml/2006/main">
              <a:ext uri="{FF2B5EF4-FFF2-40B4-BE49-F238E27FC236}">
                <a16:creationId xmlns:a16="http://schemas.microsoft.com/office/drawing/2014/main" id="{24B4E663-E031-4714-B7B5-70733A926C87}"/>
              </a:ext>
            </a:extLst>
          </p:cNvPr>
          <p:cNvSpPr>
            <a:spLocks xmlns:a="http://schemas.openxmlformats.org/drawingml/2006/main" noGrp="1"/>
          </p:cNvSpPr>
          <p:nvPr/>
        </p:nvSpPr>
        <p:spPr>
          <a:xfrm xmlns:a="http://schemas.openxmlformats.org/drawingml/2006/main">
            <a:off x="8477250" y="2333625"/>
            <a:ext cx="2667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Decision</a:t>
            </a:r>
          </a:p>
        </p:txBody>
      </p:sp>
      <p:sp>
        <p:nvSpPr>
          <p:cNvPr id="19" name="矩形 18">
            <a:extLst xmlns:a="http://schemas.openxmlformats.org/drawingml/2006/main">
              <a:ext uri="{FF2B5EF4-FFF2-40B4-BE49-F238E27FC236}">
                <a16:creationId xmlns:a16="http://schemas.microsoft.com/office/drawing/2014/main" id="{955097C3-394C-4163-B171-D4966DF859D5}"/>
              </a:ext>
            </a:extLst>
          </p:cNvPr>
          <p:cNvSpPr>
            <a:spLocks xmlns:a="http://schemas.openxmlformats.org/drawingml/2006/main" noGrp="1"/>
          </p:cNvSpPr>
          <p:nvPr/>
        </p:nvSpPr>
        <p:spPr>
          <a:xfrm xmlns:a="http://schemas.openxmlformats.org/drawingml/2006/main">
            <a:off x="8477250" y="2762250"/>
            <a:ext cx="2667000" cy="1638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Without takt, reliability, defect, cost, and integration data, ranking and ROI would be premature.</a:t>
            </a:r>
          </a:p>
        </p:txBody>
      </p:sp>
    </p:spTree>
    <p:extLst>
      <p:ext uri="{BB962C8B-B14F-4D97-AF65-F5344CB8AC3E}">
        <p14:creationId xmlns:p14="http://schemas.microsoft.com/office/powerpoint/2010/main" val="103490305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2" name="矩形 21">
            <a:extLst xmlns:a="http://schemas.openxmlformats.org/drawingml/2006/main">
              <a:ext uri="{FF2B5EF4-FFF2-40B4-BE49-F238E27FC236}">
                <a16:creationId xmlns:a16="http://schemas.microsoft.com/office/drawing/2014/main" id="{88FE5911-D2B9-406B-9BAF-79B24AEFF1E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kicker-8-marker">
            <a:extLst xmlns:a="http://schemas.openxmlformats.org/drawingml/2006/main">
              <a:ext uri="{FF2B5EF4-FFF2-40B4-BE49-F238E27FC236}">
                <a16:creationId xmlns:a16="http://schemas.microsoft.com/office/drawing/2014/main" id="{19E970EF-F549-4928-AEB1-B697DED64572}"/>
              </a:ext>
            </a:extLst>
          </p:cNvPr>
          <p:cNvSpPr>
            <a:spLocks xmlns:a="http://schemas.openxmlformats.org/drawingml/2006/main" noGrp="1"/>
          </p:cNvSpPr>
          <p:nvPr/>
        </p:nvSpPr>
        <p:spPr>
          <a:xfrm xmlns:a="http://schemas.openxmlformats.org/drawingml/2006/main">
            <a:off x="514350" y="400050"/>
            <a:ext cx="95250" cy="95250"/>
          </a:xfrm>
          <a:prstGeom xmlns:a="http://schemas.openxmlformats.org/drawingml/2006/main" prst="ellipse">
            <a:avLst/>
          </a:prstGeom>
          <a:solidFill xmlns:a="http://schemas.openxmlformats.org/drawingml/2006/main">
            <a:srgbClr val="B46B3A"/>
          </a:solidFill>
          <a:ln xmlns:a="http://schemas.openxmlformats.org/drawingml/2006/main" w="0">
            <a:solidFill>
              <a:srgbClr val="000000">
                <a:alpha val="0"/>
              </a:srgbClr>
            </a:solidFill>
            <a:prstDash val="solid"/>
          </a:ln>
        </p:spPr>
      </p:sp>
      <p:sp>
        <p:nvSpPr>
          <p:cNvPr id="3" name="kicker-8-label">
            <a:extLst xmlns:a="http://schemas.openxmlformats.org/drawingml/2006/main">
              <a:ext uri="{FF2B5EF4-FFF2-40B4-BE49-F238E27FC236}">
                <a16:creationId xmlns:a16="http://schemas.microsoft.com/office/drawing/2014/main" id="{30B1403A-3E0A-403C-91FF-EF3DB7174D87}"/>
              </a:ext>
            </a:extLst>
          </p:cNvPr>
          <p:cNvSpPr>
            <a:spLocks xmlns:a="http://schemas.openxmlformats.org/drawingml/2006/main" noGrp="1"/>
          </p:cNvSpPr>
          <p:nvPr/>
        </p:nvSpPr>
        <p:spPr>
          <a:xfrm xmlns:a="http://schemas.openxmlformats.org/drawingml/2006/main">
            <a:off x="704850" y="323850"/>
            <a:ext cx="495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38" b="1">
                <a:solidFill>
                  <a:srgbClr val="315C49"/>
                </a:solidFill>
                <a:latin typeface="Aptos"/>
                <a:ea typeface="Aptos"/>
                <a:cs typeface="Aptos"/>
              </a:defRPr>
            </a:pPr>
            <a:r>
              <a:rPr sz="938" b="1">
                <a:solidFill>
                  <a:srgbClr val="315C49"/>
                </a:solidFill>
                <a:latin typeface="Aptos"/>
                <a:ea typeface="Aptos"/>
                <a:cs typeface="Aptos"/>
              </a:rPr>
              <a:t>NEXT WEEK</a:t>
            </a:r>
          </a:p>
        </p:txBody>
      </p:sp>
      <p:sp>
        <p:nvSpPr>
          <p:cNvPr id="4" name="矩形 3">
            <a:extLst xmlns:a="http://schemas.openxmlformats.org/drawingml/2006/main">
              <a:ext uri="{FF2B5EF4-FFF2-40B4-BE49-F238E27FC236}">
                <a16:creationId xmlns:a16="http://schemas.microsoft.com/office/drawing/2014/main" id="{5FEBF03F-6ACD-4EC3-90B1-2268C44B0F99}"/>
              </a:ext>
            </a:extLst>
          </p:cNvPr>
          <p:cNvSpPr>
            <a:spLocks xmlns:a="http://schemas.openxmlformats.org/drawingml/2006/main" noGrp="1"/>
          </p:cNvSpPr>
          <p:nvPr/>
        </p:nvSpPr>
        <p:spPr>
          <a:xfrm xmlns:a="http://schemas.openxmlformats.org/drawingml/2006/main">
            <a:off x="514350" y="742950"/>
            <a:ext cx="9906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700" b="1">
                <a:solidFill>
                  <a:srgbClr val="17201C"/>
                </a:solidFill>
                <a:latin typeface="Aptos Display"/>
                <a:ea typeface="Aptos Display"/>
                <a:cs typeface="Aptos Display"/>
              </a:defRPr>
            </a:pPr>
            <a:r>
              <a:rPr sz="2700" b="1">
                <a:solidFill>
                  <a:srgbClr val="17201C"/>
                </a:solidFill>
                <a:latin typeface="Aptos Display"/>
                <a:ea typeface="Aptos Display"/>
                <a:cs typeface="Aptos Display"/>
              </a:rPr>
              <a:t>Next week converts the map into a research method.</a:t>
            </a:r>
          </a:p>
        </p:txBody>
      </p:sp>
      <p:sp>
        <p:nvSpPr>
          <p:cNvPr id="5" name="矩形 4">
            <a:extLst xmlns:a="http://schemas.openxmlformats.org/drawingml/2006/main">
              <a:ext uri="{FF2B5EF4-FFF2-40B4-BE49-F238E27FC236}">
                <a16:creationId xmlns:a16="http://schemas.microsoft.com/office/drawing/2014/main" id="{AFF21A77-70BB-4991-AD88-45B7CF84DD89}"/>
              </a:ext>
            </a:extLst>
          </p:cNvPr>
          <p:cNvSpPr>
            <a:spLocks xmlns:a="http://schemas.openxmlformats.org/drawingml/2006/main" noGrp="1"/>
          </p:cNvSpPr>
          <p:nvPr/>
        </p:nvSpPr>
        <p:spPr>
          <a:xfrm xmlns:a="http://schemas.openxmlformats.org/drawingml/2006/main">
            <a:off x="514350" y="6153150"/>
            <a:ext cx="9620250" cy="11430"/>
          </a:xfrm>
          <a:prstGeom xmlns:a="http://schemas.openxmlformats.org/drawingml/2006/main" prst="rect">
            <a:avLst/>
          </a:prstGeom>
          <a:solidFill xmlns:a="http://schemas.openxmlformats.org/drawingml/2006/main">
            <a:srgbClr val="D8D1C3"/>
          </a:solidFill>
          <a:ln xmlns:a="http://schemas.openxmlformats.org/drawingml/2006/main" w="0">
            <a:solidFill>
              <a:srgbClr val="000000">
                <a:alpha val="0"/>
              </a:srgbClr>
            </a:solidFill>
            <a:prstDash val="solid"/>
          </a:ln>
        </p:spPr>
      </p:sp>
      <p:sp>
        <p:nvSpPr>
          <p:cNvPr id="6" name="矩形 5">
            <a:extLst xmlns:a="http://schemas.openxmlformats.org/drawingml/2006/main">
              <a:ext uri="{FF2B5EF4-FFF2-40B4-BE49-F238E27FC236}">
                <a16:creationId xmlns:a16="http://schemas.microsoft.com/office/drawing/2014/main" id="{FB815C6C-E86C-4D6B-8C65-5D4CF4250B56}"/>
              </a:ext>
            </a:extLst>
          </p:cNvPr>
          <p:cNvSpPr>
            <a:spLocks xmlns:a="http://schemas.openxmlformats.org/drawingml/2006/main" noGrp="1"/>
          </p:cNvSpPr>
          <p:nvPr/>
        </p:nvSpPr>
        <p:spPr>
          <a:xfrm xmlns:a="http://schemas.openxmlformats.org/drawingml/2006/main">
            <a:off x="514350" y="6257925"/>
            <a:ext cx="685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13" b="0">
                <a:solidFill>
                  <a:srgbClr val="5E625D"/>
                </a:solidFill>
                <a:latin typeface="Aptos"/>
                <a:ea typeface="Aptos"/>
                <a:cs typeface="Aptos"/>
              </a:defRPr>
            </a:pPr>
            <a:r>
              <a:rPr sz="713" b="0">
                <a:solidFill>
                  <a:srgbClr val="5E625D"/>
                </a:solidFill>
                <a:latin typeface="Aptos"/>
                <a:ea typeface="Aptos"/>
                <a:cs typeface="Aptos"/>
              </a:rPr>
              <a:t>Week 02 group meeting | Robotic systems in battery manufacturing</a:t>
            </a:r>
          </a:p>
        </p:txBody>
      </p:sp>
      <p:sp>
        <p:nvSpPr>
          <p:cNvPr id="7" name="矩形 6">
            <a:extLst xmlns:a="http://schemas.openxmlformats.org/drawingml/2006/main">
              <a:ext uri="{FF2B5EF4-FFF2-40B4-BE49-F238E27FC236}">
                <a16:creationId xmlns:a16="http://schemas.microsoft.com/office/drawing/2014/main" id="{EB202910-6AFC-4B91-93BA-2895A67BCE07}"/>
              </a:ext>
            </a:extLst>
          </p:cNvPr>
          <p:cNvSpPr>
            <a:spLocks xmlns:a="http://schemas.openxmlformats.org/drawingml/2006/main" noGrp="1"/>
          </p:cNvSpPr>
          <p:nvPr/>
        </p:nvSpPr>
        <p:spPr>
          <a:xfrm xmlns:a="http://schemas.openxmlformats.org/drawingml/2006/main">
            <a:off x="11049000" y="62293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00" b="1">
                <a:solidFill>
                  <a:srgbClr val="315C49"/>
                </a:solidFill>
                <a:latin typeface="Aptos"/>
                <a:ea typeface="Aptos"/>
                <a:cs typeface="Aptos"/>
              </a:defRPr>
            </a:pPr>
            <a:r>
              <a:rPr sz="900" b="1">
                <a:solidFill>
                  <a:srgbClr val="315C49"/>
                </a:solidFill>
                <a:latin typeface="Aptos"/>
                <a:ea typeface="Aptos"/>
                <a:cs typeface="Aptos"/>
              </a:rPr>
              <a:t>05</a:t>
            </a:r>
          </a:p>
        </p:txBody>
      </p:sp>
      <p:sp>
        <p:nvSpPr>
          <p:cNvPr id="8" name="矩形 7">
            <a:extLst xmlns:a="http://schemas.openxmlformats.org/drawingml/2006/main">
              <a:ext uri="{FF2B5EF4-FFF2-40B4-BE49-F238E27FC236}">
                <a16:creationId xmlns:a16="http://schemas.microsoft.com/office/drawing/2014/main" id="{74AD29CC-E8DC-448B-8514-36C4E28060FE}"/>
              </a:ext>
            </a:extLst>
          </p:cNvPr>
          <p:cNvSpPr>
            <a:spLocks xmlns:a="http://schemas.openxmlformats.org/drawingml/2006/main" noGrp="1"/>
          </p:cNvSpPr>
          <p:nvPr/>
        </p:nvSpPr>
        <p:spPr>
          <a:xfrm xmlns:a="http://schemas.openxmlformats.org/drawingml/2006/main">
            <a:off x="809625" y="2238375"/>
            <a:ext cx="2857500" cy="2047875"/>
          </a:xfrm>
          <a:prstGeom xmlns:a="http://schemas.openxmlformats.org/drawingml/2006/main" prst="rect">
            <a:avLst/>
          </a:prstGeom>
          <a:solidFill xmlns:a="http://schemas.openxmlformats.org/drawingml/2006/main">
            <a:srgbClr val="DDE8DF"/>
          </a:solidFill>
          <a:ln xmlns:a="http://schemas.openxmlformats.org/drawingml/2006/main" w="9525">
            <a:solidFill>
              <a:srgbClr val="D8D1C3"/>
            </a:solidFill>
            <a:prstDash val="solid"/>
          </a:ln>
        </p:spPr>
      </p:sp>
      <p:sp>
        <p:nvSpPr>
          <p:cNvPr id="9" name="矩形 8">
            <a:extLst xmlns:a="http://schemas.openxmlformats.org/drawingml/2006/main">
              <a:ext uri="{FF2B5EF4-FFF2-40B4-BE49-F238E27FC236}">
                <a16:creationId xmlns:a16="http://schemas.microsoft.com/office/drawing/2014/main" id="{AB759619-D00F-4012-B891-737AA86C96D0}"/>
              </a:ext>
            </a:extLst>
          </p:cNvPr>
          <p:cNvSpPr>
            <a:spLocks xmlns:a="http://schemas.openxmlformats.org/drawingml/2006/main" noGrp="1"/>
          </p:cNvSpPr>
          <p:nvPr/>
        </p:nvSpPr>
        <p:spPr>
          <a:xfrm xmlns:a="http://schemas.openxmlformats.org/drawingml/2006/main">
            <a:off x="809625" y="2238375"/>
            <a:ext cx="2857500" cy="66675"/>
          </a:xfrm>
          <a:prstGeom xmlns:a="http://schemas.openxmlformats.org/drawingml/2006/main" prst="rect">
            <a:avLst/>
          </a:prstGeom>
          <a:solidFill xmlns:a="http://schemas.openxmlformats.org/drawingml/2006/main">
            <a:srgbClr val="315C49"/>
          </a:solidFill>
          <a:ln xmlns:a="http://schemas.openxmlformats.org/drawingml/2006/main" w="0">
            <a:solidFill>
              <a:srgbClr val="000000">
                <a:alpha val="0"/>
              </a:srgbClr>
            </a:solidFill>
            <a:prstDash val="solid"/>
          </a:ln>
        </p:spPr>
      </p:sp>
      <p:sp>
        <p:nvSpPr>
          <p:cNvPr id="10" name="矩形 9">
            <a:extLst xmlns:a="http://schemas.openxmlformats.org/drawingml/2006/main">
              <a:ext uri="{FF2B5EF4-FFF2-40B4-BE49-F238E27FC236}">
                <a16:creationId xmlns:a16="http://schemas.microsoft.com/office/drawing/2014/main" id="{F97FE040-EEA0-4576-98F4-CEBE9898CB2E}"/>
              </a:ext>
            </a:extLst>
          </p:cNvPr>
          <p:cNvSpPr>
            <a:spLocks xmlns:a="http://schemas.openxmlformats.org/drawingml/2006/main" noGrp="1"/>
          </p:cNvSpPr>
          <p:nvPr/>
        </p:nvSpPr>
        <p:spPr>
          <a:xfrm xmlns:a="http://schemas.openxmlformats.org/drawingml/2006/main">
            <a:off x="1000125" y="2476500"/>
            <a:ext cx="2476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1. Consolidate evidence</a:t>
            </a:r>
          </a:p>
        </p:txBody>
      </p:sp>
      <p:sp>
        <p:nvSpPr>
          <p:cNvPr id="11" name="矩形 10">
            <a:extLst xmlns:a="http://schemas.openxmlformats.org/drawingml/2006/main">
              <a:ext uri="{FF2B5EF4-FFF2-40B4-BE49-F238E27FC236}">
                <a16:creationId xmlns:a16="http://schemas.microsoft.com/office/drawing/2014/main" id="{A42B2FE6-58D5-44EF-9CFE-2D943F542135}"/>
              </a:ext>
            </a:extLst>
          </p:cNvPr>
          <p:cNvSpPr>
            <a:spLocks xmlns:a="http://schemas.openxmlformats.org/drawingml/2006/main" noGrp="1"/>
          </p:cNvSpPr>
          <p:nvPr/>
        </p:nvSpPr>
        <p:spPr>
          <a:xfrm xmlns:a="http://schemas.openxmlformats.org/drawingml/2006/main">
            <a:off x="1000125" y="2905125"/>
            <a:ext cx="2476500" cy="1209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Build one matrix for four candidates.</a:t>
            </a:r>
          </a:p>
          <a:p xmlns:a="http://schemas.openxmlformats.org/drawingml/2006/main">
            <a:r>
              <a:t/>
            </a:r>
          </a:p>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Record evidence strength and missing data.</a:t>
            </a:r>
          </a:p>
        </p:txBody>
      </p:sp>
      <p:sp>
        <p:nvSpPr>
          <p:cNvPr id="12" name="矩形 11">
            <a:extLst xmlns:a="http://schemas.openxmlformats.org/drawingml/2006/main">
              <a:ext uri="{FF2B5EF4-FFF2-40B4-BE49-F238E27FC236}">
                <a16:creationId xmlns:a16="http://schemas.microsoft.com/office/drawing/2014/main" id="{4E848A93-5B4F-4EB0-8462-440C7F1B785D}"/>
              </a:ext>
            </a:extLst>
          </p:cNvPr>
          <p:cNvSpPr>
            <a:spLocks xmlns:a="http://schemas.openxmlformats.org/drawingml/2006/main" noGrp="1"/>
          </p:cNvSpPr>
          <p:nvPr/>
        </p:nvSpPr>
        <p:spPr>
          <a:xfrm xmlns:a="http://schemas.openxmlformats.org/drawingml/2006/main">
            <a:off x="4667250" y="2238375"/>
            <a:ext cx="2857500" cy="2047875"/>
          </a:xfrm>
          <a:prstGeom xmlns:a="http://schemas.openxmlformats.org/drawingml/2006/main" prst="rect">
            <a:avLst/>
          </a:prstGeom>
          <a:solidFill xmlns:a="http://schemas.openxmlformats.org/drawingml/2006/main">
            <a:srgbClr val="F1DDCF"/>
          </a:solidFill>
          <a:ln xmlns:a="http://schemas.openxmlformats.org/drawingml/2006/main" w="9525">
            <a:solidFill>
              <a:srgbClr val="D8D1C3"/>
            </a:solidFill>
            <a:prstDash val="solid"/>
          </a:ln>
        </p:spPr>
      </p:sp>
      <p:sp>
        <p:nvSpPr>
          <p:cNvPr id="13" name="矩形 12">
            <a:extLst xmlns:a="http://schemas.openxmlformats.org/drawingml/2006/main">
              <a:ext uri="{FF2B5EF4-FFF2-40B4-BE49-F238E27FC236}">
                <a16:creationId xmlns:a16="http://schemas.microsoft.com/office/drawing/2014/main" id="{727E5C90-255C-4C6D-8F56-2AD09078A0B7}"/>
              </a:ext>
            </a:extLst>
          </p:cNvPr>
          <p:cNvSpPr>
            <a:spLocks xmlns:a="http://schemas.openxmlformats.org/drawingml/2006/main" noGrp="1"/>
          </p:cNvSpPr>
          <p:nvPr/>
        </p:nvSpPr>
        <p:spPr>
          <a:xfrm xmlns:a="http://schemas.openxmlformats.org/drawingml/2006/main">
            <a:off x="4667250" y="2238375"/>
            <a:ext cx="2857500" cy="66675"/>
          </a:xfrm>
          <a:prstGeom xmlns:a="http://schemas.openxmlformats.org/drawingml/2006/main" prst="rect">
            <a:avLst/>
          </a:prstGeom>
          <a:solidFill xmlns:a="http://schemas.openxmlformats.org/drawingml/2006/main">
            <a:srgbClr val="B46B3A"/>
          </a:solidFill>
          <a:ln xmlns:a="http://schemas.openxmlformats.org/drawingml/2006/main" w="0">
            <a:solidFill>
              <a:srgbClr val="000000">
                <a:alpha val="0"/>
              </a:srgbClr>
            </a:solidFill>
            <a:prstDash val="solid"/>
          </a:ln>
        </p:spPr>
      </p:sp>
      <p:sp>
        <p:nvSpPr>
          <p:cNvPr id="14" name="矩形 13">
            <a:extLst xmlns:a="http://schemas.openxmlformats.org/drawingml/2006/main">
              <a:ext uri="{FF2B5EF4-FFF2-40B4-BE49-F238E27FC236}">
                <a16:creationId xmlns:a16="http://schemas.microsoft.com/office/drawing/2014/main" id="{421FB068-6F0C-4A77-BECF-88CC0562E59A}"/>
              </a:ext>
            </a:extLst>
          </p:cNvPr>
          <p:cNvSpPr>
            <a:spLocks xmlns:a="http://schemas.openxmlformats.org/drawingml/2006/main" noGrp="1"/>
          </p:cNvSpPr>
          <p:nvPr/>
        </p:nvSpPr>
        <p:spPr>
          <a:xfrm xmlns:a="http://schemas.openxmlformats.org/drawingml/2006/main">
            <a:off x="4857750" y="2476500"/>
            <a:ext cx="2476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2. Prepare expert input</a:t>
            </a:r>
          </a:p>
        </p:txBody>
      </p:sp>
      <p:sp>
        <p:nvSpPr>
          <p:cNvPr id="15" name="矩形 14">
            <a:extLst xmlns:a="http://schemas.openxmlformats.org/drawingml/2006/main">
              <a:ext uri="{FF2B5EF4-FFF2-40B4-BE49-F238E27FC236}">
                <a16:creationId xmlns:a16="http://schemas.microsoft.com/office/drawing/2014/main" id="{E27DE29E-64AB-4543-A4FE-DEA68E61411F}"/>
              </a:ext>
            </a:extLst>
          </p:cNvPr>
          <p:cNvSpPr>
            <a:spLocks xmlns:a="http://schemas.openxmlformats.org/drawingml/2006/main" noGrp="1"/>
          </p:cNvSpPr>
          <p:nvPr/>
        </p:nvSpPr>
        <p:spPr>
          <a:xfrm xmlns:a="http://schemas.openxmlformats.org/drawingml/2006/main">
            <a:off x="4857750" y="2905125"/>
            <a:ext cx="2476500" cy="1209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Identify PEM/eLab experts.</a:t>
            </a:r>
          </a:p>
          <a:p xmlns:a="http://schemas.openxmlformats.org/drawingml/2006/main">
            <a:r>
              <a:t/>
            </a:r>
          </a:p>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Draft interview and data-request questions.</a:t>
            </a:r>
          </a:p>
        </p:txBody>
      </p:sp>
      <p:sp>
        <p:nvSpPr>
          <p:cNvPr id="16" name="矩形 15">
            <a:extLst xmlns:a="http://schemas.openxmlformats.org/drawingml/2006/main">
              <a:ext uri="{FF2B5EF4-FFF2-40B4-BE49-F238E27FC236}">
                <a16:creationId xmlns:a16="http://schemas.microsoft.com/office/drawing/2014/main" id="{E3AC0792-31BA-4B4F-A0CE-08E6B3B0E096}"/>
              </a:ext>
            </a:extLst>
          </p:cNvPr>
          <p:cNvSpPr>
            <a:spLocks xmlns:a="http://schemas.openxmlformats.org/drawingml/2006/main" noGrp="1"/>
          </p:cNvSpPr>
          <p:nvPr/>
        </p:nvSpPr>
        <p:spPr>
          <a:xfrm xmlns:a="http://schemas.openxmlformats.org/drawingml/2006/main">
            <a:off x="8524875" y="2238375"/>
            <a:ext cx="2857500" cy="2047875"/>
          </a:xfrm>
          <a:prstGeom xmlns:a="http://schemas.openxmlformats.org/drawingml/2006/main" prst="rect">
            <a:avLst/>
          </a:prstGeom>
          <a:solidFill xmlns:a="http://schemas.openxmlformats.org/drawingml/2006/main">
            <a:srgbClr val="E2E9ED"/>
          </a:solidFill>
          <a:ln xmlns:a="http://schemas.openxmlformats.org/drawingml/2006/main" w="9525">
            <a:solidFill>
              <a:srgbClr val="D8D1C3"/>
            </a:solidFill>
            <a:prstDash val="solid"/>
          </a:ln>
        </p:spPr>
      </p:sp>
      <p:sp>
        <p:nvSpPr>
          <p:cNvPr id="17" name="矩形 16">
            <a:extLst xmlns:a="http://schemas.openxmlformats.org/drawingml/2006/main">
              <a:ext uri="{FF2B5EF4-FFF2-40B4-BE49-F238E27FC236}">
                <a16:creationId xmlns:a16="http://schemas.microsoft.com/office/drawing/2014/main" id="{FCF33EBD-A93D-4FE9-AB7F-33B6B65CF4C0}"/>
              </a:ext>
            </a:extLst>
          </p:cNvPr>
          <p:cNvSpPr>
            <a:spLocks xmlns:a="http://schemas.openxmlformats.org/drawingml/2006/main" noGrp="1"/>
          </p:cNvSpPr>
          <p:nvPr/>
        </p:nvSpPr>
        <p:spPr>
          <a:xfrm xmlns:a="http://schemas.openxmlformats.org/drawingml/2006/main">
            <a:off x="8524875" y="2238375"/>
            <a:ext cx="2857500" cy="66675"/>
          </a:xfrm>
          <a:prstGeom xmlns:a="http://schemas.openxmlformats.org/drawingml/2006/main" prst="rect">
            <a:avLst/>
          </a:prstGeom>
          <a:solidFill xmlns:a="http://schemas.openxmlformats.org/drawingml/2006/main">
            <a:srgbClr val="597389"/>
          </a:solidFill>
          <a:ln xmlns:a="http://schemas.openxmlformats.org/drawingml/2006/main" w="0">
            <a:solidFill>
              <a:srgbClr val="000000">
                <a:alpha val="0"/>
              </a:srgbClr>
            </a:solidFill>
            <a:prstDash val="solid"/>
          </a:ln>
        </p:spPr>
      </p:sp>
      <p:sp>
        <p:nvSpPr>
          <p:cNvPr id="18" name="矩形 17">
            <a:extLst xmlns:a="http://schemas.openxmlformats.org/drawingml/2006/main">
              <a:ext uri="{FF2B5EF4-FFF2-40B4-BE49-F238E27FC236}">
                <a16:creationId xmlns:a16="http://schemas.microsoft.com/office/drawing/2014/main" id="{77773BA7-1F71-4D65-A6FB-4F9739715313}"/>
              </a:ext>
            </a:extLst>
          </p:cNvPr>
          <p:cNvSpPr>
            <a:spLocks xmlns:a="http://schemas.openxmlformats.org/drawingml/2006/main" noGrp="1"/>
          </p:cNvSpPr>
          <p:nvPr/>
        </p:nvSpPr>
        <p:spPr>
          <a:xfrm xmlns:a="http://schemas.openxmlformats.org/drawingml/2006/main">
            <a:off x="8715375" y="2476500"/>
            <a:ext cx="2476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3. Define evaluation method</a:t>
            </a:r>
          </a:p>
        </p:txBody>
      </p:sp>
      <p:sp>
        <p:nvSpPr>
          <p:cNvPr id="19" name="矩形 18">
            <a:extLst xmlns:a="http://schemas.openxmlformats.org/drawingml/2006/main">
              <a:ext uri="{FF2B5EF4-FFF2-40B4-BE49-F238E27FC236}">
                <a16:creationId xmlns:a16="http://schemas.microsoft.com/office/drawing/2014/main" id="{459DAFEA-E80F-4DFF-B4B2-377AD0883D8A}"/>
              </a:ext>
            </a:extLst>
          </p:cNvPr>
          <p:cNvSpPr>
            <a:spLocks xmlns:a="http://schemas.openxmlformats.org/drawingml/2006/main" noGrp="1"/>
          </p:cNvSpPr>
          <p:nvPr/>
        </p:nvSpPr>
        <p:spPr>
          <a:xfrm xmlns:a="http://schemas.openxmlformats.org/drawingml/2006/main">
            <a:off x="8715375" y="2905125"/>
            <a:ext cx="2476500" cy="1209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Define indicators and minimum data before scoring.</a:t>
            </a:r>
          </a:p>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
            </a:r>
          </a:p>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Do not invent ROI.</a:t>
            </a:r>
          </a:p>
        </p:txBody>
      </p:sp>
      <p:sp>
        <p:nvSpPr>
          <p:cNvPr id="20" name="矩形 19">
            <a:extLst xmlns:a="http://schemas.openxmlformats.org/drawingml/2006/main">
              <a:ext uri="{FF2B5EF4-FFF2-40B4-BE49-F238E27FC236}">
                <a16:creationId xmlns:a16="http://schemas.microsoft.com/office/drawing/2014/main" id="{10165C83-EC73-43E7-B4CF-F44CB4385D5B}"/>
              </a:ext>
            </a:extLst>
          </p:cNvPr>
          <p:cNvSpPr>
            <a:spLocks xmlns:a="http://schemas.openxmlformats.org/drawingml/2006/main" noGrp="1"/>
          </p:cNvSpPr>
          <p:nvPr/>
        </p:nvSpPr>
        <p:spPr>
          <a:xfrm xmlns:a="http://schemas.openxmlformats.org/drawingml/2006/main">
            <a:off x="1238250" y="5029200"/>
            <a:ext cx="9715500" cy="514350"/>
          </a:xfrm>
          <a:prstGeom xmlns:a="http://schemas.openxmlformats.org/drawingml/2006/main" prst="rect">
            <a:avLst/>
          </a:prstGeom>
          <a:solidFill xmlns:a="http://schemas.openxmlformats.org/drawingml/2006/main">
            <a:srgbClr val="315C49"/>
          </a:solidFill>
          <a:ln xmlns:a="http://schemas.openxmlformats.org/drawingml/2006/main" w="0">
            <a:solidFill>
              <a:srgbClr val="000000">
                <a:alpha val="0"/>
              </a:srgbClr>
            </a:solidFill>
            <a:prstDash val="solid"/>
          </a:ln>
        </p:spPr>
      </p:sp>
      <p:sp>
        <p:nvSpPr>
          <p:cNvPr id="21" name="矩形 20">
            <a:extLst xmlns:a="http://schemas.openxmlformats.org/drawingml/2006/main">
              <a:ext uri="{FF2B5EF4-FFF2-40B4-BE49-F238E27FC236}">
                <a16:creationId xmlns:a16="http://schemas.microsoft.com/office/drawing/2014/main" id="{C3158F5B-FFB2-46DC-B440-BA3EDEDE6750}"/>
              </a:ext>
            </a:extLst>
          </p:cNvPr>
          <p:cNvSpPr>
            <a:spLocks xmlns:a="http://schemas.openxmlformats.org/drawingml/2006/main" noGrp="1"/>
          </p:cNvSpPr>
          <p:nvPr/>
        </p:nvSpPr>
        <p:spPr>
          <a:xfrm xmlns:a="http://schemas.openxmlformats.org/drawingml/2006/main">
            <a:off x="1524000" y="5172075"/>
            <a:ext cx="914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Expected output: evidence matrix + expert/data-request guide + proposal for narrowing the cases.</a:t>
            </a:r>
          </a:p>
        </p:txBody>
      </p:sp>
    </p:spTree>
    <p:extLst>
      <p:ext uri="{BB962C8B-B14F-4D97-AF65-F5344CB8AC3E}">
        <p14:creationId xmlns:p14="http://schemas.microsoft.com/office/powerpoint/2010/main" val="21008212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2026-07-22T13:02:38.2570000Z</dcterms:created>
  <dcterms:modified xsi:type="dcterms:W3CDTF">2026-07-22T13:02:38.2580000Z</dcterms:modified>
</coreProperties>
</file>