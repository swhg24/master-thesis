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62" r:id="rId2"/>
    <p:sldId id="267" r:id="rId3"/>
    <p:sldId id="263" r:id="rId4"/>
    <p:sldId id="265" r:id="rId5"/>
    <p:sldId id="266" r:id="rId6"/>
  </p:sldIdLst>
  <p:sldSz cx="12192000" cy="6858000"/>
  <p:notesSz cx="7099300" cy="10234613"/>
  <p:custDataLst>
    <p:tags r:id="rId9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99FF99"/>
    <a:srgbClr val="004686"/>
    <a:srgbClr val="005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9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92144461-3961-4093-8530-301C5A77948F}" type="datetimeFigureOut">
              <a:rPr lang="de-DE" altLang="de-DE"/>
              <a:pPr>
                <a:defRPr/>
              </a:pPr>
              <a:t>11.06.2021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4A0E497E-C7F4-46E4-827D-C4CAAE52261A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09AB114D-54FD-4F86-9A5A-5C68950941DB}" type="datetimeFigureOut">
              <a:rPr lang="de-DE" altLang="de-DE"/>
              <a:pPr>
                <a:defRPr/>
              </a:pPr>
              <a:t>11.06.2021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71BC0214-8F33-4BD8-81F1-63CBAD50D148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.xml"/><Relationship Id="rId7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2.png"/><Relationship Id="rId2" Type="http://schemas.openxmlformats.org/officeDocument/2006/relationships/tags" Target="../tags/tag20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389697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8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11" name="Objek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487600"/>
            <a:ext cx="11484000" cy="54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2980800"/>
            <a:ext cx="11484000" cy="234136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99" y="6043613"/>
            <a:ext cx="2440801" cy="8136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21FF07-D498-4883-9580-05C6647E4F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5449921"/>
            <a:ext cx="5753910" cy="365443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Aachen, den xx.xx.20xx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C5B252B-1AD4-43B7-AA21-25D75936C69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203" cy="2289124"/>
          </a:xfrm>
          <a:prstGeom prst="rect">
            <a:avLst/>
          </a:prstGeom>
        </p:spPr>
      </p:pic>
      <p:sp>
        <p:nvSpPr>
          <p:cNvPr id="17" name="Rechteck 16"/>
          <p:cNvSpPr>
            <a:spLocks noChangeAspect="1"/>
          </p:cNvSpPr>
          <p:nvPr userDrawn="1"/>
        </p:nvSpPr>
        <p:spPr>
          <a:xfrm>
            <a:off x="0" y="0"/>
            <a:ext cx="12192000" cy="2289123"/>
          </a:xfrm>
          <a:prstGeom prst="rect">
            <a:avLst/>
          </a:prstGeom>
          <a:gradFill>
            <a:gsLst>
              <a:gs pos="67000">
                <a:schemeClr val="bg1">
                  <a:alpha val="30000"/>
                </a:schemeClr>
              </a:gs>
              <a:gs pos="78000">
                <a:srgbClr val="FFFFFF">
                  <a:alpha val="98000"/>
                </a:srgbClr>
              </a:gs>
              <a:gs pos="84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hteck 17"/>
          <p:cNvSpPr>
            <a:spLocks noChangeAspect="1"/>
          </p:cNvSpPr>
          <p:nvPr userDrawn="1"/>
        </p:nvSpPr>
        <p:spPr>
          <a:xfrm>
            <a:off x="0" y="0"/>
            <a:ext cx="12192000" cy="2289123"/>
          </a:xfrm>
          <a:prstGeom prst="rect">
            <a:avLst/>
          </a:prstGeom>
          <a:gradFill>
            <a:gsLst>
              <a:gs pos="15000">
                <a:schemeClr val="accent2">
                  <a:alpha val="30000"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29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85011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92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0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77E84AD-E337-45F7-8EC9-B2E76DE4E1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Quelle</a:t>
            </a:r>
            <a:endParaRPr lang="en-US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FFB2410-7B1A-4B31-BAA3-4FAF4DDFEA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9999" y="897890"/>
            <a:ext cx="11484000" cy="485999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4FC5D72A-A09D-4B74-9C9D-605177A54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41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4537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3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0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77E84AD-E337-45F7-8EC9-B2E76DE4E1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Quelle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4FC5D72A-A09D-4B74-9C9D-605177A54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03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792058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3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0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7EB74A0-9C8E-4A3E-B28E-C00BB2CC25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</a:lstStyle>
          <a:p>
            <a:pPr lvl="0"/>
            <a:r>
              <a:rPr lang="de-DE" dirty="0"/>
              <a:t>Quelle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DB3DCFF-014E-42D0-A30E-9E6A7854B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897890"/>
            <a:ext cx="3732000" cy="306000"/>
          </a:xfrm>
          <a:solidFill>
            <a:schemeClr val="tx2"/>
          </a:solidFill>
        </p:spPr>
        <p:txBody>
          <a:bodyPr lIns="216000" tIns="0" rIns="0" bIns="0" anchor="ctr"/>
          <a:lstStyle>
            <a:lvl1pPr marL="0" indent="0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 Spalte 1/3</a:t>
            </a:r>
            <a:endParaRPr lang="en-US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223FD7AA-42F1-41DA-857B-5716357EE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6000" y="897890"/>
            <a:ext cx="3732000" cy="306000"/>
          </a:xfrm>
          <a:solidFill>
            <a:schemeClr val="tx2"/>
          </a:solidFill>
        </p:spPr>
        <p:txBody>
          <a:bodyPr lIns="216000" tIns="0" rIns="0" bIns="0" anchor="ctr"/>
          <a:lstStyle>
            <a:lvl1pPr marL="0" indent="0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 Spalte 2/3</a:t>
            </a:r>
            <a:endParaRPr lang="en-US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F2144F7F-0530-4533-8F50-81105D875D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000" y="897890"/>
            <a:ext cx="3732000" cy="306000"/>
          </a:xfrm>
          <a:solidFill>
            <a:schemeClr val="tx2"/>
          </a:solidFill>
        </p:spPr>
        <p:txBody>
          <a:bodyPr lIns="216000" tIns="0" rIns="0" bIns="0" anchor="ctr"/>
          <a:lstStyle>
            <a:lvl1pPr marL="0" indent="0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 Spalte 3/3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42F800-5109-41A2-9706-FC9E4985D2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7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mit Kicker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490468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7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0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77E84AD-E337-45F7-8EC9-B2E76DE4E1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Quelle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4FC5D72A-A09D-4B74-9C9D-605177A54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 durch Klicken bearbeiten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67C4E7E3-BF85-4FC5-A3A2-8FDE644B38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5242060"/>
            <a:ext cx="11484001" cy="576000"/>
          </a:xfrm>
          <a:solidFill>
            <a:schemeClr val="tx2"/>
          </a:solidFill>
        </p:spPr>
        <p:txBody>
          <a:bodyPr lIns="0" tIns="0" rIns="0" bIns="0" anchor="ctr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Kickerbox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780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2/3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6070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9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0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77E84AD-E337-45F7-8EC9-B2E76DE4E1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Quelle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4FC5D72A-A09D-4B74-9C9D-605177A54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 durch Klicken bearbeiten</a:t>
            </a:r>
            <a:endParaRPr lang="en-US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FFB2410-7B1A-4B31-BAA3-4FAF4DDFEA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199" y="897890"/>
            <a:ext cx="7606801" cy="428571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78EAC48-241D-44E6-8160-E518CFCD9DE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0000" y="897890"/>
            <a:ext cx="3733200" cy="42857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Bild </a:t>
            </a:r>
            <a:r>
              <a:rPr lang="en-US" dirty="0" err="1"/>
              <a:t>einfügen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67C4E7E3-BF85-4FC5-A3A2-8FDE644B38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5242060"/>
            <a:ext cx="11484001" cy="576000"/>
          </a:xfrm>
          <a:solidFill>
            <a:schemeClr val="tx2"/>
          </a:solidFill>
        </p:spPr>
        <p:txBody>
          <a:bodyPr lIns="0" tIns="0" rIns="0" bIns="0" anchor="ctr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Kickerbox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666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60930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0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0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7C551E9-B621-4174-AC63-71E13CBA0A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999" y="897890"/>
            <a:ext cx="11484000" cy="485999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F4B8DE-76C3-4630-A8B1-57D947975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71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19428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1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11" name="Objek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487600"/>
            <a:ext cx="11484000" cy="54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2980800"/>
            <a:ext cx="11484000" cy="234136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99" y="6043613"/>
            <a:ext cx="2440801" cy="8136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21FF07-D498-4883-9580-05C6647E4F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5449921"/>
            <a:ext cx="5753910" cy="365443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Aachen, den xx.xx.20xx</a:t>
            </a:r>
            <a:endParaRPr lang="en-US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6203B30-20DD-4FC9-8067-D09617CFF666}"/>
              </a:ext>
            </a:extLst>
          </p:cNvPr>
          <p:cNvSpPr/>
          <p:nvPr userDrawn="1"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10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Bildplatzh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26831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5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11" name="Objek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487600"/>
            <a:ext cx="11484000" cy="54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2980800"/>
            <a:ext cx="11484000" cy="234136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99" y="6043613"/>
            <a:ext cx="2440801" cy="8136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21FF07-D498-4883-9580-05C6647E4F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5449921"/>
            <a:ext cx="5753910" cy="365443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Aachen, den xx.xx.20xx</a:t>
            </a:r>
            <a:endParaRPr lang="en-US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B3A9A25-31B2-4A68-8A64-2F7ECB818E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231298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/>
            </a:lvl1pPr>
          </a:lstStyle>
          <a:p>
            <a:r>
              <a:rPr lang="en-US" dirty="0"/>
              <a:t>Bild </a:t>
            </a:r>
            <a:r>
              <a:rPr lang="en-US" dirty="0" err="1"/>
              <a:t>einfügen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90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97030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84DC980D-AADF-4A20-A3CB-8D92F50A4D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281412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0" name="think-cell Folie" r:id="rId15" imgW="408" imgH="408" progId="TCLayout.ActiveDocument.1">
                  <p:embed/>
                </p:oleObj>
              </mc:Choice>
              <mc:Fallback>
                <p:oleObj name="think-cell Folie" r:id="rId15" imgW="408" imgH="4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hteck 12" hidden="1">
            <a:extLst>
              <a:ext uri="{FF2B5EF4-FFF2-40B4-BE49-F238E27FC236}">
                <a16:creationId xmlns:a16="http://schemas.microsoft.com/office/drawing/2014/main" id="{4B2F3C63-04AD-4CD2-8310-755D65E12983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/>
            <a:endParaRPr lang="de-DE" sz="2000" b="1" i="0" baseline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000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75D4CD2-84BA-4866-8A4C-B17C5E663C31}" type="slidenum">
              <a:rPr lang="de-DE" altLang="de-DE" sz="900">
                <a:solidFill>
                  <a:schemeClr val="tx1"/>
                </a:solidFill>
              </a:rPr>
              <a:pPr eaLnBrk="1" hangingPunct="1"/>
              <a:t>‹Nr.›</a:t>
            </a:fld>
            <a:endParaRPr lang="de-DE" altLang="de-DE" sz="900" dirty="0">
              <a:solidFill>
                <a:schemeClr val="tx1"/>
              </a:solidFill>
            </a:endParaRP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99" y="6043613"/>
            <a:ext cx="2440801" cy="813600"/>
          </a:xfrm>
          <a:prstGeom prst="rect">
            <a:avLst/>
          </a:prstGeom>
        </p:spPr>
      </p:pic>
      <p:sp>
        <p:nvSpPr>
          <p:cNvPr id="8" name="Titelplatzhalter 7">
            <a:extLst>
              <a:ext uri="{FF2B5EF4-FFF2-40B4-BE49-F238E27FC236}">
                <a16:creationId xmlns:a16="http://schemas.microsoft.com/office/drawing/2014/main" id="{FF537522-E915-4487-9FAA-8A75E5D5E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01600"/>
            <a:ext cx="11483975" cy="5436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403470B-E64D-436C-9650-AB9ED8D83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360363" y="897890"/>
            <a:ext cx="11483975" cy="4859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59" r:id="rId2"/>
    <p:sldLayoutId id="2147483872" r:id="rId3"/>
    <p:sldLayoutId id="2147483866" r:id="rId4"/>
    <p:sldLayoutId id="2147483873" r:id="rId5"/>
    <p:sldLayoutId id="2147483871" r:id="rId6"/>
    <p:sldLayoutId id="2147483868" r:id="rId7"/>
    <p:sldLayoutId id="2147483869" r:id="rId8"/>
    <p:sldLayoutId id="2147483870" r:id="rId9"/>
    <p:sldLayoutId id="2147483874" r:id="rId10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6000" indent="-216000" algn="l" defTabSz="215900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2">
            <a:lumMod val="100000"/>
          </a:schemeClr>
        </a:buClr>
        <a:buSzPct val="100000"/>
        <a:buFont typeface="Arial" panose="020B0604020202020204" pitchFamily="34" charset="0"/>
        <a:buChar char="●"/>
        <a:tabLst>
          <a:tab pos="215900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1pPr>
      <a:lvl2pPr marL="432000" indent="-216000" algn="l" rtl="0" eaLnBrk="1" fontAlgn="base" hangingPunct="1">
        <a:lnSpc>
          <a:spcPct val="100000"/>
        </a:lnSpc>
        <a:spcBef>
          <a:spcPts val="400"/>
        </a:spcBef>
        <a:spcAft>
          <a:spcPct val="0"/>
        </a:spcAft>
        <a:buClr>
          <a:schemeClr val="accent2">
            <a:lumMod val="100000"/>
          </a:schemeClr>
        </a:buClr>
        <a:buSzPct val="100000"/>
        <a:buFont typeface="Arial" panose="020B0604020202020204" pitchFamily="34" charset="0"/>
        <a:buChar char="–"/>
        <a:tabLst>
          <a:tab pos="431800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2pPr>
      <a:lvl3pPr marL="648000" indent="-215900" algn="l" defTabSz="2159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2">
            <a:lumMod val="100000"/>
          </a:schemeClr>
        </a:buClr>
        <a:buSzPct val="100000"/>
        <a:buFont typeface="Arial" panose="020B0604020202020204" pitchFamily="34" charset="0"/>
        <a:buChar char="•"/>
        <a:tabLst>
          <a:tab pos="647700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3pPr>
      <a:lvl4pPr marL="864000" indent="-215900" algn="l" defTabSz="2159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accent2">
            <a:lumMod val="100000"/>
          </a:schemeClr>
        </a:buClr>
        <a:buSzPct val="100000"/>
        <a:buFont typeface="Arial" panose="020B0604020202020204" pitchFamily="34" charset="0"/>
        <a:buChar char="•"/>
        <a:tabLst>
          <a:tab pos="863600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4pPr>
      <a:lvl5pPr marL="1080000" indent="-216000" algn="l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895350" algn="l"/>
        </a:tabLst>
        <a:defRPr lang="de-DE" sz="1400" kern="1200" dirty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orient="horz" pos="3628" userDrawn="1">
          <p15:clr>
            <a:srgbClr val="F26B43"/>
          </p15:clr>
        </p15:guide>
        <p15:guide id="3" orient="horz" pos="566" userDrawn="1">
          <p15:clr>
            <a:srgbClr val="F26B43"/>
          </p15:clr>
        </p15:guide>
        <p15:guide id="4" orient="horz" pos="470" userDrawn="1">
          <p15:clr>
            <a:srgbClr val="F26B43"/>
          </p15:clr>
        </p15:guide>
        <p15:guide id="5" pos="225" userDrawn="1">
          <p15:clr>
            <a:srgbClr val="F26B43"/>
          </p15:clr>
        </p15:guide>
        <p15:guide id="6" pos="74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1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3.bin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4.bin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45454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2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endParaRPr lang="de-DE" sz="32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5D165E7-DD09-49CC-A73A-224323B322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Titel der Abschlussarbeit</a:t>
            </a:r>
            <a:endParaRPr lang="en-US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6B4A2693-A7F2-4612-8697-C474CD037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  <a:p>
            <a:pPr>
              <a:lnSpc>
                <a:spcPct val="90000"/>
              </a:lnSpc>
            </a:pPr>
            <a:endParaRPr lang="de-DE" b="1" dirty="0"/>
          </a:p>
          <a:p>
            <a:pPr>
              <a:lnSpc>
                <a:spcPct val="90000"/>
              </a:lnSpc>
            </a:pPr>
            <a:endParaRPr lang="de-DE" b="1" dirty="0"/>
          </a:p>
          <a:p>
            <a:pPr>
              <a:lnSpc>
                <a:spcPct val="90000"/>
              </a:lnSpc>
            </a:pPr>
            <a:endParaRPr lang="de-DE" b="1" dirty="0"/>
          </a:p>
          <a:p>
            <a:pPr>
              <a:lnSpc>
                <a:spcPct val="90000"/>
              </a:lnSpc>
            </a:pPr>
            <a:r>
              <a:rPr lang="de-DE" b="1" dirty="0"/>
              <a:t>Kandidat: Max Mustermann</a:t>
            </a:r>
          </a:p>
          <a:p>
            <a:pPr>
              <a:lnSpc>
                <a:spcPct val="90000"/>
              </a:lnSpc>
            </a:pPr>
            <a:r>
              <a:rPr lang="de-DE" b="1" dirty="0"/>
              <a:t>Betreuer: Max Mustermann, M.Sc.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Chair of Production Engineering of E-Mobility Components (PEM)</a:t>
            </a:r>
            <a:endParaRPr lang="de-DE" dirty="0"/>
          </a:p>
          <a:p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70ABB6C-EA7D-48D4-B734-C9CA287598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Aachen, XX. Monat 202X</a:t>
            </a:r>
          </a:p>
        </p:txBody>
      </p:sp>
    </p:spTree>
    <p:extLst>
      <p:ext uri="{BB962C8B-B14F-4D97-AF65-F5344CB8AC3E}">
        <p14:creationId xmlns:p14="http://schemas.microsoft.com/office/powerpoint/2010/main" val="42338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E7632070-8BF6-4313-B86C-5F79C6303CA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6339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39" name="think-cell Folie" r:id="rId4" imgW="395" imgH="396" progId="TCLayout.ActiveDocument.1">
                  <p:embed/>
                </p:oleObj>
              </mc:Choice>
              <mc:Fallback>
                <p:oleObj name="think-cell Folie" r:id="rId4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C0DE0B-704F-4E6A-8382-A5A53DAB3AC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Das Abschlusskolloquium besteht aus 15 Minuten Vortrag und 10 Minuten Fragen/Diskussion. Anwesend ist als Prüfer der Oberingenieur, ein </a:t>
            </a:r>
            <a:r>
              <a:rPr lang="de-DE" dirty="0" err="1"/>
              <a:t>Kolloquiumsbetreuer</a:t>
            </a:r>
            <a:r>
              <a:rPr lang="de-DE" dirty="0"/>
              <a:t> und interessierte Assistenten des PEM.</a:t>
            </a:r>
          </a:p>
          <a:p>
            <a:pPr lvl="1"/>
            <a:r>
              <a:rPr lang="de-DE" dirty="0"/>
              <a:t>Ein guter Richtwert sind 1:30 - 2:00 Minuten Vortrag pro Folie.</a:t>
            </a:r>
          </a:p>
          <a:p>
            <a:pPr lvl="1"/>
            <a:r>
              <a:rPr lang="de-DE" dirty="0"/>
              <a:t>Die 15 Minuten Vortragszeit sollten eingehalten werden.</a:t>
            </a:r>
          </a:p>
          <a:p>
            <a:r>
              <a:rPr lang="de-DE" dirty="0"/>
              <a:t>Das Abschlusskolloquium ist der letzte Schritt des Abschlussarbeitsprozesses.</a:t>
            </a:r>
          </a:p>
          <a:p>
            <a:pPr lvl="1"/>
            <a:r>
              <a:rPr lang="de-DE" dirty="0"/>
              <a:t>Die Note wird innerhalb von 3-6 Wochen im RWTH-Online eingetragen.</a:t>
            </a:r>
          </a:p>
          <a:p>
            <a:pPr lvl="1"/>
            <a:r>
              <a:rPr lang="de-DE" dirty="0"/>
              <a:t>Falls eine 4.0-Bescheinigung erforderlich ist, ist diese vorausgefüllt mit den anderen Unterlagen und den Kontaktdaten (E-Mail-Adresse) der entsprechenden Kontaktperson im ZPA beim PEM-Kolloquium (kolloquium@pem.rwth-aachen.de) einzureichen.</a:t>
            </a:r>
          </a:p>
          <a:p>
            <a:pPr lvl="1"/>
            <a:r>
              <a:rPr lang="de-DE" dirty="0"/>
              <a:t>Falls die 4.0-Bescheinigung bereits </a:t>
            </a:r>
            <a:r>
              <a:rPr lang="de-DE" b="1" dirty="0"/>
              <a:t>ZUM </a:t>
            </a:r>
            <a:r>
              <a:rPr lang="de-DE" dirty="0"/>
              <a:t>Kolloquium benötigt wird, bitte den oder die Betreuer*in und das Kolloquium frühzeitig informieren.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4D020B7-E285-44EF-967B-CA6AD8D6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t"/>
          <a:lstStyle/>
          <a:p>
            <a:r>
              <a:rPr lang="de-DE" dirty="0">
                <a:solidFill>
                  <a:schemeClr val="accent2"/>
                </a:solidFill>
              </a:rPr>
              <a:t>Allgemeine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26410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87171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3" name="think-cell Folie" r:id="rId5" imgW="473" imgH="473" progId="TCLayout.ActiveDocument.1">
                  <p:embed/>
                </p:oleObj>
              </mc:Choice>
              <mc:Fallback>
                <p:oleObj name="think-cell Folie" r:id="rId5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000" b="1" i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12D2E4-4171-4533-A15E-00234BD4B7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i="1" dirty="0">
                <a:solidFill>
                  <a:schemeClr val="accent2"/>
                </a:solidFill>
              </a:rPr>
              <a:t>Motivation &amp; Problemstellung</a:t>
            </a:r>
            <a:br>
              <a:rPr lang="de-DE" i="1" dirty="0">
                <a:solidFill>
                  <a:schemeClr val="accent2"/>
                </a:solidFill>
              </a:rPr>
            </a:br>
            <a:r>
              <a:rPr lang="de-DE" dirty="0"/>
              <a:t>xxx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01BF5F8-C0E3-465B-AF39-52644CEE1E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i="1" dirty="0">
                <a:solidFill>
                  <a:schemeClr val="bg1">
                    <a:lumMod val="100000"/>
                  </a:schemeClr>
                </a:solidFill>
              </a:rPr>
              <a:t>Forschungsfrage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959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9899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98" name="think-cell Folie" r:id="rId5" imgW="473" imgH="473" progId="TCLayout.ActiveDocument.1">
                  <p:embed/>
                </p:oleObj>
              </mc:Choice>
              <mc:Fallback>
                <p:oleObj name="think-cell Folie" r:id="rId5" imgW="473" imgH="47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000" b="1" i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>
                <a:solidFill>
                  <a:schemeClr val="accent2"/>
                </a:solidFill>
              </a:rPr>
              <a:t>Lösungsweg &amp; Kernergebnisse</a:t>
            </a:r>
            <a:br>
              <a:rPr lang="de-DE" i="1" dirty="0">
                <a:solidFill>
                  <a:schemeClr val="accent2"/>
                </a:solidFill>
              </a:rPr>
            </a:br>
            <a:r>
              <a:rPr lang="de-DE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212955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2650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22" name="think-cell Folie" r:id="rId5" imgW="473" imgH="473" progId="TCLayout.ActiveDocument.1">
                  <p:embed/>
                </p:oleObj>
              </mc:Choice>
              <mc:Fallback>
                <p:oleObj name="think-cell Folie" r:id="rId5" imgW="473" imgH="47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000" b="1" i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>
                <a:solidFill>
                  <a:schemeClr val="accent2"/>
                </a:solidFill>
              </a:rPr>
              <a:t>Fazit &amp; weiterer Forschungsbedarf</a:t>
            </a:r>
            <a:br>
              <a:rPr lang="de-DE" i="1" dirty="0">
                <a:solidFill>
                  <a:schemeClr val="accent2"/>
                </a:solidFill>
              </a:rPr>
            </a:br>
            <a:r>
              <a:rPr lang="de-DE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962295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&lt;ee4p&gt;&lt;layouts&gt;&lt;layout name=&quot;PEM&quot; id=&quot;4_22&quot;&gt;&lt;standard&gt;&lt;textframe horizontalAnchor=&quot;1&quot; marginBottom=&quot;6&quot; marginLeft=&quot;0&quot; marginRight=&quot;0&quot; marginTop=&quot;6&quot; orientation=&quot;1&quot; verticalAnchor=&quot;1&quot; /&gt;&lt;font name=&quot;Arial&quot; bold=&quot;0&quot; italic=&quot;0&quot; color=&quot;13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fontSize=&quot;16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31.50472&quot; /&gt;&lt;column field=&quot;topic&quot; label=&quot;Topic&quot; leftSpacing=&quot;5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24.75&quot; top=&quot;87.87504&quot; width=&quot;730.7397&quot; height=&quot;371&quot; /&gt;&lt;subtitle&gt;&lt;position left=&quot;24.75&quot; top=&quot;63.12496&quot; width=&quot;730.4998&quot; height=&quot;21.81095&quot; /&gt;&lt;font name=&quot;Arial&quot; size=&quot;18&quot; bold=&quot;0&quot; italic=&quot;1&quot; underlineStyle=&quot;0&quot; color=&quot;13&quot; /&gt;&lt;textframe horizontalAnchor=&quot;1&quot; verticalAnchor=&quot;1&quot; orientation=&quot;1&quot; wordWrap=&quot;1&quot; autoSize=&quot;1&quot; marginLeft=&quot;0&quot; marginRight=&quot;0&quot; marginTop=&quot;0&quot; marginBottom=&quot;0&quot; /&gt;&lt;paragraphformat alignment=&quot;1&quot; lineRuleBefore=&quot;1&quot; lineRuleWithin=&quot;1&quot; lineRuleAfter=&quot;1&quot; spaceBefore=&quot;0&quot; spaceWithin=&quot;1&quot; spaceAfter=&quot;0&quot; /&gt;&lt;/subtitle&gt;&lt;settings allowedSizingModeIds=&quot;1|2&quot; allowedFontSizes=&quot;8|9|10.5|11|12|14|16|18&quot; allowedTimeFormatIds=&quot;1|2|3&quot; slideLayout=&quot;11&quot; customLayoutName=&quot;&quot; customLayoutIndex=&quot;&quot; showBreak=&quot;1&quot; singleAgendaSlideSelected=&quot;0&quot; backupSlideTitle=&quot;Backup: %agendaName%&quot; topMargin=&quot;0&quot; leftMargin=&quot;0&quot; /&gt;&lt;!-- Agenda item formats --&gt;&lt;cases&gt;&lt;case level=&quot;1&quot; selected=&quot;0&quot; break=&quot;0&quot; topMinSpacing=&quot;5&quot; topMaxSpacing=&quot;5&quot; bottomMinSpacing=&quot;0&quot; bottomMaxSpacing=&quot;0&quot;&gt;&lt;element field=&quot;itemno&quot; type=&quot;autoshape&quot; autoShapeType=&quot;9&quot;&gt;&lt;textframe marginLeft=&quot;6&quot; marginRight=&quot;6&quot; verticalAnchor=&quot;3&quot; /&gt;&lt;paragraphformat alignment=&quot;2&quot; /&gt;&lt;fill foreColor=&quot;6&quot; visible=&quot;1&quot; /&gt;&lt;font bold=&quot;1&quot; color=&quot;14&quot; /&gt;&lt;/element&gt;&lt;element field=&quot;topic&quot; type=&quot;autoshape&quot; autoShapeType=&quot;1&quot;&gt;&lt;paragraphformat alignment=&quot;1&quot; /&gt;&lt;textframe marginLeft=&quot;6&quot; /&gt;&lt;font bold=&quot;1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5&quot; topMaxSpacing=&quot;5&quot; bottomMinSpacing=&quot;0&quot; bottomMaxSpacing=&quot;0&quot;&gt;&lt;element type=&quot;autoshape&quot; autoShapeType=&quot;1&quot; value=&quot;&quot;&gt;&lt;position left=&quot;31.50472/2*scale*fontScale&quot; top=&quot;0&quot; width=&quot;agendaWidth-itemNoWidth/2&quot; height=&quot;itemHeight&quot; /&gt;&lt;fill foreColor=&quot;#E1E1E1&quot; visible=&quot;1&quot; /&gt;&lt;/element&gt;&lt;element field=&quot;itemno&quot; type=&quot;autoshape&quot; autoShapeType=&quot;9&quot;&gt;&lt;textframe marginLeft=&quot;6&quot; marginRight=&quot;6&quot; verticalAnchor=&quot;3&quot; /&gt;&lt;paragraphformat alignment=&quot;2&quot; /&gt;&lt;fill foreColor=&quot;6&quot; visible=&quot;1&quot; /&gt;&lt;font bold=&quot;1&quot; color=&quot;14&quot; /&gt;&lt;/element&gt;&lt;element field=&quot;topic&quot; type=&quot;autoshape&quot; autoShapeType=&quot;1&quot;&gt;&lt;paragraphformat alignment=&quot;1&quot; /&gt;&lt;font bold=&quot;1&quot; /&gt;&lt;textframe marginLeft=&quot;6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2&quot; selected=&quot;0&quot; break=&quot;0&quot; topMinSpacing=&quot;5&quot; topMaxSpacing=&quot;5&quot; bottomMinSpacing=&quot;0&quot; bottomMaxSpacing=&quot;0&quot;&gt;&lt;element field=&quot;itemno&quot; type=&quot;autoshape&quot; autoShapeType=&quot;9&quot; indent=&quot;36.50472&quot; indentType=&quot;1&quot;&gt;&lt;textframe marginLeft=&quot;6&quot; marginRight=&quot;6&quot; verticalAnchor=&quot;3&quot; /&gt;&lt;paragraphformat alignment=&quot;2&quot; /&gt;&lt;fill foreColor=&quot;6&quot; visible=&quot;1&quot; /&gt;&lt;font bold=&quot;1&quot; color=&quot;14&quot; /&gt;&lt;/element&gt;&lt;element field=&quot;topic&quot; type=&quot;autoshape&quot; autoShapeType=&quot;1&quot; indent=&quot;36.50472&quot; indentType=&quot;2&quot;&gt;&lt;paragraphformat alignment=&quot;1&quot; /&gt;&lt;textframe marginLeft=&quot;6&quot; /&gt;&lt;font bold=&quot;1&quot; /&gt;&lt;/element&gt;&lt;element field=&quot;responsible&quot; type=&quot;autoshape&quot; autoShapeType=&quot;1&quot; indent=&quot;36.50472&quot; indentType=&quot;1&quot;&gt;&lt;paragraphformat alignment=&quot;1&quot; /&gt;&lt;/element&gt;&lt;element field=&quot;freecolumn&quot; type=&quot;autoshape&quot; autoShapeType=&quot;1&quot; indent=&quot;36.50472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2&quot; selected=&quot;1&quot; break=&quot;0&quot; topMinSpacing=&quot;5&quot; topMaxSpacing=&quot;5&quot; bottomMinSpacing=&quot;0&quot; bottomMaxSpacing=&quot;0&quot;&gt;&lt;element type=&quot;autoshape&quot; autoShapeType=&quot;1&quot; value=&quot;&quot;&gt;&lt;position left=&quot;(36.50472+31.50472/2)*scale*fontScale&quot; top=&quot;0&quot; width=&quot;agendaWidth-(36.50472+31.50472/2)*scale*fontScale&quot; height=&quot;itemHeight&quot; /&gt;&lt;fill foreColor=&quot;#E1E1E1&quot; visible=&quot;1&quot; /&gt;&lt;/element&gt;&lt;element field=&quot;itemno&quot; type=&quot;autoshape&quot; autoShapeType=&quot;9&quot; indent=&quot;36.50472&quot; indentType=&quot;1&quot;&gt;&lt;textframe marginLeft=&quot;6&quot; marginRight=&quot;6&quot; verticalAnchor=&quot;3&quot; /&gt;&lt;paragraphformat alignment=&quot;2&quot; /&gt;&lt;fill foreColor=&quot;6&quot; visible=&quot;1&quot; /&gt;&lt;font bold=&quot;1&quot; color=&quot;14&quot; /&gt;&lt;/element&gt;&lt;element field=&quot;topic&quot; type=&quot;autoshape&quot; autoShapeType=&quot;1&quot; indent=&quot;36.50472&quot; indentType=&quot;2&quot;&gt;&lt;paragraphformat alignment=&quot;1&quot; /&gt;&lt;font bold=&quot;1&quot; /&gt;&lt;textframe marginLeft=&quot;6&quot; /&gt;&lt;/element&gt;&lt;element field=&quot;responsible&quot; type=&quot;autoshape&quot; autoShapeType=&quot;1&quot; indent=&quot;36.50472&quot; indentType=&quot;1&quot;&gt;&lt;paragraphformat alignment=&quot;1&quot; /&gt;&lt;/element&gt;&lt;element field=&quot;freecolumn&quot; type=&quot;autoshape&quot; autoShapeType=&quot;1&quot; indent=&quot;36.50472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0&quot; break=&quot;1&quot; topMinSpacing=&quot;5&quot; topMaxSpacing=&quot;5&quot; bottomMinSpacing=&quot;0&quot; bottomMaxSpacing=&quot;0&quot;&gt;&lt;element field=&quot;topic&quot; type=&quot;autoshape&quot; autoShapeType=&quot;1&quot;&gt;&lt;paragraphformat alignment=&quot;1&quot; /&gt;&lt;textframe marginLeft=&quot;6&quot; /&gt;&lt;font bold=&quot;1&quot; italic=&quot;1&quot; /&gt;&lt;/element&gt;&lt;element field=&quot;responsible&quot; type=&quot;autoshape&quot; autoShapeType=&quot;1&quot;&gt;&lt;paragraphformat alignment=&quot;1&quot; /&gt;&lt;font italic=&quot;1&quot; /&gt;&lt;/element&gt;&lt;element field=&quot;freecolumn&quot; type=&quot;autoshape&quot; autoShape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5&quot; topMaxSpacing=&quot;5&quot; bottomMinSpacing=&quot;0&quot; bottomMaxSpacing=&quot;0&quot;&gt;&lt;element type=&quot;autoshape&quot; autoShapeType=&quot;1&quot; value=&quot;&quot;&gt;&lt;position left=&quot;36.50472*scale*fontScale&quot; top=&quot;0&quot; width=&quot;agendaWidth-topicLeftSpacing-itemNoWidth&quot; height=&quot;itemHeight&quot; /&gt;&lt;fill foreColor=&quot;#E1E1E1&quot; visible=&quot;1&quot; /&gt;&lt;/element&gt;&lt;element field=&quot;topic&quot; type=&quot;autoshape&quot; autoShapeType=&quot;1&quot;&gt;&lt;paragraphformat alignment=&quot;1&quot; /&gt;&lt;font bold=&quot;1&quot; italic=&quot;1&quot; /&gt;&lt;textframe marginLeft=&quot;6&quot; /&gt;&lt;/element&gt;&lt;element field=&quot;responsible&quot; type=&quot;autoshape&quot; autoShapeType=&quot;1&quot;&gt;&lt;paragraphformat alignment=&quot;1&quot; /&gt;&lt;font italic=&quot;1&quot; /&gt;&lt;/element&gt;&lt;element field=&quot;freecolumn&quot; type=&quot;autoshape&quot; autoShape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2&quot; selected=&quot;0&quot; break=&quot;1&quot; topMinSpacing=&quot;5&quot; topMaxSpacing=&quot;5&quot; bottomMinSpacing=&quot;0&quot; bottomMaxSpacing=&quot;0&quot;&gt;&lt;element field=&quot;topic&quot; type=&quot;autoshape&quot; autoShapeType=&quot;1&quot;&gt;&lt;paragraphformat alignment=&quot;1&quot; /&gt;&lt;textframe marginLeft=&quot;6&quot; /&gt;&lt;font bold=&quot;1&quot; italic=&quot;1&quot; /&gt;&lt;/element&gt;&lt;element field=&quot;responsible&quot; type=&quot;autoshape&quot; autoShapeType=&quot;1&quot;&gt;&lt;paragraphformat alignment=&quot;1&quot; /&gt;&lt;font italic=&quot;1&quot; /&gt;&lt;/element&gt;&lt;element field=&quot;freecolumn&quot; type=&quot;autoshape&quot; autoShape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2&quot; selected=&quot;1&quot; break=&quot;1&quot; topMinSpacing=&quot;5&quot; topMaxSpacing=&quot;5&quot; bottomMinSpacing=&quot;0&quot; bottomMaxSpacing=&quot;0&quot;&gt;&lt;element type=&quot;autoshape&quot; autoShapeType=&quot;1&quot; value=&quot;&quot;&gt;&lt;position left=&quot;36.50472*scale*fontScale&quot; top=&quot;0&quot; width=&quot;agendaWidth-topicLeftSpacing-itemNoWidth&quot; height=&quot;itemHeight&quot; /&gt;&lt;fill foreColor=&quot;#E1E1E1&quot; visible=&quot;1&quot; /&gt;&lt;/element&gt;&lt;element field=&quot;topic&quot; type=&quot;autoshape&quot; autoShapeType=&quot;1&quot;&gt;&lt;paragraphformat alignment=&quot;1&quot; /&gt;&lt;font bold=&quot;1&quot; italic=&quot;1&quot; /&gt;&lt;textframe marginLeft=&quot;6&quot; /&gt;&lt;/element&gt;&lt;element field=&quot;responsible&quot; type=&quot;autoshape&quot; autoShapeType=&quot;1&quot;&gt;&lt;paragraphformat alignment=&quot;1&quot; /&gt;&lt;font italic=&quot;1&quot; /&gt;&lt;/element&gt;&lt;element field=&quot;freecolumn&quot; type=&quot;autoshape&quot; autoShape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/cases&gt;&lt;!-- Elements on slide independent of items --&gt;&lt;elements&gt;&lt;!--&#10;        &lt;element type=&quot;textbox&quot; zOrder=&quot;1&quot; value=&quot;test&quot;&gt;&#10;          &lt;position left=&quot;0&quot; top=&quot;0&quot; width=&quot;30&quot; height=&quot;30&quot;/&gt;&#10;        &lt;/element&gt;&#10;      --&gt;&lt;/elements&gt;&lt;/layout&gt;&lt;/layouts&gt;&lt;contents&gt;&lt;agenda name=&quot;New Agenda&quot; title=&quot;Agenda&quot; subtitle=&quot;&quot; sizingModeId=&quot;2&quot; fontSize=&quot;16&quot; startTime=&quot;540&quot; timeFormatId=&quot;1&quot; startItemNo=&quot;1&quot; createSingleAgendaSlide=&quot;1&quot; createSeparatingSlides=&quot;1&quot; createBackupSlide=&quot;1&quot; layoutId=&quot;4_22&quot; fontSizeAuto=&quot;0&quot; createSections=&quot;0&quot; singleSlideId=&quot;a7aa2f88-c1be-45d4-b4a9-596407e10e4d&quot; backupSlideId=&quot;13d0eea6-aece-49ce-bbab-45c4369bc0f3&quot; hideSeparatingSlides=&quot;0&quot;&gt;&lt;columns&gt;&lt;column field=&quot;itemno&quot; label=&quot;No.&quot; checked=&quot;1&quot; leftSpacing=&quot;0&quot; rightSpacing=&quot;0&quot; dock=&quot;1&quot; fixedWidth=&quot;31.50472&quot; /&gt;&lt;column field=&quot;topic&quot; label=&quot;Topic&quot; leftSpacing=&quot;5&quot; rightDistribute=&quot;1&quot; dock=&quot;1&quot; rightSpacing=&quot;155.1194&quot; /&gt;&lt;column field=&quot;responsible&quot; label=&quot;Responsible&quot; visible=&quot;1&quot; checked=&quot;0&quot; leftSpacing=&quot;10&quot; rightDistribute=&quot;1&quot; dock=&quot;1&quot; rightSpacing=&quot;257.4358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0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cff04be2-d617-4bfd-90e7-c3dd84f59947&quot; parentId=&quot;&quot; level=&quot;1&quot; generateAgendaSlide=&quot;1&quot; showAgendaItem=&quot;1&quot; isBreak=&quot;0&quot; itemNo=&quot;1&quot; subItemNo=&quot;0&quot; topic=&quot;Einführung in die Skalierbarkeit&quot; agendaSlideId=&quot;83b2bfda-2581-463c-9be0-e9eb9d129eb9&quot; /&gt;&lt;item duration=&quot;30&quot; id=&quot;cdef6e7e-692e-47cf-8ca8-2d82c2522c27&quot; parentId=&quot;&quot; level=&quot;1&quot; generateAgendaSlide=&quot;1&quot; showAgendaItem=&quot;1&quot; isBreak=&quot;0&quot; itemNo=&quot;2&quot; subItemNo=&quot;0&quot; topic=&quot;Ebenen der Skalierbarkeit&quot; agendaSlideId=&quot;7d80aaa4-9c74-4a76-8a25-c60789ff70a9&quot; /&gt;&lt;item duration=&quot;30&quot; id=&quot;b4ac8f41-c34e-48b5-813c-3d846f2df811&quot; parentId=&quot;cdef6e7e-692e-47cf-8ca8-2d82c2522c27&quot; level=&quot;2&quot; generateAgendaSlide=&quot;1&quot; showAgendaItem=&quot;1&quot; isBreak=&quot;0&quot; itemNo=&quot;2&quot; subItemNo=&quot;1&quot; topic=&quot;Personelle Skalierbarkeit&quot; agendaSlideId=&quot;0dedf22b-96e5-421d-95ea-721371bd09cb&quot; /&gt;&lt;item duration=&quot;30&quot; id=&quot;11f5b7ad-79b8-4d9f-a27f-2ad42372bac4&quot; parentId=&quot;cdef6e7e-692e-47cf-8ca8-2d82c2522c27&quot; level=&quot;2&quot; generateAgendaSlide=&quot;1&quot; showAgendaItem=&quot;1&quot; isBreak=&quot;0&quot; itemNo=&quot;2&quot; subItemNo=&quot;2&quot; topic=&quot;Technische Skalierbarkeit&quot; agendaSlideId=&quot;d0139b98-2ce7-4705-8243-60c1935fa092&quot; /&gt;&lt;item duration=&quot;30&quot; id=&quot;376d4c86-49ac-45b2-908b-3dfa2d61699c&quot; parentId=&quot;cdef6e7e-692e-47cf-8ca8-2d82c2522c27&quot; level=&quot;2&quot; generateAgendaSlide=&quot;1&quot; showAgendaItem=&quot;1&quot; isBreak=&quot;0&quot; itemNo=&quot;2&quot; subItemNo=&quot;3&quot; topic=&quot;Räumliche Skalierbarkeit&quot; agendaSlideId=&quot;7e8ee50e-9892-4495-9e78-c747a5f96d40&quot; /&gt;&lt;item duration=&quot;30&quot; id=&quot;91c3e1ad-e5e9-41cc-9990-0b41a88ef00a&quot; parentId=&quot;cdef6e7e-692e-47cf-8ca8-2d82c2522c27&quot; level=&quot;2&quot; generateAgendaSlide=&quot;1&quot; showAgendaItem=&quot;1&quot; isBreak=&quot;0&quot; itemNo=&quot;2&quot; subItemNo=&quot;4&quot; topic=&quot;Strukturelle Skalierbarkeit&quot; agendaSlideId=&quot;b33a3c3b-6a8a-4433-9770-cf889fa6ac48&quot; /&gt;&lt;item duration=&quot;30&quot; id=&quot;79256849-3586-49bd-91b7-2cfa7465d822&quot; parentId=&quot;&quot; level=&quot;1&quot; generateAgendaSlide=&quot;1&quot; showAgendaItem=&quot;1&quot; isBreak=&quot;0&quot; itemNo=&quot;3&quot; subItemNo=&quot;0&quot; topic=&quot;Herausforderungen in der skalierbaren Multivariantenproduktion&quot; agendaSlideId=&quot;5fb5ba80-616a-4531-b7aa-501572bd7b1a&quot; /&gt;&lt;/items&gt;&lt;/agenda&gt;&lt;/contents&gt;&lt;/ee4p&gt;"/>
  <p:tag name="EE4P_STYLE_ID" val="49aa2a53-3d8b-4af3-be99-7d60b690e936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tbFaxCtMCmu39tkefgOD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srrXoUSBaV.JJ9gXZKn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AHAPpTTrKP_QrV5eOUe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AHAPpTTrKP_QrV5eOUe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5gqGc_QQ4GWWxVu7M9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AHAPpTTrKP_QrV5eOUe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AHAPpTTrKP_QrV5eOUe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AHAPpTTrKP_QrV5eOUe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srrXoUSBaV.JJ9gXZKn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srrXoUSBaV.JJ9gXZKn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iDS04uSQ.crqmF8pETM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ENoRZiuC89Xzl8M3VIc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ENoRZiuC89Xzl8M3VIc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ENoRZiuC89Xzl8M3VIcA"/>
</p:tagLst>
</file>

<file path=ppt/theme/theme1.xml><?xml version="1.0" encoding="utf-8"?>
<a:theme xmlns:a="http://schemas.openxmlformats.org/drawingml/2006/main" name="Präsentation_Master_RWTH_Institute_16zu9">
  <a:themeElements>
    <a:clrScheme name="PEM-LS">
      <a:dk1>
        <a:srgbClr val="000000"/>
      </a:dk1>
      <a:lt1>
        <a:sysClr val="window" lastClr="FFFFFF"/>
      </a:lt1>
      <a:dk2>
        <a:srgbClr val="00549F"/>
      </a:dk2>
      <a:lt2>
        <a:srgbClr val="D8D8D8"/>
      </a:lt2>
      <a:accent1>
        <a:srgbClr val="8EBAE5"/>
      </a:accent1>
      <a:accent2>
        <a:srgbClr val="00549F"/>
      </a:accent2>
      <a:accent3>
        <a:srgbClr val="D1E3F4"/>
      </a:accent3>
      <a:accent4>
        <a:srgbClr val="D8D8D8"/>
      </a:accent4>
      <a:accent5>
        <a:srgbClr val="CC071E"/>
      </a:accent5>
      <a:accent6>
        <a:srgbClr val="F6A800"/>
      </a:accent6>
      <a:hlink>
        <a:srgbClr val="00549F"/>
      </a:hlink>
      <a:folHlink>
        <a:srgbClr val="D8D8D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ter_PEM_LS_16zu9_v4.potx" id="{C3616BAD-F2BB-492A-BB75-015E41308998}" vid="{C506C76E-AAD8-4AFA-B1EA-842D636DE3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179</Words>
  <Application>Microsoft Office PowerPoint</Application>
  <PresentationFormat>Breitbild</PresentationFormat>
  <Paragraphs>22</Paragraphs>
  <Slides>5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ＭＳ Ｐゴシック</vt:lpstr>
      <vt:lpstr>Arial</vt:lpstr>
      <vt:lpstr>Calibri</vt:lpstr>
      <vt:lpstr>Präsentation_Master_RWTH_Institute_16zu9</vt:lpstr>
      <vt:lpstr>think-cell Folie</vt:lpstr>
      <vt:lpstr>Titel der Abschlussarbeit</vt:lpstr>
      <vt:lpstr>Allgemeine Informationen</vt:lpstr>
      <vt:lpstr>Motivation &amp; Problemstellung xxx</vt:lpstr>
      <vt:lpstr>Lösungsweg &amp; Kernergebnisse xxx</vt:lpstr>
      <vt:lpstr>Fazit &amp; weiterer Forschungsbedarf xxx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Herausforderungen und Entwicklungen in der Elektromotorenproduktion</dc:title>
  <dc:creator>fbrans</dc:creator>
  <cp:lastModifiedBy>jonas gorsch</cp:lastModifiedBy>
  <cp:revision>77</cp:revision>
  <dcterms:created xsi:type="dcterms:W3CDTF">2019-09-28T08:07:04Z</dcterms:created>
  <dcterms:modified xsi:type="dcterms:W3CDTF">2021-06-11T11:27:09Z</dcterms:modified>
</cp:coreProperties>
</file>